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300" r:id="rId7"/>
    <p:sldId id="301" r:id="rId8"/>
    <p:sldId id="303" r:id="rId9"/>
    <p:sldId id="264" r:id="rId10"/>
    <p:sldId id="302" r:id="rId11"/>
    <p:sldId id="304" r:id="rId12"/>
    <p:sldId id="305" r:id="rId13"/>
    <p:sldId id="306" r:id="rId14"/>
    <p:sldId id="299" r:id="rId15"/>
    <p:sldId id="307" r:id="rId16"/>
    <p:sldId id="308" r:id="rId17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8" autoAdjust="0"/>
  </p:normalViewPr>
  <p:slideViewPr>
    <p:cSldViewPr showGuides="1">
      <p:cViewPr varScale="1">
        <p:scale>
          <a:sx n="116" d="100"/>
          <a:sy n="116" d="100"/>
        </p:scale>
        <p:origin x="20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791053" y="4879211"/>
            <a:ext cx="4609893" cy="434059"/>
            <a:chOff x="3791053" y="4879211"/>
            <a:chExt cx="4609893" cy="434059"/>
          </a:xfrm>
        </p:grpSpPr>
        <p:sp>
          <p:nvSpPr>
            <p:cNvPr id="5" name="AutoShape 5"/>
            <p:cNvSpPr/>
            <p:nvPr/>
          </p:nvSpPr>
          <p:spPr>
            <a:xfrm>
              <a:off x="3791053" y="4879211"/>
              <a:ext cx="2056587" cy="434059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zh-CN" alt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答辩</a:t>
              </a: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人：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323803" y="4879211"/>
              <a:ext cx="2077143" cy="419156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algn="l">
                <a:lnSpc>
                  <a:spcPct val="120000"/>
                </a:lnSpc>
                <a:defRPr/>
              </a:pPr>
              <a:r>
                <a:rPr lang="en-US" sz="1800">
                  <a:solidFill>
                    <a:srgbClr val="4C678E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2024-07-15</a:t>
              </a:r>
              <a:endParaRPr lang="en-US" sz="11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4515" y="83588"/>
            <a:ext cx="5497697" cy="419156"/>
          </a:xfrm>
          <a:prstGeom prst="rect">
            <a:avLst/>
          </a:prstGeom>
          <a:noFill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marL="0" algn="thaiDist" defTabSz="914400" rtl="0" eaLnBrk="1" latinLnBrk="0" hangingPunct="1">
              <a:defRPr sz="1800" kern="1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lang="en-US" sz="1100"/>
          </a:p>
        </p:txBody>
      </p:sp>
      <p:pic>
        <p:nvPicPr>
          <p:cNvPr id="165" name="Picture 2"/>
          <p:cNvPicPr>
            <a:picLocks noChangeAspect="1" noChangeArrowheads="1"/>
          </p:cNvPicPr>
          <p:nvPr/>
        </p:nvPicPr>
        <p:blipFill rotWithShape="1">
          <a:blip r:embed="rId3"/>
          <a:srcRect r="82836"/>
          <a:stretch>
            <a:fillRect/>
          </a:stretch>
        </p:blipFill>
        <p:spPr>
          <a:xfrm>
            <a:off x="118780" y="83884"/>
            <a:ext cx="759292" cy="504951"/>
          </a:xfrm>
          <a:prstGeom prst="rect">
            <a:avLst/>
          </a:prstGeom>
          <a:noFill/>
        </p:spPr>
      </p:pic>
      <p:sp>
        <p:nvSpPr>
          <p:cNvPr id="162" name="文本框 1"/>
          <p:cNvSpPr txBox="1"/>
          <p:nvPr/>
        </p:nvSpPr>
        <p:spPr>
          <a:xfrm>
            <a:off x="228402" y="1676566"/>
            <a:ext cx="1137920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endParaRPr lang="en-US" sz="4800" b="1" i="0" strike="noStrike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62400" y="54864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77240" y="603504"/>
            <a:ext cx="96012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070C0"/>
                </a:solidFill>
                <a:latin typeface="Microsoft YaHei"/>
              </a:rPr>
              <a:t>苏州工业园区第二十届科技领军人才（创业类）项目答辩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7240" y="1325880"/>
            <a:ext cx="10607040" cy="1554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>
                <a:solidFill>
                  <a:srgbClr val="1F3A5F"/>
                </a:solidFill>
                <a:latin typeface="Microsoft YaHei"/>
              </a:rPr>
              <a:t>基于主动学徒式学习的</a:t>
            </a:r>
          </a:p>
          <a:p>
            <a:pPr algn="l">
              <a:lnSpc>
                <a:spcPct val="95000"/>
              </a:lnSpc>
            </a:pPr>
            <a:r>
              <a:rPr sz="3300" b="1">
                <a:solidFill>
                  <a:srgbClr val="1F3A5F"/>
                </a:solidFill>
                <a:latin typeface="Microsoft YaHei"/>
              </a:rPr>
              <a:t>DLaaS 数字生命服务平台研发与产业化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41248" y="3154680"/>
            <a:ext cx="8961120" cy="7315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62626"/>
                </a:solidFill>
                <a:latin typeface="Microsoft YaHei"/>
              </a:rPr>
              <a:t>申报人：杨柳 博士（卡内基梅隆大学 机器学习博士 · 首席科学家）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62626"/>
                </a:solidFill>
                <a:latin typeface="Microsoft YaHei"/>
              </a:rPr>
              <a:t>拟创办企业：苏州进化涌现科技有限公司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68680" y="4526280"/>
            <a:ext cx="10058400" cy="914400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icrosoft YaHei"/>
              </a:rPr>
              <a:t>主动学徒式学习：训练数据量压缩至传统方案 1/100 · 人格一致性 ≥99% · 端侧离线响应 ≤200ms
让数字生命从“工具时代”迈向“生命时代”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68680" y="5623560"/>
            <a:ext cx="91440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技术关键词：数字生命 · 主动学习 · 类脑架构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endParaRPr lang="zh-CN" altLang="en-US" sz="8400" b="1">
              <a:solidFill>
                <a:schemeClr val="accent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6800" y="2743200"/>
            <a:ext cx="1049274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000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000" b="1" i="0" u="none" strike="noStrike" kern="1200" cap="none" spc="0" normalizeH="0" baseline="0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项目摘要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10 分钟答辩主线：从全球顶尖算法到产业化龙头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554480"/>
          <a:ext cx="107442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评委关注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本项目回答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已有证据（截至 2026 Q1）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技术是否先进/卡脖子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独创主动学徒式学习 + 类脑 MOE 架构，突破大模型无持续进化、人格不一致瓶颈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6 项发明专利在申，成果被 NeurIPS 2026 / AAAI 2027 接收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是否已产业化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Volvence 1.0 与 UploadLive 已上线商业化，四大产品矩阵覆盖五大场景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签约 MCN 2000+、品牌方 1500+，Mira 意向用户 10 万+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为何落地苏州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苏州为全球总部、核心研发与商业化运营中心，核心团队全职入驻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拟设苏州进化涌现科技有限公司，三年收入 3500→10000 万元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4160520"/>
            <a:ext cx="9966960" cy="566928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08060"/>
                </a:solidFill>
                <a:latin typeface="Microsoft YaHei"/>
              </a:rPr>
              <a:t>一句话：我们不做又一个聊天机器人，而是建设“数字生命即服务（DLaaS）”的产业基础设施。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987552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团队：全球顶尖主动学习学者 + IBM/阿里/腾讯连续创业团队 + 抖音年度最佳 MCN 资源，打通学术—工程—产业全链路。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加速：2026 Q2–Q3 在医疗、电商、农业、教育、育儿、玩具、跨境等方向形成合资 / 渠道突破，平台化复制提速。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25575" y="1828800"/>
            <a:ext cx="1023302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602" name="内容占位符 1"/>
          <p:cNvSpPr>
            <a:spLocks noGrp="1"/>
          </p:cNvSpPr>
          <p:nvPr/>
        </p:nvSpPr>
        <p:spPr>
          <a:xfrm>
            <a:off x="967740" y="33528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603" name="TextBox 2560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项目简介 / Milestone</a:t>
            </a:r>
          </a:p>
        </p:txBody>
      </p:sp>
      <p:sp>
        <p:nvSpPr>
          <p:cNvPr id="25604" name="TextBox 25603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项目简介与里程碑：3 个月完成多场景商业化验证</a:t>
            </a:r>
          </a:p>
        </p:txBody>
      </p:sp>
      <p:sp>
        <p:nvSpPr>
          <p:cNvPr id="25605" name="Rectangle 25604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06" name="TextBox 25605"/>
          <p:cNvSpPr txBox="1"/>
          <p:nvPr/>
        </p:nvSpPr>
        <p:spPr>
          <a:xfrm>
            <a:off x="749808" y="1481328"/>
            <a:ext cx="10515600" cy="11887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项目定位：以自研主动学徒式学习为核心底座，打造全球领先的数字生命全栈服务平台 Volvence，提供有温度、可成长、高适配的数字生命全生命周期服务。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产业化阶段：批量生产。已完成核心技术验证、Volvence 1.0 平台与 UploadLive App 研发上线。</a:t>
            </a:r>
          </a:p>
        </p:txBody>
      </p:sp>
      <p:graphicFrame>
        <p:nvGraphicFramePr>
          <p:cNvPr id="25607" name="Table 25606"/>
          <p:cNvGraphicFramePr>
            <a:graphicFrameLocks noGrp="1"/>
          </p:cNvGraphicFramePr>
          <p:nvPr/>
        </p:nvGraphicFramePr>
        <p:xfrm>
          <a:off x="749808" y="269748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成果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2026.01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Volvence 1.0 平台正式上线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核心技术验证完成，平台具备规模化能力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2026.02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UploadLive App 实现商业化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签约 MCN 机构超 2000 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2026.03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多场景商业化验证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累计服务品牌方 1500+、MCN 1000+；画小宝 10+ 企业试点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2026.06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Mira C 端 APP 正式上线（预计）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已积累意向用户 10 万+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08" name="Rounded Rectangle 25607"/>
          <p:cNvSpPr/>
          <p:nvPr/>
        </p:nvSpPr>
        <p:spPr>
          <a:xfrm>
            <a:off x="749808" y="4343400"/>
            <a:ext cx="10698480" cy="502920"/>
          </a:xfrm>
          <a:prstGeom prst="roundRect">
            <a:avLst/>
          </a:prstGeom>
          <a:solidFill>
            <a:srgbClr val="EFF6FD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YaHei"/>
              </a:rPr>
              <a:t>已达成合作：杭州林以文化传媒 · 宁波恒一信息技术 · 深圳唐商文化科技 · 浙江国贸数字科技</a:t>
            </a:r>
          </a:p>
        </p:txBody>
      </p:sp>
      <p:sp>
        <p:nvSpPr>
          <p:cNvPr id="25609" name="TextBox 25608"/>
          <p:cNvSpPr txBox="1"/>
          <p:nvPr/>
        </p:nvSpPr>
        <p:spPr>
          <a:xfrm>
            <a:off x="841248" y="5029200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前期由创始团队自筹资金完成原理验证、平台与 App 研发上线，并实现首批商业化收入。</a:t>
            </a:r>
          </a:p>
        </p:txBody>
      </p:sp>
      <p:sp>
        <p:nvSpPr>
          <p:cNvPr id="25610" name="TextBox 25609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0600" y="2057400"/>
            <a:ext cx="9155430" cy="77406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54" name="内容占位符 1"/>
          <p:cNvSpPr>
            <a:spLocks noGrp="1"/>
          </p:cNvSpPr>
          <p:nvPr/>
        </p:nvSpPr>
        <p:spPr>
          <a:xfrm>
            <a:off x="1066800" y="32766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555" name="TextBox 2355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团队与申报人</a:t>
            </a:r>
          </a:p>
        </p:txBody>
      </p:sp>
      <p:sp>
        <p:nvSpPr>
          <p:cNvPr id="23556" name="TextBox 23555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团队介绍：学术—工程—产业全链路顶尖团队</a:t>
            </a:r>
          </a:p>
        </p:txBody>
      </p:sp>
      <p:sp>
        <p:nvSpPr>
          <p:cNvPr id="23557" name="Rectangle 23556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558" name="Table 23557"/>
          <p:cNvGraphicFramePr>
            <a:graphicFrameLocks noGrp="1"/>
          </p:cNvGraphicFramePr>
          <p:nvPr/>
        </p:nvGraphicFramePr>
        <p:xfrm>
          <a:off x="640080" y="1481328"/>
          <a:ext cx="10835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8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成员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背景与价值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杨柳 博士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首席科学家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CMU 机器学习全球顶尖学者，师从图灵奖得主团队；发表 CCF-A 类顶会/顶刊 40+ 篇；提出主动学徒式学习核心理论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赵江波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创始人 / CEO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北大 MBA；IBM、HP、阿里、腾讯高管经历；连续 2 次创业成功退出，为投资人创造超 10 倍回报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王苍宇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CSO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抖音年度最佳 MCN 创始人，15 年产业资源，主导渠道与商业化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张驰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CTO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清华计算机；EmoGPT 类脑大模型系统技术负责人，10+ 年上亿级项目操盘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吴翔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CMO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10+ 年互联网技术研发与市场操盘经验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559" name="Rounded Rectangle 23558"/>
          <p:cNvSpPr/>
          <p:nvPr/>
        </p:nvSpPr>
        <p:spPr>
          <a:xfrm>
            <a:off x="749808" y="4370832"/>
            <a:ext cx="10698480" cy="658368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YaHei"/>
              </a:rPr>
              <a:t>代表性研究：Reliable Active Apprenticeship Learning（ALT 2025）· Active RLHF · Simpler Active Learning with Surrogate Losses · Minimax Analysis / Star Number</a:t>
            </a:r>
          </a:p>
        </p:txBody>
      </p:sp>
      <p:sp>
        <p:nvSpPr>
          <p:cNvPr id="23560" name="TextBox 23559"/>
          <p:cNvSpPr txBox="1"/>
          <p:nvPr/>
        </p:nvSpPr>
        <p:spPr>
          <a:xfrm>
            <a:off x="841248" y="5138928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团队优势：算法源头、工程系统、产业渠道三者同时具备，核心团队全职入驻苏州。</a:t>
            </a:r>
          </a:p>
        </p:txBody>
      </p:sp>
      <p:sp>
        <p:nvSpPr>
          <p:cNvPr id="23561" name="TextBox 23560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1981200"/>
            <a:ext cx="9331960" cy="4431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市场情况及痛点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市场痛点：大模型“无记忆、无情感、无持续进化”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9808" y="1481328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行业痛点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传统方案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为什么不够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人设崩塌、人格不一致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AI 数字人靠固定人设话术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无稳定独立人格，长期交互即露馅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无长期记忆与情感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通用大模型 + 对话优化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每次对话像陌生人，无法建立深度关系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无法持续在线进化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固定知识库定期更新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不能“每次交互都成长”，再训练成本极高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落地难：隐私/算力/合规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仅云端部署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隐私、监管、算力成本三重门槛，企业不敢上线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14400" y="4434840"/>
            <a:ext cx="9966960" cy="658368"/>
          </a:xfrm>
          <a:prstGeom prst="roundRect">
            <a:avLst/>
          </a:prstGeom>
          <a:solidFill>
            <a:srgbClr val="FFF7EB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C06000"/>
                </a:solidFill>
                <a:latin typeface="Microsoft YaHei"/>
              </a:rPr>
              <a:t>真正的需求不是“更会说话”，而是“有稳定人格、能持续进化、可端侧离线、可监管”的数字生命。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257800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市场规模：2025 年全球数字人市场超 700 亿美元，中国超 3000 亿元，年复合增长率超 230%；赛道尚无绝对龙头，存在绝佳窗口期。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3415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1810" y="2413635"/>
            <a:ext cx="1117219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57400" y="3797300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公司核心产品介绍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核心产品：Volvence DLaaS 平台 + 四大产品矩阵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1371600"/>
            <a:ext cx="106070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70C0"/>
                </a:solidFill>
                <a:latin typeface="Microsoft YaHei"/>
              </a:rPr>
              <a:t>国内首个基于主动学徒式学习、提供数字生命全生命周期服务的 PaaS+SaaS 平台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9808" y="1828800"/>
          <a:ext cx="106984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产品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定位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核心能力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Mira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C 端情感陪伴数字生命 APP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人格定制、记忆植入、多模态交互、持续进化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画小宝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企业级数字员工平台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低代码定制、多工具调用、多轮对话、自主学习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HENGYi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跨境营销 AI 平台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多语言交互、海外平台适配、营销内容生成、客户自动跟进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UploadLive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直播 AI 辅助工具（已商业化）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数字人直播、智能话术生成、直播运营辅助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49808" y="3657600"/>
            <a:ext cx="10698480" cy="502920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8060"/>
                </a:solidFill>
                <a:latin typeface="Microsoft YaHei"/>
              </a:rPr>
              <a:t>五大核心场景：智能硬件 · 游戏/元宇宙 · 社交陪伴 · 企业服务 · 品牌营销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297680"/>
            <a:ext cx="10058400" cy="9144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交付流程：领养数字生命 → 低代码配置人格/能力/记忆 → 主动自学 → 考试发证 → 端侧/云端部署 → 审计监管与人工接管。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标杆能力：年服务超 1 万家企业客户、10 万+ C 端用户的服务能力已具备。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2000" y="1828800"/>
            <a:ext cx="1047686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80895" y="3352800"/>
            <a:ext cx="609600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核心技术（卡脖子 / 颠覆性）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核心技术：主动学徒式学习 + 四大自研体系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1463040"/>
            <a:ext cx="10698480" cy="2743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① 主动学徒式在线进化：系统在不确定/高风险时主动请教专家，用极少反馈快速学习，训练数据量压缩至传统方案 1/100，实现实时在线进化。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② 人格一致性类脑 MOE 架构：灵魂定义层—中枢运行层—感知交互层—进化优化层；MemoryOS 三层内存 + ETA 双轨 + Panorama 双引擎，实现稳定独立人格与情感涌现。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③ 全链路数字生命运行时 Volvence Runtime：中枢编排、情境感知、决策核心、情感计算协同，支持端侧轻量化离线部署，响应延迟 ≤200ms。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④ 低代码定制化引擎：拖拽式完成性格塑造、能力配置、记忆植入、外观定制，大幅降低场景适配门槛，实现标准化、规模化落地。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89120"/>
            <a:ext cx="10698480" cy="658368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1F3A5F"/>
                </a:solidFill>
                <a:latin typeface="Microsoft YaHei"/>
              </a:rPr>
              <a:t>技术类比：火星车能自主探索，但悬崖边会主动请教人类——DLaaS 在医疗、企业服务等高风险场景采用同样的“可靠学徒”机制。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166360"/>
            <a:ext cx="1005840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完全自主知识产权；核心学术成果被 NeurIPS 2026、AAAI 2027 接收；技术指标达全球顶尖水平。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8800" y="350520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先进性 / 创新点 / 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核心技术指标与知识产权布局（三年考核）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630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核心技术指标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第一年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第二年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第三年（合同目标）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主动学习训练数据压缩比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≤1/10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≤1/50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≤1/100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数字生命人格一致性准确率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≥90%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≥95%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≥99%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多模态交互响应延迟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≤500ms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≤300ms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≤200ms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模型端侧部署适配率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3474720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知识产权 / 资质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三年合同目标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发明专利（受理）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6 项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当前已提交 6 项发明专利申请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PCT 专利（受理）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3 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全球专利布局，构建技术壁垒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软件著作权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6 项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平台、运行时、引擎全链路保护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资质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高新技术企业 1 + 上级人才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第三年完成认定与入选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14400" y="5029200"/>
            <a:ext cx="9966960" cy="566928"/>
          </a:xfrm>
          <a:prstGeom prst="roundRect">
            <a:avLst/>
          </a:prstGeom>
          <a:solidFill>
            <a:srgbClr val="FFF7EB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C06000"/>
                </a:solidFill>
                <a:latin typeface="Microsoft YaHei"/>
              </a:rPr>
              <a:t>壁垒来自“算法 + 类脑架构 + 运行时 + 专家反馈数据 + 合规治理”五层叠加，而非单一模型。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7800" y="1905000"/>
            <a:ext cx="737552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86" name="内容占位符 1"/>
          <p:cNvSpPr>
            <a:spLocks noGrp="1"/>
          </p:cNvSpPr>
          <p:nvPr/>
        </p:nvSpPr>
        <p:spPr>
          <a:xfrm>
            <a:off x="838200" y="31242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387" name="TextBox 16386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竞品分析</a:t>
            </a:r>
          </a:p>
        </p:txBody>
      </p:sp>
      <p:sp>
        <p:nvSpPr>
          <p:cNvPr id="16388" name="TextBox 16387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竞品分析：我们不做大模型，也不做单点数字人</a:t>
            </a:r>
          </a:p>
        </p:txBody>
      </p:sp>
      <p:sp>
        <p:nvSpPr>
          <p:cNvPr id="16389" name="Rectangle 16388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390" name="Table 16389"/>
          <p:cNvGraphicFramePr>
            <a:graphicFrameLocks noGrp="1"/>
          </p:cNvGraphicFramePr>
          <p:nvPr/>
        </p:nvGraphicFramePr>
        <p:xfrm>
          <a:off x="457200" y="1417320"/>
          <a:ext cx="11292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Volvence 平台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传统 AI 数字人厂商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通用大模型 Agent 厂商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互联网大厂 AI 产品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核心技术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主动学徒式学习 + 类脑 MOE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外观渲染 + TTS 驱动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通用大模型 + 工具调用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通用大模型 + 对话优化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人格一致性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高（≥99%），稳定独立人格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无，仅固定人设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低，易人设崩塌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中，无长期一致性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持续进化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在线实时进化，数据效率提升 100 倍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无法持续学习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弱，仅知识库更新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弱，无个性化进化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端侧部署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全支持，可完全离线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不支持，仅云端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多数不支持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不支持，仅云端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情感表达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真实情感涌现，深度连接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机械话术回复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弱，模拟情感话术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中，无真实情感计算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商业化落地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多场景验证，付费客户 3500+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仅直播单一场景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多数处于 Demo 阶段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62626"/>
                          </a:solidFill>
                          <a:latin typeface="Microsoft YaHei"/>
                        </a:rPr>
                        <a:t>通用场景，无垂直深度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391" name="Rounded Rectangle 16390"/>
          <p:cNvSpPr/>
          <p:nvPr/>
        </p:nvSpPr>
        <p:spPr>
          <a:xfrm>
            <a:off x="822960" y="4846320"/>
            <a:ext cx="10058400" cy="566928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008060"/>
                </a:solidFill>
                <a:latin typeface="Microsoft YaHei"/>
              </a:rPr>
              <a:t>客户为何选择我们：买的不是一个模型账号，而是一个可被专家训练、可监管、有稳定人格、能持续进化的数字生命。</a:t>
            </a:r>
          </a:p>
        </p:txBody>
      </p:sp>
      <p:sp>
        <p:nvSpPr>
          <p:cNvPr id="16392" name="TextBox 16391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71600" y="2362200"/>
            <a:ext cx="737552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Aft>
                <a:spcPct val="0"/>
              </a:spcAft>
            </a:pP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市场情况 / 客户 / 开拓计划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市场开拓：已验证渠道 + 2026 Q2–Q3 加速突破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1353312"/>
            <a:ext cx="107899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070C0"/>
                </a:solidFill>
                <a:latin typeface="Microsoft YaHei"/>
              </a:rPr>
              <a:t>已落地合作（申报书口径）：杭州林以文化 · 宁波恒一 · 深圳唐商 · 浙江国贸数字；签约 MCN 2000+、品牌方 1500+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828800"/>
          <a:ext cx="112928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最新进展（2026 Q2–Q3）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资源价值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状态口径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医疗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与卫健委下属协会相关方拟设医疗数字分身合资公司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医生数字疗法、处方/医保路径、季度 10 位顶级专家站台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基本谈妥 / 月内推进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OpenCSG 模型算力平台合作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200 万全国开发者导入，使用平台 token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强关系 / 待落地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农业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甲骨文超级码“帮农民 AI 带货”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全国农业溯源与农产品渠道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合资意向 / 月内见分晓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电商私域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浙江绿洲视界等公域转私域带货分成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年 300 万件童装、3 亿公域流量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基本谈妥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教育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全国 K12 顶级专家合资意向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K12 数字老师与学习伙伴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洽谈中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育儿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宝宝树最大孕育平台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母婴长期关系场景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已连接 / 深入中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跨境 &amp; 玩具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义乌小商品城大数据公司 · Lavivi 陪伴玩偶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跨境官方合作 + 全球陪伴玩偶植入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  <a:latin typeface="Microsoft YaHei"/>
                        </a:rPr>
                        <a:t>达成一致 / 洽谈中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5212080"/>
            <a:ext cx="11292840" cy="566928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3A5F"/>
                </a:solidFill>
                <a:latin typeface="Microsoft YaHei"/>
              </a:rPr>
              <a:t>产品发售节奏：7 月发售小鹿儿童硬件 / 1688 出海 / LTV 私域销售三款合资产品；8 月以三款产品为样例发布 Volvence DLaaS 平台。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商业模式 / 收入结构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商业模式：四大多元化收入 + 分层定价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81328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收入来源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占比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SaaS 订阅服务费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42%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API 授权服务费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27%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定制化开发服务费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16%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C 端订阅收入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1481328"/>
          <a:ext cx="5257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产品/服务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定价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中小企业 SaaS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499 / 1999 / 9999 元/月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C 端会员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30 元/月 · 298 元/年 · 2998 终身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API 服务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0.01 元/次，量大阶梯优惠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企业定制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基础 10 万起 · 深度 50–200 万/项目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1248" y="3977639"/>
            <a:ext cx="10607040" cy="1463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商业打法：合资公司渠道绑定 + 标杆场景案例营销 + 私域流量转化 + API 生态开放 + 海外西语差异化 + 学术品牌背书。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轻资产原则：合作方出场景、流量、供应链与履约；我们出数字生命引擎、平台与治理能力。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350">
                <a:solidFill>
                  <a:srgbClr val="262626"/>
                </a:solidFill>
                <a:latin typeface="Microsoft YaHei"/>
              </a:rPr>
              <a:t>• 收入结构多元、客户覆盖全行业，不依赖单一客户，抗风险能力强。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苏州创办企业规划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苏州创办企业：全球总部 + 核心研发 + 运营中心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81328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企业信息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拟创办企业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苏州进化涌现科技有限公司（拟 2026 年落户苏州工业园区）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注册资金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人民币 200 万元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定位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全球总部、核心研发中心、商业化运营中心；核心团队全职入驻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关联公司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北京进化涌现科技有限公司（持股平台）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9808" y="3154680"/>
          <a:ext cx="60350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股东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认缴(万元)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持股比例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杨柳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50%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赵江波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张弛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200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40880" y="3154680"/>
            <a:ext cx="4434840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拟设部门：平台研发中心、行业解决方案中心、合规与审计中心、客户成功与运营中心、生态合作中心。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承诺：企业总部设于园区，作为融资与未来上市主体，并控股其他地区企业；销售收入与税收以园区总部为承载对象。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首年参保人数不低于 20 人，研发人员占比不低于 60%。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50" name="内容占位符 1"/>
          <p:cNvSpPr>
            <a:spLocks noGrp="1"/>
          </p:cNvSpPr>
          <p:nvPr/>
        </p:nvSpPr>
        <p:spPr>
          <a:xfrm>
            <a:off x="1219200" y="182880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>
            <a:normAutofit/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b="0" kern="120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kern="120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651" name="TextBox 27650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三年发展规划（考核指标口径）</a:t>
            </a:r>
          </a:p>
        </p:txBody>
      </p:sp>
      <p:sp>
        <p:nvSpPr>
          <p:cNvPr id="27652" name="TextBox 27651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苏州创办企业三年展望</a:t>
            </a:r>
          </a:p>
        </p:txBody>
      </p:sp>
      <p:sp>
        <p:nvSpPr>
          <p:cNvPr id="27653" name="Rectangle 27652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654" name="Table 27653"/>
          <p:cNvGraphicFramePr>
            <a:graphicFrameLocks noGrp="1"/>
          </p:cNvGraphicFramePr>
          <p:nvPr/>
        </p:nvGraphicFramePr>
        <p:xfrm>
          <a:off x="502920" y="1463040"/>
          <a:ext cx="112471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主营收入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净利润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新增就业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知识产权(受理)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里程碑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2026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3500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-2150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70%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 人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发明 2 / PCT 1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四大产品全量上线，多场景商业化验证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5000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75%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 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发明 2 / PCT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生态平台 Beta，20 行业适配，高企认定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2028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10000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2775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20 人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发明 2 / PCT 1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行业龙头，开放生态正式上线，启动上市筹备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655" name="Table 27654"/>
          <p:cNvGraphicFramePr>
            <a:graphicFrameLocks noGrp="1"/>
          </p:cNvGraphicFramePr>
          <p:nvPr/>
        </p:nvGraphicFramePr>
        <p:xfrm>
          <a:off x="502920" y="4251960"/>
          <a:ext cx="112471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三年合同目标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主营业务收入 1.85 亿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新增项目经费 6800 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新增税收 800 万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新增就业 60 人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发明专利 6 / PCT 3 / 软著 6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656" name="Rounded Rectangle 27655"/>
          <p:cNvSpPr/>
          <p:nvPr/>
        </p:nvSpPr>
        <p:spPr>
          <a:xfrm>
            <a:off x="822960" y="5349240"/>
            <a:ext cx="10515600" cy="502920"/>
          </a:xfrm>
          <a:prstGeom prst="roundRect">
            <a:avLst/>
          </a:prstGeom>
          <a:solidFill>
            <a:srgbClr val="EEF9F5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>
                <a:solidFill>
                  <a:srgbClr val="008060"/>
                </a:solidFill>
                <a:latin typeface="Microsoft YaHei"/>
              </a:rPr>
              <a:t>目标：3 年内成为国内数字生命赛道龙头，把苏州公司建成 DLaaS 全球总部与长三角数字生命产业集群核心节点。</a:t>
            </a:r>
          </a:p>
        </p:txBody>
      </p:sp>
      <p:sp>
        <p:nvSpPr>
          <p:cNvPr id="27657" name="TextBox 27656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0586" y="3428751"/>
            <a:ext cx="7439025" cy="18770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endParaRPr lang="en-US" sz="6300" b="1">
              <a:solidFill>
                <a:srgbClr val="4C678E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融资计划：把技术与渠道突破转化为可验证收入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81328"/>
          <a:ext cx="106984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本轮融资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融资金额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人民币 700 万元（股权融资，出让 33.65%）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投前 1.38 亿元 · 投后 2.08 亿元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到账与周期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</a:rPr>
                        <a:t>一次性到账，分 18 个月专款专用，每月出具资金使用报告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3154680"/>
          <a:ext cx="5943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资金用途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占比/金额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产品研发迭代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40% / 280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团队扩建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30% / 210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市场推广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20% / 140 万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运营储备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Microsoft YaHei"/>
                        </a:rPr>
                        <a:t>10% / 70 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3154680"/>
            <a:ext cx="4572000" cy="21945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投资者保障：强制分红（≥30% 净利润）、3 年未上市可按本金+年化 8% 回购、重大事项一票否决。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退出路径：IPO（3–5 年科创板/港股主板）/ 并购 / 回购。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50">
                <a:solidFill>
                  <a:srgbClr val="262626"/>
                </a:solidFill>
                <a:latin typeface="Microsoft YaHei"/>
              </a:rPr>
              <a:t>• 后续规划：2027 年 A 轮 5000 万（投后 5 亿），2028 年 B 轮 2 亿（投后 20 亿）。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92608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070C0"/>
                </a:solidFill>
                <a:latin typeface="Microsoft YaHei"/>
              </a:rPr>
              <a:t>风险预估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"/>
            <a:ext cx="11064240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F3A5F"/>
                </a:solidFill>
                <a:latin typeface="Microsoft YaHei"/>
              </a:rPr>
              <a:t>风险与对策：可端侧离线、可审计、可监管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207008"/>
            <a:ext cx="105156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1481328"/>
          <a:ext cx="10698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风险类别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主要风险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对策</a:t>
                      </a:r>
                    </a:p>
                  </a:txBody>
                  <a:tcPr marL="45720" marR="45720" marT="18288" marB="18288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技术风险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技术被赶超、人才流失、IP 侵权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研发投入≥营收 20%，与 CMU/清华长期合作，股权激励，全球专利布局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市场风险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大厂入场、需求不及预期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深耕垂直场景护城河，差异化竞争，多元客户与收入结构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管理风险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快速扩张治理跟不上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引进专业管理人才，完善治理结构与股权激励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财务风险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现金流紧张、融资不及预期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加快商业化自身造血，多渠道融资，严控应收账款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政策合规风险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AI 监管、数据安全、个人信息保护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Microsoft YaHei"/>
                        </a:rPr>
                        <a:t>端侧部署本地存储离线运行，合规审核，设合规研究部门</a:t>
                      </a:r>
                    </a:p>
                  </a:txBody>
                  <a:tcPr marL="45720" marR="45720" marT="18288" marB="18288" anchor="ctr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14400" y="4572000"/>
            <a:ext cx="9966960" cy="566928"/>
          </a:xfrm>
          <a:prstGeom prst="roundRect">
            <a:avLst/>
          </a:prstGeom>
          <a:solidFill>
            <a:srgbClr val="FFF7EB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C06000"/>
                </a:solidFill>
                <a:latin typeface="Microsoft YaHei"/>
              </a:rPr>
              <a:t>DLaaS 的核心竞争力之一，就是把“能运行”升级为“能被监管地运行”——端侧离线 + 全程可审计。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6023" y="265328"/>
            <a:ext cx="11239500" cy="89344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0" y="3505200"/>
            <a:ext cx="8499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05840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1F3A5F"/>
                </a:solidFill>
                <a:latin typeface="Microsoft YaHei"/>
              </a:rPr>
              <a:t>THANKS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69264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0070C0"/>
                </a:solidFill>
                <a:latin typeface="Microsoft YaHei"/>
              </a:rPr>
              <a:t>基于主动学徒式学习的 DLaaS 数字生命服务平台研发与产业化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383280"/>
            <a:ext cx="9052560" cy="868680"/>
          </a:xfrm>
          <a:prstGeom prst="roundRect">
            <a:avLst/>
          </a:prstGeom>
          <a:solidFill>
            <a:srgbClr val="E9F3FF"/>
          </a:solidFill>
          <a:ln>
            <a:solidFill>
              <a:srgbClr val="CD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1F3A5F"/>
                </a:solidFill>
                <a:latin typeface="Microsoft YaHei"/>
              </a:rPr>
              <a:t>用世界级主动学习理论，建设可学习、可端侧、可审计、可产业化的数字生命服务平台，
推动 AI 从“工具时代”迈向“生命时代”。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54880"/>
            <a:ext cx="8229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262626"/>
                </a:solidFill>
                <a:latin typeface="Microsoft YaHei"/>
              </a:rPr>
              <a:t>申报人：杨柳 博士  |  苏州进化涌现科技有限公司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60120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A5A5A"/>
                </a:solidFill>
                <a:latin typeface="Microsoft YaHei"/>
              </a:rPr>
              <a:t>基于主动学徒式学习的 DLaaS 数字生命服务平台  |  苏州进化涌现科技有限公司  |  16/16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k2YThhYThmNjc5YWM0MTVjNTZlOTZhNmE0NzRmNzQ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404040"/>
      </a:dk1>
      <a:lt1>
        <a:srgbClr val="FFFFFF"/>
      </a:lt1>
      <a:dk2>
        <a:srgbClr val="4C678E"/>
      </a:dk2>
      <a:lt2>
        <a:srgbClr val="E1E7EE"/>
      </a:lt2>
      <a:accent1>
        <a:srgbClr val="4C678E"/>
      </a:accent1>
      <a:accent2>
        <a:srgbClr val="4C678E"/>
      </a:accent2>
      <a:accent3>
        <a:srgbClr val="587093"/>
      </a:accent3>
      <a:accent4>
        <a:srgbClr val="677FA2"/>
      </a:accent4>
      <a:accent5>
        <a:srgbClr val="7D94B4"/>
      </a:accent5>
      <a:accent6>
        <a:srgbClr val="8CA0B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Macintosh PowerPoint</Application>
  <PresentationFormat>宽屏</PresentationFormat>
  <Paragraphs>385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..jiangbo..REALIZATION... ..jiangbo..REALIZATION...</cp:lastModifiedBy>
  <cp:revision>6</cp:revision>
  <dcterms:created xsi:type="dcterms:W3CDTF">2006-08-16T00:00:00Z</dcterms:created>
  <dcterms:modified xsi:type="dcterms:W3CDTF">2026-06-24T01:58:07Z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A3B27905D57A4415A79ED3F969483565_13</vt:lpwstr>
  </property>
  <property fmtid="{D5CDD505-2E9C-101B-9397-08002B2CF9AE}" pid="3" name="KSOProductBuildVer">
    <vt:lpwstr>2052-12.1.0.21171</vt:lpwstr>
  </property>
</Properties>
</file>