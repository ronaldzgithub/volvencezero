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60" r:id="rId5"/>
    <p:sldId id="261" r:id="rId6"/>
    <p:sldId id="262" r:id="rId7"/>
    <p:sldId id="300" r:id="rId8"/>
    <p:sldId id="301" r:id="rId9"/>
    <p:sldId id="303" r:id="rId10"/>
    <p:sldId id="264" r:id="rId11"/>
    <p:sldId id="302" r:id="rId12"/>
    <p:sldId id="304" r:id="rId13"/>
    <p:sldId id="305" r:id="rId14"/>
    <p:sldId id="306" r:id="rId15"/>
    <p:sldId id="299" r:id="rId16"/>
    <p:sldId id="307" r:id="rId21"/>
    <p:sldId id="308" r:id="rId22"/>
  </p:sldIdLst>
  <p:sldSz cx="12192000" cy="6858000"/>
  <p:notesSz cx="6858000" cy="9144000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Relationship Id="rId20" Type="http://schemas.openxmlformats.org/officeDocument/2006/relationships/tags" Target="tags/tag1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0">
            <a:off x="3791053" y="4879211"/>
            <a:ext cx="4609893" cy="434059"/>
            <a:chOff x="3791053" y="4879211"/>
            <a:chExt cx="4609893" cy="434059"/>
          </a:xfrm>
        </p:grpSpPr>
        <p:sp>
          <p:nvSpPr>
            <p:cNvPr id="5" name="AutoShape 5"/>
            <p:cNvSpPr/>
            <p:nvPr/>
          </p:nvSpPr>
          <p:spPr>
            <a:xfrm>
              <a:off x="3791053" y="4879211"/>
              <a:ext cx="2056587" cy="434059"/>
            </a:xfrm>
            <a:prstGeom prst="rect">
              <a:avLst/>
            </a:prstGeom>
            <a:noFill/>
          </p:spPr>
          <p:txBody>
            <a:bodyPr vert="horz" wrap="square" lIns="66008" tIns="33052" rIns="66008" bIns="33052" rtlCol="0" anchor="ctr" anchorCtr="1">
              <a:noAutofit/>
            </a:bodyPr>
            <a:lstStyle/>
            <a:p>
              <a:pPr algn="l">
                <a:lnSpc>
                  <a:spcPct val="120000"/>
                </a:lnSpc>
                <a:defRPr/>
              </a:pPr>
              <a:r>
                <a:rPr lang="zh-CN" altLang="en-US" sz="1800">
                  <a:solidFill>
                    <a:srgbClr val="4C678E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答辩</a:t>
              </a:r>
              <a:r>
                <a:rPr lang="en-US" sz="1800">
                  <a:solidFill>
                    <a:srgbClr val="4C678E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人：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6323803" y="4879211"/>
              <a:ext cx="2077143" cy="419156"/>
            </a:xfrm>
            <a:prstGeom prst="rect">
              <a:avLst/>
            </a:prstGeom>
            <a:noFill/>
          </p:spPr>
          <p:txBody>
            <a:bodyPr vert="horz" wrap="square" lIns="66008" tIns="33052" rIns="66008" bIns="33052" rtlCol="0" anchor="ctr" anchorCtr="1">
              <a:noAutofit/>
            </a:bodyPr>
            <a:lstStyle/>
            <a:p>
              <a:pPr algn="l">
                <a:lnSpc>
                  <a:spcPct val="120000"/>
                </a:lnSpc>
                <a:defRPr/>
              </a:pPr>
              <a:r>
                <a:rPr lang="en-US" sz="1800">
                  <a:solidFill>
                    <a:srgbClr val="4C678E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2024-07-15</a:t>
              </a:r>
              <a:endParaRPr lang="en-US" sz="1100"/>
            </a:p>
          </p:txBody>
        </p:sp>
      </p:grpSp>
      <p:sp>
        <p:nvSpPr>
          <p:cNvPr id="14" name="AutoShape 14"/>
          <p:cNvSpPr/>
          <p:nvPr/>
        </p:nvSpPr>
        <p:spPr>
          <a:xfrm>
            <a:off x="914515" y="83588"/>
            <a:ext cx="5497697" cy="419156"/>
          </a:xfrm>
          <a:prstGeom prst="rect">
            <a:avLst/>
          </a:prstGeom>
          <a:noFill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marL="0" algn="thaiDist" defTabSz="914400" rtl="0" eaLnBrk="1" latinLnBrk="0" hangingPunct="1">
              <a:defRPr sz="1800" kern="12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endParaRPr lang="en-US" sz="1100"/>
          </a:p>
        </p:txBody>
      </p:sp>
      <p:pic>
        <p:nvPicPr>
          <p:cNvPr id="165" name="Picture 2"/>
          <p:cNvPicPr>
            <a:picLocks noChangeAspect="1" noChangeArrowheads="1"/>
          </p:cNvPicPr>
          <p:nvPr/>
        </p:nvPicPr>
        <p:blipFill rotWithShape="1">
          <a:blip r:embed="rId2"/>
          <a:srcRect r="82836"/>
          <a:stretch>
            <a:fillRect/>
          </a:stretch>
        </p:blipFill>
        <p:spPr>
          <a:xfrm>
            <a:off x="118780" y="83884"/>
            <a:ext cx="759292" cy="504951"/>
          </a:xfrm>
          <a:prstGeom prst="rect">
            <a:avLst/>
          </a:prstGeom>
          <a:noFill/>
        </p:spPr>
      </p:pic>
      <p:sp>
        <p:nvSpPr>
          <p:cNvPr id="162" name="文本框 1"/>
          <p:cNvSpPr txBox="1"/>
          <p:nvPr/>
        </p:nvSpPr>
        <p:spPr>
          <a:xfrm>
            <a:off x="228402" y="1676566"/>
            <a:ext cx="11379200" cy="1198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algn="ctr">
              <a:lnSpc>
                <a:spcPct val="150000"/>
              </a:lnSpc>
              <a:defRPr sz="18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endParaRPr lang="en-US" sz="4800" b="1" i="0" strike="noStrike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962400" y="548640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777240" y="640080"/>
            <a:ext cx="77724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0070C0"/>
                </a:solidFill>
                <a:latin typeface="Microsoft YaHei"/>
              </a:rPr>
              <a:t>苏州工业园区领军人才项目答辩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77240" y="1417320"/>
            <a:ext cx="10607040" cy="1508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400" b="1">
                <a:solidFill>
                  <a:srgbClr val="1F3A5F"/>
                </a:solidFill>
                <a:latin typeface="Microsoft YaHei"/>
              </a:rPr>
              <a:t>基于主动学徒式学习的
DLaaS 数字生命服务平台研发与产业化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41248" y="3218688"/>
            <a:ext cx="8138160" cy="7132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262626"/>
                </a:solidFill>
                <a:latin typeface="Microsoft YaHei"/>
              </a:rPr>
              <a:t>申报人：杨柳 博士（CMU 机器学习博士）
拟设主体：Volvence / 苏州数字生命服务平台公司（拟）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868680" y="4572000"/>
            <a:ext cx="9966960" cy="868680"/>
          </a:xfrm>
          <a:prstGeom prst="roundRect">
            <a:avLst/>
          </a:prstGeom>
          <a:solidFill>
            <a:srgbClr val="E9F3FF"/>
          </a:solidFill>
          <a:ln>
            <a:solidFill>
              <a:srgbClr val="CD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800" b="1">
                <a:solidFill>
                  <a:srgbClr val="1F3A5F"/>
                </a:solidFill>
                <a:latin typeface="Microsoft YaHei"/>
              </a:rPr>
              <a:t>主动学习 + 学徒式强化学习 + 迁移学习
让数字生命以极少人类反馈持续学习、可审计上岗、规模化服务产业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58368" y="6473952"/>
            <a:ext cx="80467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5A5A"/>
                </a:solidFill>
                <a:latin typeface="Microsoft YaHei"/>
              </a:rPr>
              <a:t>Volvence DLaaS 领军人才项目答辩  |  v0.1  |  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766844" y="1072555"/>
            <a:ext cx="3112760" cy="1138956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>
              <a:lnSpc>
                <a:spcPct val="80000"/>
              </a:lnSpc>
            </a:pPr>
            <a:endParaRPr lang="zh-CN" altLang="en-US" sz="8400" b="1">
              <a:solidFill>
                <a:schemeClr val="accent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66800" y="2743200"/>
            <a:ext cx="10492740" cy="2122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000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000" b="1" i="0" u="none" strike="noStrike" kern="1200" cap="none" spc="0" normalizeH="0" baseline="0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0070C0"/>
                </a:solidFill>
                <a:latin typeface="Microsoft YaHei"/>
              </a:rPr>
              <a:t>答辩摘要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1792"/>
            <a:ext cx="109728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F3A5F"/>
                </a:solidFill>
                <a:latin typeface="Microsoft YaHei"/>
              </a:rPr>
              <a:t>10 分钟答辩主线：从顶尖算法到产业平台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34440"/>
            <a:ext cx="105156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600200"/>
          <a:ext cx="106984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评委关心的问题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本项目回答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当前证据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技术是否先进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主动学徒式学习：系统会在“不确定/高风险”时主动请教专家，用少量反馈快速学会垂直任务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杨柳博士 20 年主动学习/RL/迁移学习积累；团队 30+ 顶会顶刊论文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产业是否能落地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DLaaS 把数字生命做成可领养、可训练、可考试、可监管、可接入各行业的平台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医疗、教育、电商、农业、育儿、玩具、跨境等渠道进入谈判/落地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为什么适合苏州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以苏州为平台总部与合规运营中心，连接医疗健康、跨境电商、教育与先进制造场景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拟设苏州企业，三年形成研发、交付、运营和生态伙伴体系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14400" y="4251960"/>
            <a:ext cx="9966960" cy="566928"/>
          </a:xfrm>
          <a:prstGeom prst="roundRect">
            <a:avLst/>
          </a:prstGeom>
          <a:solidFill>
            <a:srgbClr val="EEF9F5"/>
          </a:solidFill>
          <a:ln>
            <a:solidFill>
              <a:srgbClr val="CD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700" b="1">
                <a:solidFill>
                  <a:srgbClr val="008060"/>
                </a:solidFill>
                <a:latin typeface="Microsoft YaHei"/>
              </a:rPr>
              <a:t>一句话：不是做一个聊天机器人，而是建设“数字生命即服务”的产业基础设施。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074920"/>
            <a:ext cx="9875520" cy="868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400">
                <a:solidFill>
                  <a:srgbClr val="262626"/>
                </a:solidFill>
                <a:latin typeface="Microsoft YaHei"/>
              </a:rPr>
              <a:t>• 平台发布节奏：7 月发售 3 个合资产品，8 月发布 Volvence 数字生命即服务平台。</a:t>
            </a:r>
          </a:p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400">
                <a:solidFill>
                  <a:srgbClr val="262626"/>
                </a:solidFill>
                <a:latin typeface="Microsoft YaHei"/>
              </a:rPr>
              <a:t>• 商业路径：合资公司/联合运营为主，合作方出场景和渠道，Volvence 出数字生命引擎和治理平台。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80467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5A5A"/>
                </a:solidFill>
                <a:latin typeface="Microsoft YaHei"/>
              </a:rPr>
              <a:t>Volvence DLaaS 领军人才项目答辩  |  v0.1  |  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476023" y="265328"/>
            <a:ext cx="11239500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25575" y="1828800"/>
            <a:ext cx="10233025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40000"/>
              </a:lnSpc>
            </a:pP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5602" name="内容占位符 1"/>
          <p:cNvSpPr>
            <a:spLocks noGrp="1"/>
          </p:cNvSpPr>
          <p:nvPr/>
        </p:nvSpPr>
        <p:spPr>
          <a:xfrm>
            <a:off x="967740" y="3352800"/>
            <a:ext cx="8229600" cy="33940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>
            <a:normAutofit/>
          </a:bodyPr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4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kern="1200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5603" name="TextBox 25602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0070C0"/>
                </a:solidFill>
                <a:latin typeface="Microsoft YaHei"/>
              </a:rPr>
              <a:t>项目简介 / Milestone</a:t>
            </a:r>
          </a:p>
        </p:txBody>
      </p:sp>
      <p:sp>
        <p:nvSpPr>
          <p:cNvPr id="25604" name="TextBox 25603"/>
          <p:cNvSpPr txBox="1"/>
          <p:nvPr/>
        </p:nvSpPr>
        <p:spPr>
          <a:xfrm>
            <a:off x="658368" y="621792"/>
            <a:ext cx="109728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F3A5F"/>
                </a:solidFill>
                <a:latin typeface="Microsoft YaHei"/>
              </a:rPr>
              <a:t>项目简介：DLaaS 数字生命服务平台</a:t>
            </a:r>
          </a:p>
        </p:txBody>
      </p:sp>
      <p:sp>
        <p:nvSpPr>
          <p:cNvPr id="25605" name="Rectangle 25604"/>
          <p:cNvSpPr/>
          <p:nvPr/>
        </p:nvSpPr>
        <p:spPr>
          <a:xfrm>
            <a:off x="658368" y="1234440"/>
            <a:ext cx="105156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06" name="TextBox 25605"/>
          <p:cNvSpPr txBox="1"/>
          <p:nvPr/>
        </p:nvSpPr>
        <p:spPr>
          <a:xfrm>
            <a:off x="777240" y="1536192"/>
            <a:ext cx="10424160" cy="187451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500">
                <a:solidFill>
                  <a:srgbClr val="262626"/>
                </a:solidFill>
                <a:latin typeface="Microsoft YaHei"/>
              </a:rPr>
              <a:t>• 项目定位：Digital Life as a Service（DLaaS），为医疗、教育、电商、农业、育儿、玩具、跨境等行业提供可持续学习的数字生命服务。</a:t>
            </a:r>
          </a:p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500">
                <a:solidFill>
                  <a:srgbClr val="262626"/>
                </a:solidFill>
                <a:latin typeface="Microsoft YaHei"/>
              </a:rPr>
              <a:t>• 核心产品：数字医生/专家分身、AI 私域运营员工、K12 学习伙伴、农业 AI 带货顾问、跨境 AI 业务员、陪伴玩偶内置数字生命。</a:t>
            </a:r>
          </a:p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500">
                <a:solidFill>
                  <a:srgbClr val="262626"/>
                </a:solidFill>
                <a:latin typeface="Microsoft YaHei"/>
              </a:rPr>
              <a:t>• 交付流程：领养数字生命 → 上传行业资料/运营手册 → 主动学习 → 考试发证 → 接入业务渠道 → 审计监管与人工接管。</a:t>
            </a:r>
          </a:p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500">
                <a:solidFill>
                  <a:srgbClr val="262626"/>
                </a:solidFill>
                <a:latin typeface="Microsoft YaHei"/>
              </a:rPr>
              <a:t>• 产业化节奏：7 月完成小鹿儿童硬件、1688 出海、LTV 私域销售三类产品发售；8 月以三个产品为样例发布平台。</a:t>
            </a:r>
          </a:p>
        </p:txBody>
      </p:sp>
      <p:graphicFrame>
        <p:nvGraphicFramePr>
          <p:cNvPr id="25607" name="Table 25606"/>
          <p:cNvGraphicFramePr>
            <a:graphicFrameLocks noGrp="1"/>
          </p:cNvGraphicFramePr>
          <p:nvPr/>
        </p:nvGraphicFramePr>
        <p:xfrm>
          <a:off x="777240" y="3703320"/>
          <a:ext cx="103784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4610"/>
                <a:gridCol w="2594610"/>
                <a:gridCol w="2594610"/>
                <a:gridCol w="2594610"/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时间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里程碑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验证目标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M0-M1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1 个月内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医疗数字分身 JV / 若干行业 JV 意向推进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验证专家与合规渠道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M2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7 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3 个合资产品发售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验证真实用户与转化链路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M3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8 月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Volvence DLaaS 平台发布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平台化复制与生态招商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25608" name="TextBox 25607"/>
          <p:cNvSpPr txBox="1"/>
          <p:nvPr/>
        </p:nvSpPr>
        <p:spPr>
          <a:xfrm>
            <a:off x="658368" y="6473952"/>
            <a:ext cx="80467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5A5A"/>
                </a:solidFill>
                <a:latin typeface="Microsoft YaHei"/>
              </a:rPr>
              <a:t>Volvence DLaaS 领军人才项目答辩  |  v0.1  |  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90600" y="2057400"/>
            <a:ext cx="9155430" cy="774065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140000"/>
              </a:lnSpc>
            </a:pPr>
            <a:endParaRPr lang="zh-CN" alt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554" name="内容占位符 1"/>
          <p:cNvSpPr>
            <a:spLocks noGrp="1"/>
          </p:cNvSpPr>
          <p:nvPr/>
        </p:nvSpPr>
        <p:spPr>
          <a:xfrm>
            <a:off x="1066800" y="3276600"/>
            <a:ext cx="8229600" cy="33940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>
            <a:normAutofit/>
          </a:bodyPr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4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kern="1200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3555" name="TextBox 23554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0070C0"/>
                </a:solidFill>
                <a:latin typeface="Microsoft YaHei"/>
              </a:rPr>
              <a:t>团队与申报人</a:t>
            </a:r>
          </a:p>
        </p:txBody>
      </p:sp>
      <p:sp>
        <p:nvSpPr>
          <p:cNvPr id="23556" name="TextBox 23555"/>
          <p:cNvSpPr txBox="1"/>
          <p:nvPr/>
        </p:nvSpPr>
        <p:spPr>
          <a:xfrm>
            <a:off x="658368" y="621792"/>
            <a:ext cx="109728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F3A5F"/>
                </a:solidFill>
                <a:latin typeface="Microsoft YaHei"/>
              </a:rPr>
              <a:t>团队介绍：主动学习理论权威 + 连续创业执行团队</a:t>
            </a:r>
          </a:p>
        </p:txBody>
      </p:sp>
      <p:sp>
        <p:nvSpPr>
          <p:cNvPr id="23557" name="Rectangle 23556"/>
          <p:cNvSpPr/>
          <p:nvPr/>
        </p:nvSpPr>
        <p:spPr>
          <a:xfrm>
            <a:off x="658368" y="1234440"/>
            <a:ext cx="105156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3558" name="Table 23557"/>
          <p:cNvGraphicFramePr>
            <a:graphicFrameLocks noGrp="1"/>
          </p:cNvGraphicFramePr>
          <p:nvPr/>
        </p:nvGraphicFramePr>
        <p:xfrm>
          <a:off x="731520" y="1508760"/>
          <a:ext cx="105156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成员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背景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对项目的关键价值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杨柳 博士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CMU 计算机学院机器学习系博士；研究人机交互复杂度、主动学习、强化学习、迁移学习；20 年发表 30+ 顶会顶刊论文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将“少量专家反馈快速训练可靠系统”的理论落到 DLaaS 核心算法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Steve Hanneke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普渡大学计算机系助理教授；主动学习理论奠基人之一；COLT 2026 主席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提供世界级主动学习理论与可靠学习边界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赵江波 CEO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北大计算机 + MBA；IBM 日本、HP、阿里、腾讯经历；连续创业与长期代码实现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负责产品平台、产业合作、工程落地和商业化推进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23559" name="TextBox 23558"/>
          <p:cNvSpPr txBox="1"/>
          <p:nvPr/>
        </p:nvSpPr>
        <p:spPr>
          <a:xfrm>
            <a:off x="841248" y="4069080"/>
            <a:ext cx="10058400" cy="12344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350">
                <a:solidFill>
                  <a:srgbClr val="262626"/>
                </a:solidFill>
                <a:latin typeface="Microsoft YaHei"/>
              </a:rPr>
              <a:t>• 代表性研究：Surrogate Losses in Passive and Active Learning、Active Learning with Identifiable Mixture Assumptions、Minimax Analysis of Active Learning / Star Number。</a:t>
            </a:r>
          </a:p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350">
                <a:solidFill>
                  <a:srgbClr val="262626"/>
                </a:solidFill>
                <a:latin typeface="Microsoft YaHei"/>
              </a:rPr>
              <a:t>• 近期方向：Reliable Active Apprenticeship Learning、Active RLHF、Bandit Learnability can be Undecidable，将主动学习与强化学习、人类反馈结合。</a:t>
            </a:r>
          </a:p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350">
                <a:solidFill>
                  <a:srgbClr val="262626"/>
                </a:solidFill>
                <a:latin typeface="Microsoft YaHei"/>
              </a:rPr>
              <a:t>• 团队优势：算法源头、工程系统、产业渠道三者同时具备。</a:t>
            </a:r>
          </a:p>
        </p:txBody>
      </p:sp>
      <p:sp>
        <p:nvSpPr>
          <p:cNvPr id="23560" name="TextBox 23559"/>
          <p:cNvSpPr txBox="1"/>
          <p:nvPr/>
        </p:nvSpPr>
        <p:spPr>
          <a:xfrm>
            <a:off x="658368" y="6473952"/>
            <a:ext cx="80467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5A5A"/>
                </a:solidFill>
                <a:latin typeface="Microsoft YaHei"/>
              </a:rPr>
              <a:t>Volvence DLaaS 领军人才项目答辩  |  v0.1  |  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76023" y="265328"/>
            <a:ext cx="11239500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14400" y="1981200"/>
            <a:ext cx="9331960" cy="4431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40000"/>
              </a:lnSpc>
            </a:pP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0070C0"/>
                </a:solidFill>
                <a:latin typeface="Microsoft YaHei"/>
              </a:rPr>
              <a:t>市场情况及痛点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21792"/>
            <a:ext cx="109728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F3A5F"/>
                </a:solidFill>
                <a:latin typeface="Microsoft YaHei"/>
              </a:rPr>
              <a:t>市场痛点：行业不缺大模型，缺可上岗的数字生命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1234440"/>
            <a:ext cx="105156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49808" y="1508760"/>
          <a:ext cx="104698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9960"/>
                <a:gridCol w="3489960"/>
                <a:gridCol w="3489960"/>
              </a:tblGrid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行业痛点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传统方案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为什么不够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专家稀缺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医生、名师、主播、运营人员靠真人服务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无法 7×24 小时规模化，成本高且经验不可复制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大模型不可靠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Prompt / RAG / 工作流拼接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每次对话像陌生人，缺长期记忆、关系边界和审计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垂直知识更新快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人工整理 FAQ / 话术 SOP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资料越多越难判断优先级，训练成本高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敏感场景合规重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黑盒客服或导购机器人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医疗/教育/母婴等场景必须可追溯、可接管、可回滚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914400" y="4434840"/>
            <a:ext cx="9875520" cy="658368"/>
          </a:xfrm>
          <a:prstGeom prst="roundRect">
            <a:avLst/>
          </a:prstGeom>
          <a:solidFill>
            <a:srgbClr val="FFF7EB"/>
          </a:solidFill>
          <a:ln>
            <a:solidFill>
              <a:srgbClr val="CD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600" b="1">
                <a:solidFill>
                  <a:srgbClr val="C06000"/>
                </a:solidFill>
                <a:latin typeface="Microsoft YaHei"/>
              </a:rPr>
              <a:t>真正的需求不是“更会说话”，而是“能持续学习、懂分寸、可监管、能负责”的数字生命。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80467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5A5A"/>
                </a:solidFill>
                <a:latin typeface="Microsoft YaHei"/>
              </a:rPr>
              <a:t>Volvence DLaaS 领军人才项目答辩  |  v0.1  |  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76023" y="3415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11810" y="2413635"/>
            <a:ext cx="1117219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40000"/>
              </a:lnSpc>
            </a:pPr>
            <a:endParaRPr lang="en-US" alt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057400" y="3797300"/>
            <a:ext cx="609600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0070C0"/>
                </a:solidFill>
                <a:latin typeface="Microsoft YaHei"/>
              </a:rPr>
              <a:t>公司核心产品介绍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21792"/>
            <a:ext cx="109728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F3A5F"/>
                </a:solidFill>
                <a:latin typeface="Microsoft YaHei"/>
              </a:rPr>
              <a:t>核心产品：可训练、可考试、可监管的 DLaaS 平台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1234440"/>
            <a:ext cx="105156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49808" y="1444752"/>
          <a:ext cx="1051560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</a:rPr>
                        <a:t>平台环节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</a:rPr>
                        <a:t>客户看到什么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</a:rPr>
                        <a:t>平台提供什么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62626"/>
                          </a:solidFill>
                          <a:latin typeface="Microsoft YaHei"/>
                        </a:rPr>
                        <a:t>1. 领养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62626"/>
                          </a:solidFill>
                          <a:latin typeface="Microsoft YaHei"/>
                        </a:rPr>
                        <a:t>选择医生/专家/运营/老师/陪伴等数字生命角色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62626"/>
                          </a:solidFill>
                          <a:latin typeface="Microsoft YaHei"/>
                        </a:rPr>
                        <a:t>基础人格、服务边界、行业模板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62626"/>
                          </a:solidFill>
                          <a:latin typeface="Microsoft YaHei"/>
                        </a:rPr>
                        <a:t>2. 主动自学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62626"/>
                          </a:solidFill>
                          <a:latin typeface="Microsoft YaHei"/>
                        </a:rPr>
                        <a:t>上传资料、案例、运营手册、专家知识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62626"/>
                          </a:solidFill>
                          <a:latin typeface="Microsoft YaHei"/>
                        </a:rPr>
                        <a:t>知识缺口发现、优先学习、人类反馈最小化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62626"/>
                          </a:solidFill>
                          <a:latin typeface="Microsoft YaHei"/>
                        </a:rPr>
                        <a:t>3. 考试发证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62626"/>
                          </a:solidFill>
                          <a:latin typeface="Microsoft YaHei"/>
                        </a:rPr>
                        <a:t>自动评测 + 专家抽查，通过后上岗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62626"/>
                          </a:solidFill>
                          <a:latin typeface="Microsoft YaHei"/>
                        </a:rPr>
                        <a:t>场景 benchmark、合规红线、人工验收协议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62626"/>
                          </a:solidFill>
                          <a:latin typeface="Microsoft YaHei"/>
                        </a:rPr>
                        <a:t>4. 接入业务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62626"/>
                          </a:solidFill>
                          <a:latin typeface="Microsoft YaHei"/>
                        </a:rPr>
                        <a:t>企微/微信/小程序/H5/API/硬件玩偶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62626"/>
                          </a:solidFill>
                          <a:latin typeface="Microsoft YaHei"/>
                        </a:rPr>
                        <a:t>会话、记忆、路由、审计、人工接管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62626"/>
                          </a:solidFill>
                          <a:latin typeface="Microsoft YaHei"/>
                        </a:rPr>
                        <a:t>5. 持续运营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62626"/>
                          </a:solidFill>
                          <a:latin typeface="Microsoft YaHei"/>
                        </a:rPr>
                        <a:t>月报、转化、留存、风险事件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62626"/>
                          </a:solidFill>
                          <a:latin typeface="Microsoft YaHei"/>
                        </a:rPr>
                        <a:t>学习闭环、模型成本控制、灰度与回滚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68680" y="4617720"/>
            <a:ext cx="10058400" cy="9144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350">
                <a:solidFill>
                  <a:srgbClr val="262626"/>
                </a:solidFill>
                <a:latin typeface="Microsoft YaHei"/>
              </a:rPr>
              <a:t>• 标杆 1：医疗数字分身，医生专家上平台做数字疗法，面向处方与医保路径探索。</a:t>
            </a:r>
          </a:p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350">
                <a:solidFill>
                  <a:srgbClr val="262626"/>
                </a:solidFill>
                <a:latin typeface="Microsoft YaHei"/>
              </a:rPr>
              <a:t>• 标杆 2：公域转私域 AI 运营，把直播/短视频流量转为微信关系，再自动带货分成。</a:t>
            </a:r>
          </a:p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350">
                <a:solidFill>
                  <a:srgbClr val="262626"/>
                </a:solidFill>
                <a:latin typeface="Microsoft YaHei"/>
              </a:rPr>
              <a:t>• 标杆 3：跨境 AI 业务员，接入义乌/1688 等商品与企业渠道。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73952"/>
            <a:ext cx="80467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5A5A"/>
                </a:solidFill>
                <a:latin typeface="Microsoft YaHei"/>
              </a:rPr>
              <a:t>Volvence DLaaS 领军人才项目答辩  |  v0.1  |  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62000" y="1828800"/>
            <a:ext cx="10476865" cy="5530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Aft>
                <a:spcPct val="0"/>
              </a:spcAft>
            </a:pP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080895" y="3352800"/>
            <a:ext cx="6096000" cy="2061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0070C0"/>
                </a:solidFill>
                <a:latin typeface="Microsoft YaHei"/>
              </a:rPr>
              <a:t>核心技术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21792"/>
            <a:ext cx="109728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F3A5F"/>
                </a:solidFill>
                <a:latin typeface="Microsoft YaHei"/>
              </a:rPr>
              <a:t>核心技术：主动学徒式学习 Active Apprenticeship Learning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1234440"/>
            <a:ext cx="105156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1517904"/>
            <a:ext cx="6126480" cy="2971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500">
                <a:solidFill>
                  <a:srgbClr val="262626"/>
                </a:solidFill>
                <a:latin typeface="Microsoft YaHei"/>
              </a:rPr>
              <a:t>• 主动学习：系统不平均消耗标注，而是优先询问最能降低不确定性、最影响业务结果的问题。</a:t>
            </a:r>
          </a:p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500">
                <a:solidFill>
                  <a:srgbClr val="262626"/>
                </a:solidFill>
                <a:latin typeface="Microsoft YaHei"/>
              </a:rPr>
              <a:t>• 学徒式强化学习：当系统知道最优动作时自主执行；当进入未知/高风险状态时主动请教人类专家，从反馈中更新策略。</a:t>
            </a:r>
          </a:p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500">
                <a:solidFill>
                  <a:srgbClr val="262626"/>
                </a:solidFill>
                <a:latin typeface="Microsoft YaHei"/>
              </a:rPr>
              <a:t>• 主动 RLHF：在奖励模型训练中减少人类标注，把专家反馈用于最关键样本。</a:t>
            </a:r>
          </a:p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500">
                <a:solidFill>
                  <a:srgbClr val="262626"/>
                </a:solidFill>
                <a:latin typeface="Microsoft YaHei"/>
              </a:rPr>
              <a:t>• 迁移学习：从历史行业任务中估计先验，新行业冷启动时少样本启动，后续随任务积累提升泛化。</a:t>
            </a:r>
          </a:p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500">
                <a:solidFill>
                  <a:srgbClr val="262626"/>
                </a:solidFill>
                <a:latin typeface="Microsoft YaHei"/>
              </a:rPr>
              <a:t>• DLaaS 工程化：长期记忆、关系状态、审计接管、考试发证、灰度回滚共同形成可上线平台。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086600" y="1508760"/>
          <a:ext cx="42519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</a:tblGrid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技术问题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普通 AI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DLaaS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  <a:latin typeface="Microsoft YaHei"/>
                        </a:rPr>
                        <a:t>标注成本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  <a:latin typeface="Microsoft YaHei"/>
                        </a:rPr>
                        <a:t>大量人工标注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  <a:latin typeface="Microsoft YaHei"/>
                        </a:rPr>
                        <a:t>主动选择关键反馈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  <a:latin typeface="Microsoft YaHei"/>
                        </a:rPr>
                        <a:t>风险控制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  <a:latin typeface="Microsoft YaHei"/>
                        </a:rPr>
                        <a:t>黑盒回答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  <a:latin typeface="Microsoft YaHei"/>
                        </a:rPr>
                        <a:t>不确定时请教专家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  <a:latin typeface="Microsoft YaHei"/>
                        </a:rPr>
                        <a:t>跨行业复制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  <a:latin typeface="Microsoft YaHei"/>
                        </a:rPr>
                        <a:t>每个场景重做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  <a:latin typeface="Microsoft YaHei"/>
                        </a:rPr>
                        <a:t>先验迁移 + 模板化上岗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914400" y="5074920"/>
            <a:ext cx="9966960" cy="658368"/>
          </a:xfrm>
          <a:prstGeom prst="roundRect">
            <a:avLst/>
          </a:prstGeom>
          <a:solidFill>
            <a:srgbClr val="E9F3FF"/>
          </a:solidFill>
          <a:ln>
            <a:solidFill>
              <a:srgbClr val="CD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500" b="1">
                <a:solidFill>
                  <a:srgbClr val="1F3A5F"/>
                </a:solidFill>
                <a:latin typeface="Microsoft YaHei"/>
              </a:rPr>
              <a:t>类比：火星车能自己探索，但悬崖边会主动请教人类。DLaaS 在医疗、教育、交易等高风险场景也采用同样机制。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73952"/>
            <a:ext cx="80467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5A5A"/>
                </a:solidFill>
                <a:latin typeface="Microsoft YaHei"/>
              </a:rPr>
              <a:t>Volvence DLaaS 领军人才项目答辩  |  v0.1  |  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476023" y="265328"/>
            <a:ext cx="11239500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endParaRPr lang="zh-CN" alt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28800" y="3505200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 kern="1200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0070C0"/>
                </a:solidFill>
                <a:latin typeface="Microsoft YaHei"/>
              </a:rPr>
              <a:t>先进性 / 创新点 / 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21792"/>
            <a:ext cx="109728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F3A5F"/>
                </a:solidFill>
                <a:latin typeface="Microsoft YaHei"/>
              </a:rPr>
              <a:t>技术验证与知识产权布局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234440"/>
            <a:ext cx="105156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9808" y="1481328"/>
          <a:ext cx="1046988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9960"/>
                <a:gridCol w="3489960"/>
                <a:gridCol w="3489960"/>
              </a:tblGrid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已具备基础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拟在苏州沉淀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Microsoft YaHei"/>
                        </a:rPr>
                        <a:t>理论基础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Microsoft YaHei"/>
                        </a:rPr>
                        <a:t>主动学习、强化学习、迁移学习顶会顶刊积累；Star Number 等复杂度理论影响行业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Microsoft YaHei"/>
                        </a:rPr>
                        <a:t>主动学徒式数字生命训练方法专利族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Microsoft YaHei"/>
                        </a:rPr>
                        <a:t>工程系统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Microsoft YaHei"/>
                        </a:rPr>
                        <a:t>DLaaS runtime、长期记忆、关系状态、审计接管、可测试平台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Microsoft YaHei"/>
                        </a:rPr>
                        <a:t>数字生命上岗考试、专家反馈闭环、行业模板库软件著作权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Microsoft YaHei"/>
                        </a:rPr>
                        <a:t>应用验证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Microsoft YaHei"/>
                        </a:rPr>
                        <a:t>私域、电商、母婴、跨境等 closed-alpha 与 JV 路径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Microsoft YaHei"/>
                        </a:rPr>
                        <a:t>医疗/教育/跨境/农业等苏州示范项目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Microsoft YaHei"/>
                        </a:rPr>
                        <a:t>治理能力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Microsoft YaHei"/>
                        </a:rPr>
                        <a:t>人工接管、审计日志、边界策略、灰度回滚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62626"/>
                          </a:solidFill>
                          <a:latin typeface="Microsoft YaHei"/>
                        </a:rPr>
                        <a:t>医疗数字疗法合规运营规范与标准化工具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68680" y="4480560"/>
            <a:ext cx="9966960" cy="868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350">
                <a:solidFill>
                  <a:srgbClr val="262626"/>
                </a:solidFill>
                <a:latin typeface="Microsoft YaHei"/>
              </a:rPr>
              <a:t>• 建议 IP 组合：3-5 件发明专利（主动学徒学习、数字生命考试、专家反馈压缩、合规审计与回滚）、8-10 件软著、行业数据与运营手册模板资产。</a:t>
            </a:r>
          </a:p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350">
                <a:solidFill>
                  <a:srgbClr val="262626"/>
                </a:solidFill>
                <a:latin typeface="Microsoft YaHei"/>
              </a:rPr>
              <a:t>• 技术壁垒来自“算法 + 平台 + 行业专家反馈数据 + 合规治理”四层叠加，而不是单一模型。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80467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5A5A"/>
                </a:solidFill>
                <a:latin typeface="Microsoft YaHei"/>
              </a:rPr>
              <a:t>Volvence DLaaS 领军人才项目答辩  |  v0.1  |  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476023" y="265328"/>
            <a:ext cx="11239500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447800" y="1905000"/>
            <a:ext cx="7375525" cy="5530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Aft>
                <a:spcPct val="0"/>
              </a:spcAft>
            </a:pP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386" name="内容占位符 1"/>
          <p:cNvSpPr>
            <a:spLocks noGrp="1"/>
          </p:cNvSpPr>
          <p:nvPr/>
        </p:nvSpPr>
        <p:spPr>
          <a:xfrm>
            <a:off x="838200" y="3124200"/>
            <a:ext cx="8229600" cy="33940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>
            <a:normAutofit/>
          </a:bodyPr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4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kern="1200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387" name="TextBox 16386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0070C0"/>
                </a:solidFill>
                <a:latin typeface="Microsoft YaHei"/>
              </a:rPr>
              <a:t>竞品分析</a:t>
            </a:r>
          </a:p>
        </p:txBody>
      </p:sp>
      <p:sp>
        <p:nvSpPr>
          <p:cNvPr id="16388" name="TextBox 16387"/>
          <p:cNvSpPr txBox="1"/>
          <p:nvPr/>
        </p:nvSpPr>
        <p:spPr>
          <a:xfrm>
            <a:off x="658368" y="621792"/>
            <a:ext cx="109728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F3A5F"/>
                </a:solidFill>
                <a:latin typeface="Microsoft YaHei"/>
              </a:rPr>
              <a:t>竞品分析：我们不做大模型，也不做单点 App</a:t>
            </a:r>
          </a:p>
        </p:txBody>
      </p:sp>
      <p:sp>
        <p:nvSpPr>
          <p:cNvPr id="16389" name="Rectangle 16388"/>
          <p:cNvSpPr/>
          <p:nvPr/>
        </p:nvSpPr>
        <p:spPr>
          <a:xfrm>
            <a:off x="658368" y="1234440"/>
            <a:ext cx="105156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6390" name="Table 16389"/>
          <p:cNvGraphicFramePr>
            <a:graphicFrameLocks noGrp="1"/>
          </p:cNvGraphicFramePr>
          <p:nvPr/>
        </p:nvGraphicFramePr>
        <p:xfrm>
          <a:off x="502920" y="1481328"/>
          <a:ext cx="112014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2240280"/>
                <a:gridCol w="2240280"/>
                <a:gridCol w="2240280"/>
                <a:gridCol w="2240280"/>
              </a:tblGrid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类型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代表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优势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短板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我们的差异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基础大模型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OpenAI / DeepSeek / Qwen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通用 IQ 强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缺行业关系、合规上岗、长期运营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站在模型之上，做数字生命运行层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Agent/RAG 工具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工作流、知识库、客服 bot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部署快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靠规则与 context，难以主动学习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主动请教专家、持续学习、可考试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垂直 SaaS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教育/医疗/电商单点产品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场景深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难跨行业复制，AI 核心弱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统一 DLaaS 平台支撑多行业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数字人/陪伴 App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虚拟主播、玩偶、聊天 App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体验直观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多为内容/外形驱动，缺治理与交易闭环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数字生命 + 产业渠道 + 合资运营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391" name="Rounded Rectangle 16390"/>
          <p:cNvSpPr/>
          <p:nvPr/>
        </p:nvSpPr>
        <p:spPr>
          <a:xfrm>
            <a:off x="914400" y="4892040"/>
            <a:ext cx="9875520" cy="685800"/>
          </a:xfrm>
          <a:prstGeom prst="roundRect">
            <a:avLst/>
          </a:prstGeom>
          <a:solidFill>
            <a:srgbClr val="EEF9F5"/>
          </a:solidFill>
          <a:ln>
            <a:solidFill>
              <a:srgbClr val="CD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500" b="1">
                <a:solidFill>
                  <a:srgbClr val="008060"/>
                </a:solidFill>
                <a:latin typeface="Microsoft YaHei"/>
              </a:rPr>
              <a:t>客户选择我们的原因：不是买一个模型账号，而是买一个能被专家训练、被企业监管、能在真实业务中负责的数字生命员工。</a:t>
            </a:r>
          </a:p>
        </p:txBody>
      </p:sp>
      <p:sp>
        <p:nvSpPr>
          <p:cNvPr id="16392" name="TextBox 16391"/>
          <p:cNvSpPr txBox="1"/>
          <p:nvPr/>
        </p:nvSpPr>
        <p:spPr>
          <a:xfrm>
            <a:off x="658368" y="6473952"/>
            <a:ext cx="80467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5A5A"/>
                </a:solidFill>
                <a:latin typeface="Microsoft YaHei"/>
              </a:rPr>
              <a:t>Volvence DLaaS 领军人才项目答辩  |  v0.1  |  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476023" y="265328"/>
            <a:ext cx="11239500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endParaRPr lang="zh-CN" alt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371600" y="2362200"/>
            <a:ext cx="7375525" cy="5530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Aft>
                <a:spcPct val="0"/>
              </a:spcAft>
            </a:pP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0070C0"/>
                </a:solidFill>
                <a:latin typeface="Microsoft YaHei"/>
              </a:rPr>
              <a:t>市场情况 / 客户情况 / 开拓计划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21792"/>
            <a:ext cx="109728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F3A5F"/>
                </a:solidFill>
                <a:latin typeface="Microsoft YaHei"/>
              </a:rPr>
              <a:t>市场开拓：七大产业场景已形成渠道突破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1234440"/>
            <a:ext cx="105156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38912" y="1325880"/>
          <a:ext cx="1147572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8930"/>
                <a:gridCol w="2868930"/>
                <a:gridCol w="2868930"/>
                <a:gridCol w="2868930"/>
              </a:tblGrid>
              <a:tr h="45212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方向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合作/渠道进展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资源价值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状态口径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Microsoft YaHei"/>
                        </a:rPr>
                        <a:t>医疗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Microsoft YaHei"/>
                        </a:rPr>
                        <a:t>拟与卫健委下属协会相关方成立医疗数字分身 JV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Microsoft YaHei"/>
                        </a:rPr>
                        <a:t>医生数字疗法、处方与医保路径、季度 10 位顶级专家站台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Microsoft YaHei"/>
                        </a:rPr>
                        <a:t>基本谈妥 / 1 个月内推进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Microsoft YaHei"/>
                        </a:rPr>
                        <a:t>开发者生态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Microsoft YaHei"/>
                        </a:rPr>
                        <a:t>OpenCSG 模型算力平台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Microsoft YaHei"/>
                        </a:rPr>
                        <a:t>200 万全国开发者导入，使用 Volvence token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Microsoft YaHei"/>
                        </a:rPr>
                        <a:t>创始人强关系 / 待落地协议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Microsoft YaHei"/>
                        </a:rPr>
                        <a:t>农业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Microsoft YaHei"/>
                        </a:rPr>
                        <a:t>甲骨文超级码：帮农民 AI 带货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Microsoft YaHei"/>
                        </a:rPr>
                        <a:t>全国农业溯源与农产品渠道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Microsoft YaHei"/>
                        </a:rPr>
                        <a:t>合资意向 / 1 个月见分晓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Microsoft YaHei"/>
                        </a:rPr>
                        <a:t>电商私域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Microsoft YaHei"/>
                        </a:rPr>
                        <a:t>浙江绿洲视界 / LTV 类合作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Microsoft YaHei"/>
                        </a:rPr>
                        <a:t>年 300 万件童羽绒服、3 亿公域流量、公域转微信带货分成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Microsoft YaHei"/>
                        </a:rPr>
                        <a:t>基本谈妥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Microsoft YaHei"/>
                        </a:rPr>
                        <a:t>教育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Microsoft YaHei"/>
                        </a:rPr>
                        <a:t>全国 K12 顶级专家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Microsoft YaHei"/>
                        </a:rPr>
                        <a:t>K12 数字老师与学习伙伴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Microsoft YaHei"/>
                        </a:rPr>
                        <a:t>明日洽谈合资意向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Microsoft YaHei"/>
                        </a:rPr>
                        <a:t>育儿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Microsoft YaHei"/>
                        </a:rPr>
                        <a:t>宝宝树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Microsoft YaHei"/>
                        </a:rPr>
                        <a:t>最大孕育平台之一，母婴长期关系场景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Microsoft YaHei"/>
                        </a:rPr>
                        <a:t>已连接 / 下周深入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Microsoft YaHei"/>
                        </a:rPr>
                        <a:t>跨境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Microsoft YaHei"/>
                        </a:rPr>
                        <a:t>义乌小商品城大数据公司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Microsoft YaHei"/>
                        </a:rPr>
                        <a:t>跨境平台上线即合作，官方宣传体系与地推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Microsoft YaHei"/>
                        </a:rPr>
                        <a:t>CMO 达成一致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Microsoft YaHei"/>
                        </a:rPr>
                        <a:t>玩具陪伴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Microsoft YaHei"/>
                        </a:rPr>
                        <a:t>Lavivi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Microsoft YaHei"/>
                        </a:rPr>
                        <a:t>世界级陪伴玩偶植入数字生命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62626"/>
                          </a:solidFill>
                          <a:latin typeface="Microsoft YaHei"/>
                        </a:rPr>
                        <a:t>下周会面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685800" y="5623560"/>
            <a:ext cx="10881360" cy="502920"/>
          </a:xfrm>
          <a:prstGeom prst="roundRect">
            <a:avLst/>
          </a:prstGeom>
          <a:solidFill>
            <a:srgbClr val="E9F3FF"/>
          </a:solidFill>
          <a:ln>
            <a:solidFill>
              <a:srgbClr val="CD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50" b="1">
                <a:solidFill>
                  <a:srgbClr val="1F3A5F"/>
                </a:solidFill>
                <a:latin typeface="Microsoft YaHei"/>
              </a:rPr>
              <a:t>医疗、教育、电商、农业、育儿、玩具、跨境：渠道不是单点销售，而是“合资运营 + 平台复制”的产业矩阵。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73952"/>
            <a:ext cx="80467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5A5A"/>
                </a:solidFill>
                <a:latin typeface="Microsoft YaHei"/>
              </a:rPr>
              <a:t>Volvence DLaaS 领军人才项目答辩  |  v0.1  |  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476023" y="265328"/>
            <a:ext cx="11239500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endParaRPr lang="zh-CN" alt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28800" y="3505200"/>
            <a:ext cx="84994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0070C0"/>
                </a:solidFill>
                <a:latin typeface="Microsoft YaHei"/>
              </a:rPr>
              <a:t>商业模式 / 收入结构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21792"/>
            <a:ext cx="109728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F3A5F"/>
                </a:solidFill>
                <a:latin typeface="Microsoft YaHei"/>
              </a:rPr>
              <a:t>商业模式：合作方出场景与流量，我们出数字生命引擎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234440"/>
            <a:ext cx="105156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1508760"/>
          <a:ext cx="1056132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0330"/>
                <a:gridCol w="2640330"/>
                <a:gridCol w="2640330"/>
                <a:gridCol w="2640330"/>
              </a:tblGrid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收入类型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客户/合作方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收费方式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适用场景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平台服务费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合资公司 / 行业客户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月费 / 年费 / 实例数 / token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医疗专家、教育老师、AI 员工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交易分成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电商、农业、跨境、私域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GMV / 毛利 / 成交分成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公域转私域、AI 带货、跨境 SaaS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联合品牌/JV 分红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头部渠道方 / IP 方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股权收益 + 分红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医疗、K12、玩具、母婴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企业定制与私有化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大型企业 / 政企客户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项目费 + 运维费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合规、数据不出域、行业知识库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68680" y="4526280"/>
            <a:ext cx="1005840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350">
                <a:solidFill>
                  <a:srgbClr val="262626"/>
                </a:solidFill>
                <a:latin typeface="Microsoft YaHei"/>
              </a:rPr>
              <a:t>• 轻资产原则：合作方提供医生、老师、商品、流量、供应链和履约；Volvence 提供 AI 引擎、平台、治理和持续学习能力。</a:t>
            </a:r>
          </a:p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350">
                <a:solidFill>
                  <a:srgbClr val="262626"/>
                </a:solidFill>
                <a:latin typeface="Microsoft YaHei"/>
              </a:rPr>
              <a:t>• 数据资产原则：行业资料、专家反馈、上岗考试和运营结果会沉淀成垂直模板，提高后续复制效率。</a:t>
            </a:r>
          </a:p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350">
                <a:solidFill>
                  <a:srgbClr val="262626"/>
                </a:solidFill>
                <a:latin typeface="Microsoft YaHei"/>
              </a:rPr>
              <a:t>• 早期收入锚点：沿用已有 BP 的 2026 内部模型，目标约人民币 3,500 万，实际以签约和上线数据校准。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80467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5A5A"/>
                </a:solidFill>
                <a:latin typeface="Microsoft YaHei"/>
              </a:rPr>
              <a:t>Volvence DLaaS 领军人才项目答辩  |  v0.1  |  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476023" y="265328"/>
            <a:ext cx="11239500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endParaRPr lang="zh-CN" alt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28800" y="3505200"/>
            <a:ext cx="84994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0070C0"/>
                </a:solidFill>
                <a:latin typeface="Microsoft YaHei"/>
              </a:rPr>
              <a:t>苏州创办企业规划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21792"/>
            <a:ext cx="109728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F3A5F"/>
                </a:solidFill>
                <a:latin typeface="Microsoft YaHei"/>
              </a:rPr>
              <a:t>苏州创办企业规划：平台总部 + 合规运营 + 产业示范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234440"/>
            <a:ext cx="105156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9808" y="1481328"/>
          <a:ext cx="104698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9960"/>
                <a:gridCol w="3489960"/>
                <a:gridCol w="3489960"/>
              </a:tblGrid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规划项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建议方案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企业定位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Volvence DLaaS 华东/全国平台运营主体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承接研发、销售、交付、合规运营与产业合作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股权结构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创始团队 + 核心技术团队 + 员工期权 + 外部投资人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具体比例按工商与融资协议确定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关联关系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与既有 Volvence 技术主体签署 IP/平台授权与服务协议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保证苏州公司有明确业务收入与资产沉淀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落地资源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医疗健康、跨境电商、教育、先进制造、数字贸易场景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在苏州形成标杆项目与生态招商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68680" y="4343400"/>
            <a:ext cx="10058400" cy="9144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350">
                <a:solidFill>
                  <a:srgbClr val="262626"/>
                </a:solidFill>
                <a:latin typeface="Microsoft YaHei"/>
              </a:rPr>
              <a:t>• 拟设部门：平台研发中心、行业解决方案中心、合规与审计中心、客户成功与运营中心、生态合作中心。</a:t>
            </a:r>
          </a:p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350">
                <a:solidFill>
                  <a:srgbClr val="262626"/>
                </a:solidFill>
                <a:latin typeface="Microsoft YaHei"/>
              </a:rPr>
              <a:t>• 苏州价值：把算法平台、行业模板、专家反馈数据、客户交付和知识产权集中沉淀到本地企业。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80467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5A5A"/>
                </a:solidFill>
                <a:latin typeface="Microsoft YaHei"/>
              </a:rPr>
              <a:t>Volvence DLaaS 领军人才项目答辩  |  v0.1  |  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476023" y="265328"/>
            <a:ext cx="11239500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endParaRPr lang="zh-CN" alt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650" name="内容占位符 1"/>
          <p:cNvSpPr>
            <a:spLocks noGrp="1"/>
          </p:cNvSpPr>
          <p:nvPr/>
        </p:nvSpPr>
        <p:spPr>
          <a:xfrm>
            <a:off x="1219200" y="1828800"/>
            <a:ext cx="8229600" cy="33940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>
            <a:normAutofit/>
          </a:bodyPr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4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kern="1200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7651" name="TextBox 27650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0070C0"/>
                </a:solidFill>
                <a:latin typeface="Microsoft YaHei"/>
              </a:rPr>
              <a:t>三年发展规划</a:t>
            </a:r>
          </a:p>
        </p:txBody>
      </p:sp>
      <p:sp>
        <p:nvSpPr>
          <p:cNvPr id="27652" name="TextBox 27651"/>
          <p:cNvSpPr txBox="1"/>
          <p:nvPr/>
        </p:nvSpPr>
        <p:spPr>
          <a:xfrm>
            <a:off x="658368" y="621792"/>
            <a:ext cx="109728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F3A5F"/>
                </a:solidFill>
                <a:latin typeface="Microsoft YaHei"/>
              </a:rPr>
              <a:t>苏州创办企业三年展望</a:t>
            </a:r>
          </a:p>
        </p:txBody>
      </p:sp>
      <p:sp>
        <p:nvSpPr>
          <p:cNvPr id="27653" name="Rectangle 27652"/>
          <p:cNvSpPr/>
          <p:nvPr/>
        </p:nvSpPr>
        <p:spPr>
          <a:xfrm>
            <a:off x="658368" y="1234440"/>
            <a:ext cx="105156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7654" name="Table 27653"/>
          <p:cNvGraphicFramePr>
            <a:graphicFrameLocks noGrp="1"/>
          </p:cNvGraphicFramePr>
          <p:nvPr/>
        </p:nvGraphicFramePr>
        <p:xfrm>
          <a:off x="502920" y="1417320"/>
          <a:ext cx="112014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2240280"/>
                <a:gridCol w="2240280"/>
                <a:gridCol w="2240280"/>
                <a:gridCol w="2240280"/>
              </a:tblGrid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产品与市场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收入目标（建议口径）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团队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</a:rPr>
                        <a:t>知识产权/资产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2026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平台发布；3 个产品发售；医疗/电商/跨境/教育等 5-8 个示范项目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3,000-5,000 万元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30-50 人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3-5 件专利、8+ 软著、行业模板库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2027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复制 20-30 个行业客户/JV；形成标准交付体系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1-1.5 亿元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80-120 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8-12 件专利、平台评测体系、合规规范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2028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成为数字生命服务平台型企业；开放开发者生态与合作伙伴 marketplace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3-5 亿元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150-200 人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15-25 件专利、跨行业数字生命资产库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长期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从垂直项目收入升级为平台 token、实例、交易、分红多元收入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平台化增长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生态化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262626"/>
                          </a:solidFill>
                          <a:latin typeface="Microsoft YaHei"/>
                        </a:rPr>
                        <a:t>行业标准与数据飞轮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655" name="Rounded Rectangle 27654"/>
          <p:cNvSpPr/>
          <p:nvPr/>
        </p:nvSpPr>
        <p:spPr>
          <a:xfrm>
            <a:off x="914400" y="4983480"/>
            <a:ext cx="9875520" cy="658368"/>
          </a:xfrm>
          <a:prstGeom prst="roundRect">
            <a:avLst/>
          </a:prstGeom>
          <a:solidFill>
            <a:srgbClr val="EEF9F5"/>
          </a:solidFill>
          <a:ln>
            <a:solidFill>
              <a:srgbClr val="CD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500" b="1">
                <a:solidFill>
                  <a:srgbClr val="008060"/>
                </a:solidFill>
                <a:latin typeface="Microsoft YaHei"/>
              </a:rPr>
              <a:t>目标：三年内把苏州公司建设为 DLaaS 数字生命平台总部、产业化样板和长三角数字生命生态节点。</a:t>
            </a:r>
          </a:p>
        </p:txBody>
      </p:sp>
      <p:sp>
        <p:nvSpPr>
          <p:cNvPr id="27656" name="TextBox 27655"/>
          <p:cNvSpPr txBox="1"/>
          <p:nvPr/>
        </p:nvSpPr>
        <p:spPr>
          <a:xfrm>
            <a:off x="658368" y="6473952"/>
            <a:ext cx="80467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5A5A"/>
                </a:solidFill>
                <a:latin typeface="Microsoft YaHei"/>
              </a:rPr>
              <a:t>Volvence DLaaS 领军人才项目答辩  |  v0.1  |  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20586" y="3428751"/>
            <a:ext cx="7439025" cy="187706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endParaRPr lang="en-US" sz="6300" b="1">
              <a:solidFill>
                <a:srgbClr val="4C678E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0070C0"/>
                </a:solidFill>
                <a:latin typeface="Microsoft YaHei"/>
              </a:rPr>
              <a:t>融资计划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9728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F3A5F"/>
                </a:solidFill>
                <a:latin typeface="Microsoft YaHei"/>
              </a:rPr>
              <a:t>融资计划：资金用于把渠道突破转化为可验证收入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34440"/>
            <a:ext cx="105156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481328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</a:rPr>
                        <a:t>融资要素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</a:rPr>
                        <a:t>建议口径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</a:rPr>
                        <a:t>用途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</a:rPr>
                        <a:t>达成里程碑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62626"/>
                          </a:solidFill>
                          <a:latin typeface="Microsoft YaHei"/>
                        </a:rPr>
                        <a:t>融资规模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62626"/>
                          </a:solidFill>
                          <a:latin typeface="Microsoft YaHei"/>
                        </a:rPr>
                        <a:t>人民币 3,000-5,000 万（可按实际谈判调整）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62626"/>
                          </a:solidFill>
                          <a:latin typeface="Microsoft YaHei"/>
                        </a:rPr>
                        <a:t>18 个月 runway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62626"/>
                          </a:solidFill>
                          <a:latin typeface="Microsoft YaHei"/>
                        </a:rPr>
                        <a:t>完成平台发布与首批行业标杆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62626"/>
                          </a:solidFill>
                          <a:latin typeface="Microsoft YaHei"/>
                        </a:rPr>
                        <a:t>研发投入 40%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62626"/>
                          </a:solidFill>
                          <a:latin typeface="Microsoft YaHei"/>
                        </a:rPr>
                        <a:t>主动学徒学习、DLaaS runtime、评测与审计平台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62626"/>
                          </a:solidFill>
                          <a:latin typeface="Microsoft YaHei"/>
                        </a:rPr>
                        <a:t>平台稳定、低成本、多行业复制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62626"/>
                          </a:solidFill>
                          <a:latin typeface="Microsoft YaHei"/>
                        </a:rPr>
                        <a:t>上岗考试与专家反馈闭环成熟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62626"/>
                          </a:solidFill>
                          <a:latin typeface="Microsoft YaHei"/>
                        </a:rPr>
                        <a:t>市场交付 35%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62626"/>
                          </a:solidFill>
                          <a:latin typeface="Microsoft YaHei"/>
                        </a:rPr>
                        <a:t>医疗/教育/电商/跨境等 JV 与客户成功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62626"/>
                          </a:solidFill>
                          <a:latin typeface="Microsoft YaHei"/>
                        </a:rPr>
                        <a:t>把意向转为合同与收入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62626"/>
                          </a:solidFill>
                          <a:latin typeface="Microsoft YaHei"/>
                        </a:rPr>
                        <a:t>3-5 个标杆项目进入生产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62626"/>
                          </a:solidFill>
                          <a:latin typeface="Microsoft YaHei"/>
                        </a:rPr>
                        <a:t>合规运营 25%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62626"/>
                          </a:solidFill>
                          <a:latin typeface="Microsoft YaHei"/>
                        </a:rPr>
                        <a:t>医疗、教育、隐私、安全、财务与法务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62626"/>
                          </a:solidFill>
                          <a:latin typeface="Microsoft YaHei"/>
                        </a:rPr>
                        <a:t>支撑高风险场景上线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62626"/>
                          </a:solidFill>
                          <a:latin typeface="Microsoft YaHei"/>
                        </a:rPr>
                        <a:t>形成审计、接管、回滚 SOP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4480560"/>
            <a:ext cx="10058400" cy="9144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350">
                <a:solidFill>
                  <a:srgbClr val="262626"/>
                </a:solidFill>
                <a:latin typeface="Microsoft YaHei"/>
              </a:rPr>
              <a:t>• 下一轮融资门槛：真实 ARR 超 1,000 万元、3 个以上 JV 生产运营、至少 2 条行业转化/留存数据曲线显著优于基线。</a:t>
            </a:r>
          </a:p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1350">
                <a:solidFill>
                  <a:srgbClr val="262626"/>
                </a:solidFill>
                <a:latin typeface="Microsoft YaHei"/>
              </a:rPr>
              <a:t>• 本轮不是验证“AI 能聊天”，而是验证“数字生命能在真实产业中产生收入、合规运行、可复制交付”。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80467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5A5A"/>
                </a:solidFill>
                <a:latin typeface="Microsoft YaHei"/>
              </a:rPr>
              <a:t>Volvence DLaaS 领军人才项目答辩  |  v0.1  |  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TextBox 7"/>
          <p:cNvSpPr txBox="1"/>
          <p:nvPr/>
        </p:nvSpPr>
        <p:spPr>
          <a:xfrm>
            <a:off x="476023" y="265328"/>
            <a:ext cx="11239500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endParaRPr lang="zh-CN" alt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28800" y="3505200"/>
            <a:ext cx="84994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0070C0"/>
                </a:solidFill>
                <a:latin typeface="Microsoft YaHei"/>
              </a:rPr>
              <a:t>补充：评委可能追问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21792"/>
            <a:ext cx="10972800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F3A5F"/>
                </a:solidFill>
                <a:latin typeface="Microsoft YaHei"/>
              </a:rPr>
              <a:t>风险与合规：高风险行业必须可审计、可接管、可回滚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234440"/>
            <a:ext cx="105156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9808" y="1508760"/>
          <a:ext cx="1046988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9960"/>
                <a:gridCol w="3489960"/>
                <a:gridCol w="3489960"/>
              </a:tblGrid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风险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应对原则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平台机制</a:t>
                      </a:r>
                    </a:p>
                  </a:txBody>
                  <a:tcPr marL="36576" marR="36576" marT="27432" marB="27432">
                    <a:solidFill>
                      <a:srgbClr val="1F3A5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医疗合规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AI 不替代医生，不越权诊断；医生/机构持牌运营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专家审核、处方路径合规、免责声明、人工接管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未成年人/教育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保护隐私、避免诱导消费和情感依赖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家长授权、内容边界、审计日志、敏感触发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电商与广告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不夸大疗效/收益，不硬推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反销售边界、投诉接管、话术审查</a:t>
                      </a:r>
                    </a:p>
                  </a:txBody>
                  <a:tcPr marL="36576" marR="36576" marT="27432" marB="27432">
                    <a:solidFill>
                      <a:srgbClr val="F7FAFD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数据安全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最小化采集、可删除、可导出、可追踪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租户隔离、权限控制、操作审计、灰度回滚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914400" y="4754880"/>
            <a:ext cx="9875520" cy="658368"/>
          </a:xfrm>
          <a:prstGeom prst="roundRect">
            <a:avLst/>
          </a:prstGeom>
          <a:solidFill>
            <a:srgbClr val="FFF7EB"/>
          </a:solidFill>
          <a:ln>
            <a:solidFill>
              <a:srgbClr val="CD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600" b="1">
                <a:solidFill>
                  <a:srgbClr val="C06000"/>
                </a:solidFill>
                <a:latin typeface="Microsoft YaHei"/>
              </a:rPr>
              <a:t>DLaaS 的核心竞争力之一，就是把“能运行”升级为“能被监管地运行”。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80467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5A5A"/>
                </a:solidFill>
                <a:latin typeface="Microsoft YaHei"/>
              </a:rPr>
              <a:t>Volvence DLaaS 领军人才项目答辩  |  v0.1  |  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TextBox 7"/>
          <p:cNvSpPr txBox="1"/>
          <p:nvPr/>
        </p:nvSpPr>
        <p:spPr>
          <a:xfrm>
            <a:off x="476023" y="265328"/>
            <a:ext cx="11239500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endParaRPr lang="zh-CN" alt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28800" y="3505200"/>
            <a:ext cx="84994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1005840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1">
                <a:solidFill>
                  <a:srgbClr val="1F3A5F"/>
                </a:solidFill>
                <a:latin typeface="Microsoft YaHei"/>
              </a:rPr>
              <a:t>THANKS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969264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0070C0"/>
                </a:solidFill>
                <a:latin typeface="Microsoft YaHei"/>
              </a:rPr>
              <a:t>基于主动学徒式学习的 DLaaS 数字生命服务平台研发与产业化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8760" y="3429000"/>
            <a:ext cx="8778240" cy="731520"/>
          </a:xfrm>
          <a:prstGeom prst="roundRect">
            <a:avLst/>
          </a:prstGeom>
          <a:solidFill>
            <a:srgbClr val="E9F3FF"/>
          </a:solidFill>
          <a:ln>
            <a:solidFill>
              <a:srgbClr val="CD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800" b="1">
                <a:solidFill>
                  <a:srgbClr val="1F3A5F"/>
                </a:solidFill>
                <a:latin typeface="Microsoft YaHei"/>
              </a:rPr>
              <a:t>用世界级主动学习理论，建设可学习、可审计、可产业化的数字生命服务平台。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709160"/>
            <a:ext cx="82296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>
                <a:solidFill>
                  <a:srgbClr val="262626"/>
                </a:solidFill>
                <a:latin typeface="Microsoft YaHei"/>
              </a:rPr>
              <a:t>申报人：杨柳 博士  |  Volvence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73952"/>
            <a:ext cx="80467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5A5A"/>
                </a:solidFill>
                <a:latin typeface="Microsoft YaHei"/>
              </a:rPr>
              <a:t>Volvence DLaaS 领军人才项目答辩  |  v0.1  |  16/16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zk2YThhYThmNjc5YWM0MTVjNTZlOTZhNmE0NzRmNzQifQ==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404040"/>
      </a:dk1>
      <a:lt1>
        <a:srgbClr val="FFFFFF"/>
      </a:lt1>
      <a:dk2>
        <a:srgbClr val="4C678E"/>
      </a:dk2>
      <a:lt2>
        <a:srgbClr val="E1E7EE"/>
      </a:lt2>
      <a:accent1>
        <a:srgbClr val="4C678E"/>
      </a:accent1>
      <a:accent2>
        <a:srgbClr val="4C678E"/>
      </a:accent2>
      <a:accent3>
        <a:srgbClr val="587093"/>
      </a:accent3>
      <a:accent4>
        <a:srgbClr val="677FA2"/>
      </a:accent4>
      <a:accent5>
        <a:srgbClr val="7D94B4"/>
      </a:accent5>
      <a:accent6>
        <a:srgbClr val="8CA0BD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859</Words>
  <Application>WPS 演示</Application>
  <PresentationFormat>On-screen Show (4:3)</PresentationFormat>
  <Paragraphs>93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等线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Bill</cp:lastModifiedBy>
  <cp:revision>6</cp:revision>
  <dcterms:created xsi:type="dcterms:W3CDTF">2006-08-16T00:00:00Z</dcterms:created>
  <dcterms:modified xsi:type="dcterms:W3CDTF">2025-06-20T02:54:16Z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A3B27905D57A4415A79ED3F969483565_13</vt:lpwstr>
  </property>
  <property fmtid="{D5CDD505-2E9C-101B-9397-08002B2CF9AE}" pid="3" name="KSOProductBuildVer">
    <vt:lpwstr>2052-12.1.0.21171</vt:lpwstr>
  </property>
</Properties>
</file>