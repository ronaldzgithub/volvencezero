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300" r:id="rId8"/>
    <p:sldId id="301" r:id="rId9"/>
    <p:sldId id="303" r:id="rId10"/>
    <p:sldId id="264" r:id="rId11"/>
    <p:sldId id="302" r:id="rId12"/>
    <p:sldId id="304" r:id="rId13"/>
    <p:sldId id="305" r:id="rId14"/>
    <p:sldId id="306" r:id="rId15"/>
    <p:sldId id="299" r:id="rId16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0">
            <a:off x="3791053" y="4879211"/>
            <a:ext cx="4609893" cy="434059"/>
            <a:chOff x="3791053" y="4879211"/>
            <a:chExt cx="4609893" cy="434059"/>
          </a:xfrm>
        </p:grpSpPr>
        <p:sp>
          <p:nvSpPr>
            <p:cNvPr id="5" name="AutoShape 5"/>
            <p:cNvSpPr/>
            <p:nvPr/>
          </p:nvSpPr>
          <p:spPr>
            <a:xfrm>
              <a:off x="3791053" y="4879211"/>
              <a:ext cx="2056587" cy="434059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zh-CN" alt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答辩</a:t>
              </a: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人：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323803" y="4879211"/>
              <a:ext cx="2077143" cy="419156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2024-07-15</a:t>
              </a:r>
              <a:endParaRPr lang="en-US" sz="11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914515" y="83588"/>
            <a:ext cx="5497697" cy="419156"/>
          </a:xfrm>
          <a:prstGeom prst="rect">
            <a:avLst/>
          </a:prstGeom>
          <a:noFill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marL="0" algn="thaiDist" defTabSz="914400" rtl="0" eaLnBrk="1" latinLnBrk="0" hangingPunct="1">
              <a:defRPr sz="1800" kern="1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sz="1575" b="1">
                <a:solidFill>
                  <a:srgbClr val="002060"/>
                </a:solidFill>
                <a:effectLst/>
                <a:uFill>
                  <a:solidFill>
                    <a:srgbClr val="002060"/>
                  </a:solidFill>
                </a:u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苏州工业园区领军人才</a:t>
            </a:r>
            <a:r>
              <a:rPr lang="zh-CN" sz="1575" b="1">
                <a:solidFill>
                  <a:srgbClr val="002060"/>
                </a:solidFill>
                <a:effectLst/>
                <a:uFill>
                  <a:solidFill>
                    <a:srgbClr val="002060"/>
                  </a:solidFill>
                </a:u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项目答辩</a:t>
            </a:r>
            <a:endParaRPr lang="en-US" sz="1100"/>
          </a:p>
        </p:txBody>
      </p:sp>
      <p:pic>
        <p:nvPicPr>
          <p:cNvPr id="165" name="Picture 2"/>
          <p:cNvPicPr>
            <a:picLocks noChangeAspect="1" noChangeArrowheads="1"/>
          </p:cNvPicPr>
          <p:nvPr/>
        </p:nvPicPr>
        <p:blipFill rotWithShape="1">
          <a:blip r:embed="rId2"/>
          <a:srcRect r="82836"/>
          <a:stretch>
            <a:fillRect/>
          </a:stretch>
        </p:blipFill>
        <p:spPr>
          <a:xfrm>
            <a:off x="118780" y="83884"/>
            <a:ext cx="759292" cy="504951"/>
          </a:xfrm>
          <a:prstGeom prst="rect">
            <a:avLst/>
          </a:prstGeom>
          <a:noFill/>
        </p:spPr>
      </p:pic>
      <p:sp>
        <p:nvSpPr>
          <p:cNvPr id="162" name="文本框 1"/>
          <p:cNvSpPr txBox="1"/>
          <p:nvPr/>
        </p:nvSpPr>
        <p:spPr>
          <a:xfrm>
            <a:off x="228402" y="1676566"/>
            <a:ext cx="1137920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r>
              <a:rPr sz="2200"/>
              <a:t>基于主动学徒式学习的 DLaaS 数字生命服务平台研发与产业化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962400" y="54864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600"/>
              <a:t>公司：苏州进化涌现科技有限公司    申报人：杨柳 博士（CMU 机器学习博士）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zh-CN" altLang="en-US" sz="8400" b="1">
                <a:solidFill>
                  <a:schemeClr val="accent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</a:t>
            </a:r>
            <a:endParaRPr lang="zh-CN" altLang="en-US" sz="8400" b="1">
              <a:solidFill>
                <a:schemeClr val="accent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• 项目：DLaaS 数字生命服务平台 + 三家合资公司数字销售落地</a:t>
            </a:r>
          </a:p>
          <a:p>
            <a:pPr>
              <a:spcAft>
                <a:spcPts val="1000"/>
              </a:spcAft>
            </a:pPr>
            <a:r>
              <a:rPr sz="1600"/>
              <a:t>• 一句话：把人的专业能力与人格，做成可长期交互、持续学习、在场景中真正干活的「数字销售员」</a:t>
            </a:r>
          </a:p>
          <a:p>
            <a:pPr>
              <a:spcAft>
                <a:spcPts val="1000"/>
              </a:spcAft>
            </a:pPr>
            <a:r>
              <a:rPr sz="1600"/>
              <a:t>• 口径：本稿融资 / 估值采用最新真实进度（种子轮 900 万 / 投前 1.2 亿），定稿前同步更新网评申报材料，确保与申报书不冲突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项目简介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/>
              <a:t>• 主体：苏州进化涌现科技（拟注册 2026-05-21，注册资本 200 万，总部 / 融资 / 上市主体）；北京进化涌现（注册资本 1011 万，早期研发 / 持股平台）</a:t>
            </a:r>
          </a:p>
          <a:p>
            <a:pPr>
              <a:spcAft>
                <a:spcPts val="800"/>
              </a:spcAft>
            </a:pPr>
            <a:r>
              <a:rPr sz="1400"/>
              <a:t>• 商业化进度：DLaaS 平台 + 三家合资公司已落地数字销售——灵智佳创（母婴 1000 万粉）、LTV / 摩比（私域 2800 万粉）、恒企星链（跨境 2 万家）；私域转化率从 0.3% 向 0.6–1.0% 验证中</a:t>
            </a:r>
          </a:p>
          <a:p>
            <a:pPr>
              <a:spcAft>
                <a:spcPts val="800"/>
              </a:spcAft>
            </a:pPr>
            <a:r>
              <a:rPr sz="1400"/>
              <a:t>• 产品进度：新一代数字销售产品 2026 年 7 月正式上线</a:t>
            </a:r>
          </a:p>
          <a:p>
            <a:pPr>
              <a:spcAft>
                <a:spcPts val="800"/>
              </a:spcAft>
            </a:pPr>
            <a:r>
              <a:rPr sz="1400"/>
              <a:t>• 融资进度：种子轮 900 万——深圳健和（30 亿基金管理者）领投，300 万已到账；轻舟资本 600 万 7 月到账；种子轮投前估值 1.2 亿；pre-A 启动</a:t>
            </a:r>
          </a:p>
          <a:p>
            <a:pPr>
              <a:spcAft>
                <a:spcPts val="800"/>
              </a:spcAft>
            </a:pPr>
            <a:r>
              <a:rPr sz="1400"/>
              <a:t>• 荣誉 / 学术：成果被 NeurIPS 2026、AAAI 2027 接收，ALT 2025 已发表；杨柳 CCF-A 类顶会顶刊 40 余篇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/>
              <a:t>• 杨柳（首席科学家）：CMU 机器学习博士，师从图灵奖团队，CCF-A 40 余篇，主动学徒式学习理论；CMU/IBM/耶鲁/普渡；2023-2025 中国联通 AI 专家</a:t>
            </a:r>
          </a:p>
          <a:p>
            <a:pPr>
              <a:spcAft>
                <a:spcPts val="800"/>
              </a:spcAft>
            </a:pPr>
            <a:r>
              <a:rPr sz="1300"/>
              <a:t>• 赵江波（创始人 / CEO / 董事长）：北大 MBA；日本 IBM、中国惠普、阿里（公安行业总监 / 全球技术服务部）、腾讯云（智慧交通公路总经理）；两次创业成功退出</a:t>
            </a:r>
          </a:p>
          <a:p>
            <a:pPr>
              <a:spcAft>
                <a:spcPts val="800"/>
              </a:spcAft>
            </a:pPr>
            <a:r>
              <a:rPr sz="1300"/>
              <a:t>• 张驰（CTO）：清华计算机本科；类脑智能与模块化大模型（EmoGPT）负责人；曾任凡普数科技术负责人；亿级项目操盘</a:t>
            </a:r>
          </a:p>
          <a:p>
            <a:pPr>
              <a:spcAft>
                <a:spcPts val="800"/>
              </a:spcAft>
            </a:pPr>
            <a:r>
              <a:rPr sz="1300"/>
              <a:t>• 王苍宇（CSO）/ 吴翔（CMO）：抖音年度最佳 MCN 创始人、15 年产业资源；10 年+互联网技术与运营</a:t>
            </a:r>
          </a:p>
          <a:p>
            <a:pPr>
              <a:spcAft>
                <a:spcPts val="800"/>
              </a:spcAft>
            </a:pPr>
            <a:r>
              <a:rPr sz="1300"/>
              <a:t>• 顾问：Steve Hanneke（主动学习理论学者、COLT 2026 主席），与杨柳长期合作。核心成员 2026-06-01 全职到岗苏州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情况及</a:t>
            </a: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/>
              <a:t>• 核心判断：大语言模型解决了「智商」（知识、推理），但无法建模「关系」——而关系是情感陪伴与长程任务里最关键、最难的部分</a:t>
            </a:r>
          </a:p>
          <a:p>
            <a:pPr>
              <a:spcAft>
                <a:spcPts val="800"/>
              </a:spcAft>
            </a:pPr>
            <a:r>
              <a:rPr sz="1400"/>
              <a:t>• 为什么做不到：现有 AI 应用都靠「上下文工程」（把记忆 / 人设 / 规则塞进 prompt）凑合，但关系是动态演化的——无论情感陪伴还是长程任务，靠拼上下文都难以实现</a:t>
            </a:r>
          </a:p>
          <a:p>
            <a:pPr>
              <a:spcAft>
                <a:spcPts val="800"/>
              </a:spcAft>
            </a:pPr>
            <a:r>
              <a:rPr sz="1400"/>
              <a:t>• 痛点①育儿顾问：育儿流派众多（亲密育儿 / 行为训练 / 蒙台梭利…），到底听谁的？必须结合这个家庭、这个孩子、这段关系的历史动态判断，而非背知识库</a:t>
            </a:r>
          </a:p>
          <a:p>
            <a:pPr>
              <a:spcAft>
                <a:spcPts val="800"/>
              </a:spcAft>
            </a:pPr>
            <a:r>
              <a:rPr sz="1400"/>
              <a:t>• 痛点②私域销售：真人无法一对 2000；而同时具备领域知识 + 世界知识、还会高情商聊天的人，既贵、又难招、易流失、会带走客户</a:t>
            </a:r>
          </a:p>
          <a:p>
            <a:pPr>
              <a:spcAft>
                <a:spcPts val="800"/>
              </a:spcAft>
            </a:pPr>
            <a:r>
              <a:rPr sz="1400"/>
              <a:t>• 结论：知识可由大模型补齐，真正要解决的是「情商」——理解关系、懂分寸、判断时机，这是我们攻克的核心问题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3415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公司核心产品介绍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13716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• 底座：DLaaS 数字生命服务平台——像招人一样批量生产「专家级数字销售员」：领养 → 培训 → 考试发证 → 上岗 → 监管接管</a:t>
            </a:r>
          </a:p>
          <a:p>
            <a:pPr>
              <a:spcAft>
                <a:spcPts val="600"/>
              </a:spcAft>
            </a:pPr>
            <a:r>
              <a:rPr sz="1300"/>
              <a:t>• 核心能力——数字销售：记得住每个客户、懂分寸、判断成交时机、长期主动跟进；一个数字销售同时服务几千客户，不离职、不带走客户</a:t>
            </a:r>
          </a:p>
          <a:p>
            <a:pPr>
              <a:spcAft>
                <a:spcPts val="600"/>
              </a:spcAft>
            </a:pPr>
            <a:r>
              <a:rPr sz="1300"/>
              <a:t>• 为什么真的带来销售：关系连续性把私域转化率从行业基线 0.3% 提升到 0.6–1.0%（2800 万粉验证）；关键是「什么时候不卖」先建信任再成交；成本不到真人 1/10，转化翻倍＝同样流量收入翻倍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977639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产品 / 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单价（产业化口径）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灵智佳创（高盖伦·母婴 1000 万粉）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智能硬件 500 元/台 + App 订阅 360 元/年；我司 token 180 元/年 + 合资分红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LTV / 摩比（私域电商 2800 万粉）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token 30 元/人/年 + 合资分红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恒企星链（跨境电商 2 万家）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SaaS 约 30000 元/账号/年 + 分润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通用 SaaS / API / 企业定制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SaaS 499 / 1999 / 9999 元/月；API 0.01 元/次起；定制 10 万起、深度 50-200 万/项目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/>
              <a:t>• ① 主动学徒式在线进化：不会做时主动请教人类，标注更少，训练数据量压缩至传统 1/100，实时在线进化</a:t>
            </a:r>
          </a:p>
          <a:p>
            <a:pPr>
              <a:spcAft>
                <a:spcPts val="800"/>
              </a:spcAft>
            </a:pPr>
            <a:r>
              <a:rPr sz="1300"/>
              <a:t>• ② 人格一致性类脑 MOE：长期记忆 + 角色目标 + 情感表达 + 任务策略，稳定独立人格，解决人设崩塌</a:t>
            </a:r>
          </a:p>
          <a:p>
            <a:pPr>
              <a:spcAft>
                <a:spcPts val="800"/>
              </a:spcAft>
            </a:pPr>
            <a:r>
              <a:rPr sz="1300"/>
              <a:t>• ③ 数字生命运行时 Volvence Runtime：端侧轻量离线，延迟 ≤200ms，解决隐私 / 算力 / 网络依赖</a:t>
            </a:r>
          </a:p>
          <a:p>
            <a:pPr>
              <a:spcAft>
                <a:spcPts val="800"/>
              </a:spcAft>
            </a:pPr>
            <a:r>
              <a:rPr sz="1300"/>
              <a:t>• ④ 低代码定制引擎：拖拽完成性格 / 能力 / 记忆 / 外观，标准化、规模化复制</a:t>
            </a:r>
          </a:p>
          <a:p>
            <a:pPr>
              <a:spcAft>
                <a:spcPts val="800"/>
              </a:spcAft>
            </a:pPr>
            <a:r>
              <a:rPr sz="1300"/>
              <a:t>• 知识产权：核心完全自主；NeurIPS 2026、AAAI 2027 接收、ALT 2025 发表；计划发明专利 6 项、PCT 3 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Volvence 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传统数字人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通用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大厂 AI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核心技术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主动学徒式+类脑MOE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渲染+TTS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通用模型+工具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通用模型+对话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人格一致性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高 ≥99%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低，易崩塌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中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持续进化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在线实时，效率×100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弱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端侧部署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全支持，可离线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多不支持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仅云端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商业化落地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多场景已验证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仅直播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多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仅通用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377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/>
              <a:t>• 差异化：不与大厂拼底座大模型，聚焦数字生命运行时 + 主动学徒式学习 + 行业产品化 + 渠道商业化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市场情况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/>
              <a:t>• 市场规模：2025 全球数字人超 700 亿美元，中国超 3000 亿元，CAGR 超 230%，赛道初期无绝对龙头</a:t>
            </a:r>
          </a:p>
          <a:p>
            <a:pPr>
              <a:spcAft>
                <a:spcPts val="800"/>
              </a:spcAft>
            </a:pPr>
            <a:r>
              <a:rPr sz="1500"/>
              <a:t>• 目标客户：MCN / 品牌方、中小企业、跨境电商、C 端陪伴与教育</a:t>
            </a:r>
          </a:p>
          <a:p>
            <a:pPr>
              <a:spcAft>
                <a:spcPts val="800"/>
              </a:spcAft>
            </a:pPr>
            <a:r>
              <a:rPr sz="1500"/>
              <a:t>• 开拓进展：3 个月服务 1500+ 品牌方、1000+ MCN（签约合作超 2000 家）</a:t>
            </a:r>
          </a:p>
          <a:p>
            <a:pPr>
              <a:spcAft>
                <a:spcPts val="800"/>
              </a:spcAft>
            </a:pPr>
            <a:r>
              <a:rPr sz="1500"/>
              <a:t>• 合作方：杭州林以文化传媒、宁波恒一信息技术、深圳唐商文化科技、浙江国贸数字科技</a:t>
            </a:r>
          </a:p>
          <a:p>
            <a:pPr>
              <a:spcAft>
                <a:spcPts val="800"/>
              </a:spcAft>
            </a:pPr>
            <a:r>
              <a:rPr sz="1500"/>
              <a:t>• 规模测算：自下而上 = 客户数 × 客单价 × 续费率；先 B 端 / 渠道验证，再 C 端 / 生态扩展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• 收入四元结构：SaaS 订阅 / API 授权 / 企业定制 / 合资股权与利润分成</a:t>
            </a:r>
          </a:p>
          <a:p>
            <a:pPr>
              <a:spcAft>
                <a:spcPts val="1000"/>
              </a:spcAft>
            </a:pPr>
            <a:r>
              <a:rPr sz="1600"/>
              <a:t>• 定价：SaaS 499 / 1999 / 9999 元月；C 端月卡 30 / 年卡 298；API 0.01 元/次起；定制 10 万起、深度 50-200 万/项目</a:t>
            </a:r>
          </a:p>
          <a:p>
            <a:pPr>
              <a:spcAft>
                <a:spcPts val="1000"/>
              </a:spcAft>
            </a:pPr>
            <a:r>
              <a:rPr sz="1600"/>
              <a:t>• 渠道：技术换市场，在合作方客户 / 渠道 / 现金流上按效果与收入分成</a:t>
            </a:r>
          </a:p>
          <a:p>
            <a:pPr>
              <a:spcAft>
                <a:spcPts val="1000"/>
              </a:spcAft>
            </a:pPr>
            <a:r>
              <a:rPr sz="1600"/>
              <a:t>• 规模化：标准平台 + 行业模板 + 渠道合作 + 证据化效果 = 可复制销售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苏州创办企业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股东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认缴/实缴(万元)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持股比例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杨柳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赵江波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张驰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8288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/>
              <a:t>• 注册资本 200 万元（按申报书拟创办企业信息表）</a:t>
            </a:r>
          </a:p>
          <a:p>
            <a:pPr>
              <a:spcAft>
                <a:spcPts val="1000"/>
              </a:spcAft>
            </a:pPr>
            <a:r>
              <a:rPr sz="1400"/>
              <a:t>• 北京进化涌现为持股平台 / 早期研发；苏州公司为总部、承载、控股主体</a:t>
            </a:r>
          </a:p>
          <a:p>
            <a:pPr>
              <a:spcAft>
                <a:spcPts val="1000"/>
              </a:spcAft>
            </a:pPr>
            <a:r>
              <a:rPr sz="1400"/>
              <a:t>• 收入与税收以园区总部为承载对象；研发人员占比 ≥60%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苏州创办企业3年展望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0241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2048256"/>
                <a:gridCol w="2048256"/>
                <a:gridCol w="2048256"/>
                <a:gridCol w="2048256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第一年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第二年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第三年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合同目标值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主营业务收入(万元)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18500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新增项目经费(万元)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6800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新增税收(万元)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800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新增就业(人)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发明专利受理(项)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/>
                        <a:t>PCT 受理(项)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663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• 研发指标：数据压缩比 1/10→1/50→1/100；人格一致性 90%→95%→99%；延迟 500→300→200ms；端侧适配 80%→90%→100%</a:t>
            </a:r>
          </a:p>
          <a:p>
            <a:pPr>
              <a:spcAft>
                <a:spcPts val="600"/>
              </a:spcAft>
            </a:pPr>
            <a:r>
              <a:rPr sz="1300"/>
              <a:t>• 资质目标：第三年申报高新技术企业 1 个、上级人才 1 个；首年参保 ≥20 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融资计划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/>
              <a:t>• 已完成（种子轮）：900 万元——深圳健和（30 亿基金管理者）领投，300 万已到账；轻舟资本 600 万 7 月到账；种子轮投前估值 1.2 亿；股权清晰无纠纷</a:t>
            </a:r>
          </a:p>
          <a:p>
            <a:pPr>
              <a:spcAft>
                <a:spcPts val="800"/>
              </a:spcAft>
            </a:pPr>
            <a:r>
              <a:rPr sz="1400"/>
              <a:t>• 本轮（pre-A，测算）：拟融资约 6000 万元，投前估值约 3 亿元，出让约 16.7%，18-24 个月专款专用</a:t>
            </a:r>
          </a:p>
          <a:p>
            <a:pPr>
              <a:spcAft>
                <a:spcPts val="800"/>
              </a:spcAft>
            </a:pPr>
            <a:r>
              <a:rPr sz="1400"/>
              <a:t>• 资金用途：研发 40%（2400 万）/ 团队 30%（1800 万）/ 市场 20%（1200 万）/ 运营储备 10%（600 万）</a:t>
            </a:r>
          </a:p>
          <a:p>
            <a:pPr>
              <a:spcAft>
                <a:spcPts val="800"/>
              </a:spcAft>
            </a:pPr>
            <a:r>
              <a:rPr sz="1400"/>
              <a:t>• 里程碑：7 月数字销售产品上线并规模化、三家合资公司跑通转化与收入、四大技术模块稳定运行</a:t>
            </a:r>
          </a:p>
          <a:p>
            <a:pPr>
              <a:spcAft>
                <a:spcPts val="800"/>
              </a:spcAft>
            </a:pPr>
            <a:r>
              <a:rPr sz="1400"/>
              <a:t>• 后续：2027 A 轮、2028 B 轮（国内复制 / 生态 / 全球化 / 上市筹备）；退出 IPO / 并购 / 回购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20586" y="3428751"/>
            <a:ext cx="7439025" cy="187706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r>
              <a:t>THANKS</a:t>
            </a:r>
          </a:p>
          <a:p>
            <a:r>
              <a:rPr sz="1800"/>
              <a:t>苏州进化涌现科技有限公司 · 杨柳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k2YThhYThmNjc5YWM0MTVjNTZlOTZhNmE0NzRmNzQ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404040"/>
      </a:dk1>
      <a:lt1>
        <a:srgbClr val="FFFFFF"/>
      </a:lt1>
      <a:dk2>
        <a:srgbClr val="4C678E"/>
      </a:dk2>
      <a:lt2>
        <a:srgbClr val="E1E7EE"/>
      </a:lt2>
      <a:accent1>
        <a:srgbClr val="4C678E"/>
      </a:accent1>
      <a:accent2>
        <a:srgbClr val="4C678E"/>
      </a:accent2>
      <a:accent3>
        <a:srgbClr val="587093"/>
      </a:accent3>
      <a:accent4>
        <a:srgbClr val="677FA2"/>
      </a:accent4>
      <a:accent5>
        <a:srgbClr val="7D94B4"/>
      </a:accent5>
      <a:accent6>
        <a:srgbClr val="8CA0B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WPS 演示</Application>
  <PresentationFormat>On-screen Show (4:3)</PresentationFormat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等线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Bill</cp:lastModifiedBy>
  <cp:revision>6</cp:revision>
  <dcterms:created xsi:type="dcterms:W3CDTF">2006-08-16T00:00:00Z</dcterms:created>
  <dcterms:modified xsi:type="dcterms:W3CDTF">2025-06-20T02:54:16Z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A3B27905D57A4415A79ED3F969483565_13</vt:lpwstr>
  </property>
  <property fmtid="{D5CDD505-2E9C-101B-9397-08002B2CF9AE}" pid="3" name="KSOProductBuildVer">
    <vt:lpwstr>2052-12.1.0.21171</vt:lpwstr>
  </property>
</Properties>
</file>