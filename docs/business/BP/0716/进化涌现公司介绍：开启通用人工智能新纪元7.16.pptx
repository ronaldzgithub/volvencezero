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5.svg" ContentType="image/svg+xml"/>
  <Override PartName="/ppt/media/image17.svg" ContentType="image/svg+xml"/>
  <Override PartName="/ppt/media/image19.svg" ContentType="image/svg+xml"/>
  <Override PartName="/ppt/media/image21.svg" ContentType="image/svg+xml"/>
  <Override PartName="/ppt/media/image24.svg" ContentType="image/svg+xml"/>
  <Override PartName="/ppt/media/image27.svg" ContentType="image/svg+xml"/>
  <Override PartName="/ppt/media/image29.svg" ContentType="image/svg+xml"/>
  <Override PartName="/ppt/media/image32.svg" ContentType="image/svg+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457200"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914400"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371600"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1828800"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286000"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2743200"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200400"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3657600"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女士们，先生们，各位来宾，大家下午好。今天，我们站在一个时代的十字路口。人工智能，这个曾经只存在于科幻小说中的概念，已经渗透到我们生活的方方面面。但我们必须清醒地认识到，当前的AI，尽管强大，却仍被困在一个‘静态’的牢笼里。这，正是我们今天齐聚于此的原因——共同见证一场即将到来的范式革命。这场革命的名字，叫做Volvenc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正处在一个辉煌与阴影并存的时代。一方面，AI展现出惊人的能力；另一方面，其内在的“静态”缺陷也日益凸显。它们是强大的工具，却缺乏真正的智能核心。我们今天要探讨的，正是如何跨越这道鸿沟，赋予机器真正的大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分享将分为四个部分。首先，我们将深入剖析当前AI面临的时代挑战。接着，我们将展示Volvence为此提出的革命性答案。然后，我们会揭示支撑我们解决方案的核心技术壁垒。最后，将向大家介绍我们的世界级团队以及激动人心的未来蓝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现在，让我们进入第一章，共同探讨我们这个时代面临的核心问题：当前AI的局限性，以及我们对真正通用智能的迫切呼唤。</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当前AI的辉煌之下，隐藏着两大核心瓶颈。首先是“静态模型”与“动态世界”的矛盾，AI的知识永远跟不上现实的变化，就像这张过时的地图。其次，AI的智能是“伪智能”，它高度依赖人工，缺乏自主学习和决策的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要迈向真正的通用人工智能，我们必须跨越两大天堑。第一是“数据稀疏性的诅咒”，AI在数据稀缺的关键领域束手无策。第二是“泛化能力的瓶颈”，AI无法像人类一样触类旁通，知识被禁锢在特定任务中。突破这两大挑战，是实现AGI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面对这些挑战，Volvence给出了我们的答案。在第二章，我将向各位介绍我们如何构建一个能够自主进化的数字生命体系。</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愿景，是让机器真正掌握目标与经验。我们认为，AGI的关键不在于更大的模型，而在于更聪明的模型。Volvence的终极目标，就是打造一个能够自主进化的数字生命体系，它将成为连接当前工具AI和未来AGI的关键桥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我们的核心解决方案，就是Volvence持续主动学习模型。它的核心在于一个完整的自主认知闭环。从感知、决策、行动，到学习和经验沉淀，这个闭环使得模型能够像一个生命体一样，与环境持续交互，不断进化。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那么，是什么支撑起我们如此宏大的愿景呢？在第三章，我将为大家揭示Volvence的核心技术壁垒，看我们是如何攻克稀疏学习与泛化迁移这两大世界级难题的。</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我们的第一个技术壁垒，是稀疏数据学习能力。我们实现了从“海量投喂”到“一点即通”的跨越。这得益于首席科学家杨柳博士近20年的理论深耕，他的研究成果，如“Star Number”，已成为行业标准。这使得我们的模型在医疗、制造、航天等高价值领域具备了颠覆性的潜力。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第二个技术壁垒，是泛化抽象能力。我们的模型能够从经验中归纳知识，并将其迁移到全新的领域。这意味着模型具备了“通识能力”，能够快速适应新场景，极大地降低了部署成本和周期。这背后，是我们在迁移学习领域深厚的理论积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伟大的愿景需要伟大的团队来实现。在最后一部分，我将向大家介绍Volvence的基石——我们的世界级团队，以及我们为未来描绘的宏伟蓝图。</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团队是实现这一切的基石。CEO赵江波，确保我们的技术始终与市场需求结合；首席科学家杨柳，是我们技术壁垒的总设计师；研究院院长马志刚，保障了技术的工程化落地；CTO张驰，则推动了技术的规模化部署。这是一支科研、工程与商业完美结合的梦之队。</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展望未来，我们规划了清晰的蓝图。短期内，我们将深化技术并完成商业验证。中期，我们将跨领域扩张，并推动模型向“数字生命”演进。长期来看，我们的目标是构建AGI的基石，最终赋能人类，开启一个全新的文明时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女士们，先生们，Volvence所做的，不仅仅是开发一个新的AI模型。我们正在构建一个能够与我们共同成长、共同进化的智能伙伴。我们邀请您，与我们一起，跨越当前AI的‘静态’困境，共同开启一个充满无限可能的、持续学习的新纪元。谢谢大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2.xml"/><Relationship Id="rId2" Type="http://schemas.openxmlformats.org/officeDocument/2006/relationships/image" Target="../media/image3.jpe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2.xml"/><Relationship Id="rId5" Type="http://schemas.openxmlformats.org/officeDocument/2006/relationships/image" Target="../media/image7.svg"/><Relationship Id="rId4" Type="http://schemas.openxmlformats.org/officeDocument/2006/relationships/image" Target="../media/image6.png"/><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2.xml"/><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9" Type="http://schemas.openxmlformats.org/officeDocument/2006/relationships/image" Target="../media/image17.svg"/><Relationship Id="rId8" Type="http://schemas.openxmlformats.org/officeDocument/2006/relationships/image" Target="../media/image16.png"/><Relationship Id="rId7" Type="http://schemas.openxmlformats.org/officeDocument/2006/relationships/image" Target="../media/image15.svg"/><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image" Target="../media/image11.svg"/><Relationship Id="rId2" Type="http://schemas.openxmlformats.org/officeDocument/2006/relationships/image" Target="../media/image10.png"/><Relationship Id="rId13" Type="http://schemas.openxmlformats.org/officeDocument/2006/relationships/notesSlide" Target="../notesSlides/notesSlide9.xml"/><Relationship Id="rId12" Type="http://schemas.openxmlformats.org/officeDocument/2006/relationships/slideLayout" Target="../slideLayouts/slideLayout12.xml"/><Relationship Id="rId11" Type="http://schemas.openxmlformats.org/officeDocument/2006/relationships/image" Target="../media/image19.svg"/><Relationship Id="rId10" Type="http://schemas.openxmlformats.org/officeDocument/2006/relationships/image" Target="../media/image18.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12.xml"/><Relationship Id="rId7" Type="http://schemas.openxmlformats.org/officeDocument/2006/relationships/image" Target="../media/image24.svg"/><Relationship Id="rId6" Type="http://schemas.openxmlformats.org/officeDocument/2006/relationships/image" Target="../media/image23.png"/><Relationship Id="rId5" Type="http://schemas.openxmlformats.org/officeDocument/2006/relationships/image" Target="../media/image15.svg"/><Relationship Id="rId4" Type="http://schemas.openxmlformats.org/officeDocument/2006/relationships/image" Target="../media/image22.png"/><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slideLayout" Target="../slideLayouts/slideLayout12.xml"/><Relationship Id="rId5" Type="http://schemas.openxmlformats.org/officeDocument/2006/relationships/image" Target="../media/image27.svg"/><Relationship Id="rId4" Type="http://schemas.openxmlformats.org/officeDocument/2006/relationships/image" Target="../media/image26.png"/><Relationship Id="rId3" Type="http://schemas.openxmlformats.org/officeDocument/2006/relationships/image" Target="../media/image13.svg"/><Relationship Id="rId2" Type="http://schemas.openxmlformats.org/officeDocument/2006/relationships/image" Target="../media/image25.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12.xml"/><Relationship Id="rId7" Type="http://schemas.openxmlformats.org/officeDocument/2006/relationships/image" Target="../media/image32.svg"/><Relationship Id="rId6" Type="http://schemas.openxmlformats.org/officeDocument/2006/relationships/image" Target="../media/image31.png"/><Relationship Id="rId5" Type="http://schemas.openxmlformats.org/officeDocument/2006/relationships/image" Target="../media/image7.svg"/><Relationship Id="rId4" Type="http://schemas.openxmlformats.org/officeDocument/2006/relationships/image" Target="../media/image30.png"/><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3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28600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6000" b="1" i="0" u="none" strike="noStrike">
                <a:solidFill>
                  <a:srgbClr val="F0F0F0"/>
                </a:solidFill>
                <a:latin typeface="Noto Sans SC"/>
                <a:ea typeface="Noto Sans SC"/>
                <a:cs typeface="Noto Sans SC"/>
                <a:sym typeface="Noto Sans SC"/>
              </a:rPr>
              <a:t>Volvence</a:t>
            </a:r>
            <a:endParaRPr lang="en-US" sz="1100"/>
          </a:p>
        </p:txBody>
      </p:sp>
      <p:sp>
        <p:nvSpPr>
          <p:cNvPr id="4" name="AutoShape 4"/>
          <p:cNvSpPr/>
          <p:nvPr/>
        </p:nvSpPr>
        <p:spPr>
          <a:xfrm>
            <a:off x="0" y="3937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800" b="1" i="0" u="none" strike="noStrike">
                <a:solidFill>
                  <a:srgbClr val="00F0FF"/>
                </a:solidFill>
                <a:latin typeface="Noto Sans SC"/>
                <a:ea typeface="Noto Sans SC"/>
                <a:cs typeface="Noto Sans SC"/>
                <a:sym typeface="Noto Sans SC"/>
              </a:rPr>
              <a:t>开启通用人工智能新纪元</a:t>
            </a:r>
            <a:endParaRPr lang="en-US" sz="1100"/>
          </a:p>
        </p:txBody>
      </p:sp>
      <p:sp>
        <p:nvSpPr>
          <p:cNvPr id="5" name="AutoShape 5"/>
          <p:cNvSpPr/>
          <p:nvPr/>
        </p:nvSpPr>
        <p:spPr>
          <a:xfrm>
            <a:off x="0" y="4953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000" b="0" i="0" u="none" strike="noStrike">
                <a:solidFill>
                  <a:srgbClr val="D1D5DB">
                    <a:alpha val="85098"/>
                  </a:srgbClr>
                </a:solidFill>
                <a:latin typeface="Noto Sans SC"/>
                <a:ea typeface="Noto Sans SC"/>
                <a:cs typeface="Noto Sans SC"/>
                <a:sym typeface="Noto Sans SC"/>
              </a:rPr>
              <a:t>持续主动学习的范式革命</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cap="flat" cmpd="sng">
            <a:solidFill>
              <a:srgbClr val="000000">
                <a:alpha val="8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F0FF"/>
                </a:solidFill>
                <a:latin typeface="Noto Sans SC"/>
                <a:ea typeface="Noto Sans SC"/>
                <a:cs typeface="Noto Sans SC"/>
                <a:sym typeface="Noto Sans SC"/>
              </a:rPr>
              <a:t>时代之问</a:t>
            </a:r>
            <a:endParaRPr lang="en-US" sz="1100"/>
          </a:p>
        </p:txBody>
      </p:sp>
      <p:sp>
        <p:nvSpPr>
          <p:cNvPr id="4" name="AutoShape 4"/>
          <p:cNvSpPr/>
          <p:nvPr/>
        </p:nvSpPr>
        <p:spPr>
          <a:xfrm>
            <a:off x="762000" y="1778000"/>
            <a:ext cx="10668000" cy="1206500"/>
          </a:xfrm>
          <a:prstGeom prst="roundRect">
            <a:avLst>
              <a:gd name="adj" fmla="val 0"/>
            </a:avLst>
          </a:prstGeom>
          <a:solidFill>
            <a:srgbClr val="00F0FF">
              <a:alpha val="8000"/>
            </a:srgbClr>
          </a:solidFill>
          <a:ln w="12700" cap="flat" cmpd="sng">
            <a:solidFill>
              <a:srgbClr val="00F0FF">
                <a:alpha val="2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20066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2000" b="1" i="0" u="none" strike="noStrike">
                <a:solidFill>
                  <a:srgbClr val="F5F5F5"/>
                </a:solidFill>
                <a:latin typeface="Noto Sans SC"/>
                <a:ea typeface="Noto Sans SC"/>
                <a:cs typeface="Noto Sans SC"/>
                <a:sym typeface="Noto Sans SC"/>
              </a:rPr>
              <a:t>“我们创造了强大的‘手’和‘脚’，但尚未赋予其真正的‘大脑’。”</a:t>
            </a:r>
            <a:endParaRPr lang="en-US" sz="1100"/>
          </a:p>
        </p:txBody>
      </p:sp>
      <p:sp>
        <p:nvSpPr>
          <p:cNvPr id="6" name="AutoShape 6"/>
          <p:cNvSpPr/>
          <p:nvPr/>
        </p:nvSpPr>
        <p:spPr>
          <a:xfrm>
            <a:off x="762000" y="3302000"/>
            <a:ext cx="5207000" cy="1841500"/>
          </a:xfrm>
          <a:prstGeom prst="roundRect">
            <a:avLst>
              <a:gd name="adj" fmla="val 0"/>
            </a:avLst>
          </a:prstGeom>
          <a:solidFill>
            <a:srgbClr val="FFFFFF">
              <a:alpha val="3000"/>
            </a:srgbClr>
          </a:solidFill>
          <a:ln cap="flat" cmpd="sng">
            <a:solidFill>
              <a:srgbClr val="E6CFCF">
                <a:alpha val="3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762000" y="3454400"/>
            <a:ext cx="38100" cy="304800"/>
          </a:xfrm>
          <a:prstGeom prst="roundRect">
            <a:avLst>
              <a:gd name="adj" fmla="val 0"/>
            </a:avLst>
          </a:prstGeom>
          <a:solidFill>
            <a:srgbClr val="00F0FF">
              <a:alpha val="6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952500" y="3429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0FF"/>
                </a:solidFill>
                <a:latin typeface="Noto Sans SC"/>
                <a:ea typeface="Noto Sans SC"/>
                <a:cs typeface="Noto Sans SC"/>
                <a:sym typeface="Noto Sans SC"/>
              </a:rPr>
              <a:t>静态的“巨人”：滞后于现实</a:t>
            </a:r>
            <a:endParaRPr lang="en-US" sz="1100"/>
          </a:p>
        </p:txBody>
      </p:sp>
      <p:sp>
        <p:nvSpPr>
          <p:cNvPr id="9" name="AutoShape 9"/>
          <p:cNvSpPr/>
          <p:nvPr/>
        </p:nvSpPr>
        <p:spPr>
          <a:xfrm>
            <a:off x="952500" y="3937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DCDCDC">
                    <a:alpha val="85098"/>
                  </a:srgbClr>
                </a:solidFill>
                <a:latin typeface="Noto Sans SC"/>
                <a:ea typeface="Noto Sans SC"/>
                <a:cs typeface="Noto Sans SC"/>
                <a:sym typeface="Noto Sans SC"/>
              </a:rPr>
              <a:t>当前AI的更新周期以“月”甚至“年”为单位，这使其永远慢于瞬息万变的世界。在新趋势、新挑战层出不穷的当下，这种</a:t>
            </a:r>
            <a:r>
              <a:rPr lang="en-US" sz="1400" b="1" i="0" u="none" strike="noStrike">
                <a:solidFill>
                  <a:srgbClr val="00F0FF"/>
                </a:solidFill>
                <a:latin typeface="Noto Sans SC"/>
                <a:ea typeface="Noto Sans SC"/>
                <a:cs typeface="Noto Sans SC"/>
                <a:sym typeface="Noto Sans SC"/>
              </a:rPr>
              <a:t>“静态性”</a:t>
            </a:r>
            <a:r>
              <a:rPr lang="en-US" sz="1400" b="0" i="0" u="none" strike="noStrike">
                <a:solidFill>
                  <a:srgbClr val="DCDCDC">
                    <a:alpha val="85098"/>
                  </a:srgbClr>
                </a:solidFill>
                <a:latin typeface="Noto Sans SC"/>
                <a:ea typeface="Noto Sans SC"/>
                <a:cs typeface="Noto Sans SC"/>
                <a:sym typeface="Noto Sans SC"/>
              </a:rPr>
              <a:t>成为致命缺陷，无法真正应对动态的现实需求。</a:t>
            </a:r>
            <a:endParaRPr lang="en-US" sz="1100"/>
          </a:p>
        </p:txBody>
      </p:sp>
      <p:sp>
        <p:nvSpPr>
          <p:cNvPr id="10" name="AutoShape 10"/>
          <p:cNvSpPr/>
          <p:nvPr/>
        </p:nvSpPr>
        <p:spPr>
          <a:xfrm>
            <a:off x="6223000" y="3302000"/>
            <a:ext cx="5207000" cy="1841500"/>
          </a:xfrm>
          <a:prstGeom prst="roundRect">
            <a:avLst>
              <a:gd name="adj" fmla="val 0"/>
            </a:avLst>
          </a:prstGeom>
          <a:solidFill>
            <a:srgbClr val="FFFFFF">
              <a:alpha val="3000"/>
            </a:srgbClr>
          </a:solidFill>
          <a:ln cap="flat" cmpd="sng">
            <a:solidFill>
              <a:srgbClr val="E6CFCF">
                <a:alpha val="3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223000" y="3454400"/>
            <a:ext cx="38100" cy="304800"/>
          </a:xfrm>
          <a:prstGeom prst="roundRect">
            <a:avLst>
              <a:gd name="adj" fmla="val 0"/>
            </a:avLst>
          </a:prstGeom>
          <a:solidFill>
            <a:srgbClr val="00F0FF">
              <a:alpha val="6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413500" y="34290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0FF"/>
                </a:solidFill>
                <a:latin typeface="Noto Sans SC"/>
                <a:ea typeface="Noto Sans SC"/>
                <a:cs typeface="Noto Sans SC"/>
                <a:sym typeface="Noto Sans SC"/>
              </a:rPr>
              <a:t>进化的“大脑”：从大到智</a:t>
            </a:r>
            <a:endParaRPr lang="en-US" sz="1100"/>
          </a:p>
        </p:txBody>
      </p:sp>
      <p:sp>
        <p:nvSpPr>
          <p:cNvPr id="13" name="AutoShape 13"/>
          <p:cNvSpPr/>
          <p:nvPr/>
        </p:nvSpPr>
        <p:spPr>
          <a:xfrm>
            <a:off x="6413500" y="3937000"/>
            <a:ext cx="4826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DCDCDC">
                    <a:alpha val="85098"/>
                  </a:srgbClr>
                </a:solidFill>
                <a:latin typeface="Noto Sans SC"/>
                <a:ea typeface="Noto Sans SC"/>
                <a:cs typeface="Noto Sans SC"/>
                <a:sym typeface="Noto Sans SC"/>
              </a:rPr>
              <a:t>算力的堆砌不再是核心，关键在于赋予模型</a:t>
            </a:r>
            <a:r>
              <a:rPr lang="en-US" sz="1400" b="1" i="0" u="none" strike="noStrike">
                <a:solidFill>
                  <a:srgbClr val="00F0FF"/>
                </a:solidFill>
                <a:latin typeface="Noto Sans SC"/>
                <a:ea typeface="Noto Sans SC"/>
                <a:cs typeface="Noto Sans SC"/>
                <a:sym typeface="Noto Sans SC"/>
              </a:rPr>
              <a:t>持续学习与适应</a:t>
            </a:r>
            <a:r>
              <a:rPr lang="en-US" sz="1400" b="0" i="0" u="none" strike="noStrike">
                <a:solidFill>
                  <a:srgbClr val="DCDCDC">
                    <a:alpha val="85098"/>
                  </a:srgbClr>
                </a:solidFill>
                <a:latin typeface="Noto Sans SC"/>
                <a:ea typeface="Noto Sans SC"/>
                <a:cs typeface="Noto Sans SC"/>
                <a:sym typeface="Noto Sans SC"/>
              </a:rPr>
              <a:t>的能力。我们需要的智能体，不应只停留在“记忆数据”的阶段，而要能理解变化逻辑，真正拥有感知和进化的“大脑”。</a:t>
            </a:r>
            <a:endParaRPr lang="en-US" sz="1100"/>
          </a:p>
        </p:txBody>
      </p:sp>
      <p:sp>
        <p:nvSpPr>
          <p:cNvPr id="14" name="AutoShape 14"/>
          <p:cNvSpPr/>
          <p:nvPr/>
        </p:nvSpPr>
        <p:spPr>
          <a:xfrm>
            <a:off x="762000" y="5461000"/>
            <a:ext cx="10668000" cy="762000"/>
          </a:xfrm>
          <a:prstGeom prst="roundRect">
            <a:avLst>
              <a:gd name="adj" fmla="val 0"/>
            </a:avLst>
          </a:prstGeom>
          <a:solidFill>
            <a:srgbClr val="00F0FF">
              <a:alpha val="5000"/>
            </a:srgbClr>
          </a:solidFill>
          <a:ln w="12700" cap="flat" cmpd="sng">
            <a:solidFill>
              <a:srgbClr val="00F0FF">
                <a:alpha val="15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1016000" y="5626100"/>
            <a:ext cx="1041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100" b="1" i="0" u="none" strike="noStrike">
                <a:solidFill>
                  <a:srgbClr val="00F0FF"/>
                </a:solidFill>
                <a:latin typeface="Noto Sans SC"/>
                <a:ea typeface="Noto Sans SC"/>
                <a:cs typeface="Noto Sans SC"/>
                <a:sym typeface="Noto Sans SC"/>
              </a:rPr>
              <a:t>我们需要的不是更大的模型，而是更聪明的模型。</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F0FF"/>
                </a:solidFill>
                <a:latin typeface="Noto Sans SC"/>
                <a:ea typeface="Noto Sans SC"/>
                <a:cs typeface="Noto Sans SC"/>
                <a:sym typeface="Noto Sans SC"/>
              </a:rPr>
              <a:t>目录 CONTENTS</a:t>
            </a:r>
            <a:endParaRPr lang="en-US" sz="1100"/>
          </a:p>
        </p:txBody>
      </p:sp>
      <p:sp>
        <p:nvSpPr>
          <p:cNvPr id="4" name="AutoShape 4"/>
          <p:cNvSpPr/>
          <p:nvPr/>
        </p:nvSpPr>
        <p:spPr>
          <a:xfrm>
            <a:off x="762000" y="2032000"/>
            <a:ext cx="5207000" cy="1778000"/>
          </a:xfrm>
          <a:prstGeom prst="roundRect">
            <a:avLst>
              <a:gd name="adj" fmla="val 0"/>
            </a:avLst>
          </a:prstGeom>
          <a:solidFill>
            <a:srgbClr val="00F0FF">
              <a:alpha val="8000"/>
            </a:srgbClr>
          </a:solidFill>
          <a:ln w="12700" cap="flat" cmpd="sng">
            <a:solidFill>
              <a:srgbClr val="00F0FF">
                <a:alpha val="2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22860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F0FF"/>
                </a:solidFill>
                <a:latin typeface="Noto Sans SC"/>
                <a:ea typeface="Noto Sans SC"/>
                <a:cs typeface="Noto Sans SC"/>
                <a:sym typeface="Noto Sans SC"/>
              </a:rPr>
              <a:t>01</a:t>
            </a:r>
            <a:endParaRPr lang="en-US" sz="1100"/>
          </a:p>
        </p:txBody>
      </p:sp>
      <p:sp>
        <p:nvSpPr>
          <p:cNvPr id="6" name="AutoShape 6"/>
          <p:cNvSpPr/>
          <p:nvPr/>
        </p:nvSpPr>
        <p:spPr>
          <a:xfrm>
            <a:off x="1905000" y="23114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时代之问</a:t>
            </a:r>
            <a:endParaRPr lang="en-US" sz="1100"/>
          </a:p>
        </p:txBody>
      </p:sp>
      <p:sp>
        <p:nvSpPr>
          <p:cNvPr id="7" name="AutoShape 7"/>
          <p:cNvSpPr/>
          <p:nvPr/>
        </p:nvSpPr>
        <p:spPr>
          <a:xfrm>
            <a:off x="1016000" y="29845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5E7EB">
                    <a:alpha val="70196"/>
                  </a:srgbClr>
                </a:solidFill>
                <a:latin typeface="Noto Sans SC"/>
                <a:ea typeface="Noto Sans SC"/>
                <a:cs typeface="Noto Sans SC"/>
                <a:sym typeface="Noto Sans SC"/>
              </a:rPr>
              <a:t>当前AI的“静态”困境与通用智能的呼唤，探讨人工智能从专用模型向通用智能演进的核心挑战与时代命题。</a:t>
            </a:r>
            <a:endParaRPr lang="en-US" sz="1100"/>
          </a:p>
        </p:txBody>
      </p:sp>
      <p:sp>
        <p:nvSpPr>
          <p:cNvPr id="8" name="AutoShape 8"/>
          <p:cNvSpPr/>
          <p:nvPr/>
        </p:nvSpPr>
        <p:spPr>
          <a:xfrm>
            <a:off x="6223000" y="2032000"/>
            <a:ext cx="5207000" cy="1778000"/>
          </a:xfrm>
          <a:prstGeom prst="roundRect">
            <a:avLst>
              <a:gd name="adj" fmla="val 0"/>
            </a:avLst>
          </a:prstGeom>
          <a:solidFill>
            <a:srgbClr val="00F0FF">
              <a:alpha val="8000"/>
            </a:srgbClr>
          </a:solidFill>
          <a:ln w="12700" cap="flat" cmpd="sng">
            <a:solidFill>
              <a:srgbClr val="00F0FF">
                <a:alpha val="25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477000" y="22860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F0FF"/>
                </a:solidFill>
                <a:latin typeface="Noto Sans SC"/>
                <a:ea typeface="Noto Sans SC"/>
                <a:cs typeface="Noto Sans SC"/>
                <a:sym typeface="Noto Sans SC"/>
              </a:rPr>
              <a:t>02</a:t>
            </a:r>
            <a:endParaRPr lang="en-US" sz="1100"/>
          </a:p>
        </p:txBody>
      </p:sp>
      <p:sp>
        <p:nvSpPr>
          <p:cNvPr id="10" name="AutoShape 10"/>
          <p:cNvSpPr/>
          <p:nvPr/>
        </p:nvSpPr>
        <p:spPr>
          <a:xfrm>
            <a:off x="7366000" y="23114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Volvence的答案</a:t>
            </a:r>
            <a:endParaRPr lang="en-US" sz="1100"/>
          </a:p>
        </p:txBody>
      </p:sp>
      <p:sp>
        <p:nvSpPr>
          <p:cNvPr id="11" name="AutoShape 11"/>
          <p:cNvSpPr/>
          <p:nvPr/>
        </p:nvSpPr>
        <p:spPr>
          <a:xfrm>
            <a:off x="6477000" y="29845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5E7EB">
                    <a:alpha val="70196"/>
                  </a:srgbClr>
                </a:solidFill>
                <a:latin typeface="Noto Sans SC"/>
                <a:ea typeface="Noto Sans SC"/>
                <a:cs typeface="Noto Sans SC"/>
                <a:sym typeface="Noto Sans SC"/>
              </a:rPr>
              <a:t>构建自主进化的数字生命体系，以动态生长的智能架构打破传统模型的局限性，实现从被动响应到主动进化的跨越。</a:t>
            </a:r>
            <a:endParaRPr lang="en-US" sz="1100"/>
          </a:p>
        </p:txBody>
      </p:sp>
      <p:sp>
        <p:nvSpPr>
          <p:cNvPr id="12" name="AutoShape 12"/>
          <p:cNvSpPr/>
          <p:nvPr/>
        </p:nvSpPr>
        <p:spPr>
          <a:xfrm>
            <a:off x="762000" y="4191000"/>
            <a:ext cx="5207000" cy="1778000"/>
          </a:xfrm>
          <a:prstGeom prst="roundRect">
            <a:avLst>
              <a:gd name="adj" fmla="val 0"/>
            </a:avLst>
          </a:prstGeom>
          <a:solidFill>
            <a:srgbClr val="00F0FF">
              <a:alpha val="8000"/>
            </a:srgbClr>
          </a:solidFill>
          <a:ln w="12700" cap="flat" cmpd="sng">
            <a:solidFill>
              <a:srgbClr val="00F0FF">
                <a:alpha val="25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1016000" y="44450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F0FF"/>
                </a:solidFill>
                <a:latin typeface="Noto Sans SC"/>
                <a:ea typeface="Noto Sans SC"/>
                <a:cs typeface="Noto Sans SC"/>
                <a:sym typeface="Noto Sans SC"/>
              </a:rPr>
              <a:t>03</a:t>
            </a:r>
            <a:endParaRPr lang="en-US" sz="1100"/>
          </a:p>
        </p:txBody>
      </p:sp>
      <p:sp>
        <p:nvSpPr>
          <p:cNvPr id="14" name="AutoShape 14"/>
          <p:cNvSpPr/>
          <p:nvPr/>
        </p:nvSpPr>
        <p:spPr>
          <a:xfrm>
            <a:off x="1905000" y="44704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核心技术壁垒</a:t>
            </a:r>
            <a:endParaRPr lang="en-US" sz="1100"/>
          </a:p>
        </p:txBody>
      </p:sp>
      <p:sp>
        <p:nvSpPr>
          <p:cNvPr id="15" name="AutoShape 15"/>
          <p:cNvSpPr/>
          <p:nvPr/>
        </p:nvSpPr>
        <p:spPr>
          <a:xfrm>
            <a:off x="1016000" y="51435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5E7EB">
                    <a:alpha val="70196"/>
                  </a:srgbClr>
                </a:solidFill>
                <a:latin typeface="Noto Sans SC"/>
                <a:ea typeface="Noto Sans SC"/>
                <a:cs typeface="Noto Sans SC"/>
                <a:sym typeface="Noto Sans SC"/>
              </a:rPr>
              <a:t>攻克稀疏学习与泛化迁移的世界级难题，以独创的算法架构实现极低数据依赖下的高效智能涌现与跨域适应能力。</a:t>
            </a:r>
            <a:endParaRPr lang="en-US" sz="1100"/>
          </a:p>
        </p:txBody>
      </p:sp>
      <p:sp>
        <p:nvSpPr>
          <p:cNvPr id="16" name="AutoShape 16"/>
          <p:cNvSpPr/>
          <p:nvPr/>
        </p:nvSpPr>
        <p:spPr>
          <a:xfrm>
            <a:off x="6223000" y="4191000"/>
            <a:ext cx="5207000" cy="1778000"/>
          </a:xfrm>
          <a:prstGeom prst="roundRect">
            <a:avLst>
              <a:gd name="adj" fmla="val 0"/>
            </a:avLst>
          </a:prstGeom>
          <a:solidFill>
            <a:srgbClr val="00F0FF">
              <a:alpha val="8000"/>
            </a:srgbClr>
          </a:solidFill>
          <a:ln w="12700" cap="flat" cmpd="sng">
            <a:solidFill>
              <a:srgbClr val="00F0FF">
                <a:alpha val="25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477000" y="4445000"/>
            <a:ext cx="76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800" b="1" i="0" u="none" strike="noStrike">
                <a:solidFill>
                  <a:srgbClr val="00F0FF"/>
                </a:solidFill>
                <a:latin typeface="Noto Sans SC"/>
                <a:ea typeface="Noto Sans SC"/>
                <a:cs typeface="Noto Sans SC"/>
                <a:sym typeface="Noto Sans SC"/>
              </a:rPr>
              <a:t>04</a:t>
            </a:r>
            <a:endParaRPr lang="en-US" sz="1100"/>
          </a:p>
        </p:txBody>
      </p:sp>
      <p:sp>
        <p:nvSpPr>
          <p:cNvPr id="18" name="AutoShape 18"/>
          <p:cNvSpPr/>
          <p:nvPr/>
        </p:nvSpPr>
        <p:spPr>
          <a:xfrm>
            <a:off x="7366000" y="4470400"/>
            <a:ext cx="393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a:ea typeface="Noto Sans SC"/>
                <a:cs typeface="Noto Sans SC"/>
                <a:sym typeface="Noto Sans SC"/>
              </a:rPr>
              <a:t>世界级团队与未来蓝图</a:t>
            </a:r>
            <a:endParaRPr lang="en-US" sz="1100"/>
          </a:p>
        </p:txBody>
      </p:sp>
      <p:sp>
        <p:nvSpPr>
          <p:cNvPr id="19" name="AutoShape 19"/>
          <p:cNvSpPr/>
          <p:nvPr/>
        </p:nvSpPr>
        <p:spPr>
          <a:xfrm>
            <a:off x="6477000" y="5143500"/>
            <a:ext cx="4699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5E7EB">
                    <a:alpha val="70196"/>
                  </a:srgbClr>
                </a:solidFill>
                <a:latin typeface="Noto Sans SC"/>
                <a:ea typeface="Noto Sans SC"/>
                <a:cs typeface="Noto Sans SC"/>
                <a:sym typeface="Noto Sans SC"/>
              </a:rPr>
              <a:t>汇聚全球顶尖的AI科学家与工程团队，以长期主义的视角绘制AGI发展路线图，共创通用人工智能的未来图景。</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cap="flat" cmpd="sng">
            <a:solidFill>
              <a:srgbClr val="000000">
                <a:alpha val="8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0" y="1651000"/>
            <a:ext cx="12192000" cy="177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00F0FF"/>
                </a:solidFill>
                <a:latin typeface="Noto Sans SC"/>
                <a:ea typeface="Noto Sans SC"/>
                <a:cs typeface="Noto Sans SC"/>
                <a:sym typeface="Noto Sans SC"/>
              </a:rPr>
              <a:t>01</a:t>
            </a:r>
            <a:endParaRPr lang="en-US" sz="1100"/>
          </a:p>
        </p:txBody>
      </p:sp>
      <p:sp>
        <p:nvSpPr>
          <p:cNvPr id="4" name="AutoShape 4"/>
          <p:cNvSpPr/>
          <p:nvPr/>
        </p:nvSpPr>
        <p:spPr>
          <a:xfrm>
            <a:off x="0" y="3556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0F0F0"/>
                </a:solidFill>
                <a:latin typeface="Noto Sans SC"/>
                <a:ea typeface="Noto Sans SC"/>
                <a:cs typeface="Noto Sans SC"/>
                <a:sym typeface="Noto Sans SC"/>
              </a:rPr>
              <a:t>时代之问</a:t>
            </a:r>
            <a:endParaRPr lang="en-US" sz="1100"/>
          </a:p>
        </p:txBody>
      </p:sp>
      <p:sp>
        <p:nvSpPr>
          <p:cNvPr id="5" name="AutoShape 5"/>
          <p:cNvSpPr/>
          <p:nvPr/>
        </p:nvSpPr>
        <p:spPr>
          <a:xfrm>
            <a:off x="5334000" y="4826000"/>
            <a:ext cx="1524000" cy="50800"/>
          </a:xfrm>
          <a:prstGeom prst="roundRect">
            <a:avLst>
              <a:gd name="adj" fmla="val 0"/>
            </a:avLst>
          </a:prstGeom>
          <a:solidFill>
            <a:srgbClr val="00F0FF">
              <a:alpha val="100000"/>
            </a:srgbClr>
          </a:solidFill>
          <a:ln cap="flat" cmpd="sng">
            <a:solidFill>
              <a:srgbClr val="00D8E6">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0" y="5207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spc="200">
                <a:solidFill>
                  <a:srgbClr val="F0F0F0">
                    <a:alpha val="60000"/>
                  </a:srgbClr>
                </a:solidFill>
                <a:latin typeface="Noto Sans SC"/>
                <a:ea typeface="Noto Sans SC"/>
                <a:cs typeface="Noto Sans SC"/>
                <a:sym typeface="Noto Sans SC"/>
              </a:rPr>
              <a:t>当前AI的“静态”困境与通用智能的呼唤</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F0FF"/>
                </a:solidFill>
                <a:latin typeface="Noto Sans SC"/>
                <a:ea typeface="Noto Sans SC"/>
                <a:cs typeface="Noto Sans SC"/>
                <a:sym typeface="Noto Sans SC"/>
              </a:rPr>
              <a:t>辉煌下的阴影：当前大模型的核心瓶颈</a:t>
            </a:r>
            <a:endParaRPr lang="en-US" sz="1100"/>
          </a:p>
        </p:txBody>
      </p:sp>
      <p:pic>
        <p:nvPicPr>
          <p:cNvPr id="4" name="Picture 4"/>
          <p:cNvPicPr>
            <a:picLocks noChangeAspect="1"/>
          </p:cNvPicPr>
          <p:nvPr/>
        </p:nvPicPr>
        <p:blipFill>
          <a:blip r:embed="rId2"/>
          <a:srcRect/>
          <a:stretch>
            <a:fillRect/>
          </a:stretch>
        </p:blipFill>
        <p:spPr>
          <a:xfrm>
            <a:off x="762000" y="2032000"/>
            <a:ext cx="3302000" cy="3302000"/>
          </a:xfrm>
          <a:prstGeom prst="rect">
            <a:avLst/>
          </a:prstGeom>
          <a:noFill/>
          <a:ln w="25400" cap="flat" cmpd="sng">
            <a:solidFill>
              <a:srgbClr val="00F0FF">
                <a:alpha val="30000"/>
              </a:srgbClr>
            </a:solidFill>
            <a:prstDash val="solid"/>
            <a:round/>
          </a:ln>
        </p:spPr>
      </p:pic>
      <p:sp>
        <p:nvSpPr>
          <p:cNvPr id="5" name="AutoShape 5"/>
          <p:cNvSpPr/>
          <p:nvPr/>
        </p:nvSpPr>
        <p:spPr>
          <a:xfrm>
            <a:off x="762000" y="5461000"/>
            <a:ext cx="330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400" b="0" i="0" u="none" strike="noStrike">
                <a:solidFill>
                  <a:srgbClr val="FFFFFF">
                    <a:alpha val="70196"/>
                  </a:srgbClr>
                </a:solidFill>
                <a:latin typeface="Noto Sans SC"/>
                <a:ea typeface="Noto Sans SC"/>
                <a:cs typeface="Noto Sans SC"/>
                <a:sym typeface="Noto Sans SC"/>
              </a:rPr>
              <a:t>“AI如同一张过时的地图，</a:t>
            </a:r>
            <a:br>
              <a:rPr lang="en-US" sz="1400" b="0" i="0" u="none" strike="noStrike">
                <a:solidFill>
                  <a:srgbClr val="FFFFFF">
                    <a:alpha val="70196"/>
                  </a:srgbClr>
                </a:solidFill>
                <a:latin typeface="Noto Sans SC"/>
                <a:ea typeface="Noto Sans SC"/>
                <a:cs typeface="Noto Sans SC"/>
                <a:sym typeface="Noto Sans SC"/>
              </a:rPr>
            </a:br>
            <a:r>
              <a:rPr lang="en-US" sz="1400" b="0" i="0" u="none" strike="noStrike">
                <a:solidFill>
                  <a:srgbClr val="FFFFFF">
                    <a:alpha val="70196"/>
                  </a:srgbClr>
                </a:solidFill>
                <a:latin typeface="Noto Sans SC"/>
                <a:ea typeface="Noto Sans SC"/>
                <a:cs typeface="Noto Sans SC"/>
                <a:sym typeface="Noto Sans SC"/>
              </a:rPr>
              <a:t>永远无法标注刚刚修好的道路。”</a:t>
            </a:r>
            <a:endParaRPr lang="en-US" sz="1100"/>
          </a:p>
        </p:txBody>
      </p:sp>
      <p:sp>
        <p:nvSpPr>
          <p:cNvPr id="6" name="AutoShape 6"/>
          <p:cNvSpPr/>
          <p:nvPr/>
        </p:nvSpPr>
        <p:spPr>
          <a:xfrm>
            <a:off x="4572000" y="2032000"/>
            <a:ext cx="6858000" cy="1968500"/>
          </a:xfrm>
          <a:prstGeom prst="roundRect">
            <a:avLst>
              <a:gd name="adj" fmla="val 0"/>
            </a:avLst>
          </a:prstGeom>
          <a:solidFill>
            <a:srgbClr val="00F0FF">
              <a:alpha val="8000"/>
            </a:srgbClr>
          </a:solidFill>
          <a:ln w="12700" cap="flat" cmpd="sng">
            <a:solidFill>
              <a:srgbClr val="00F0FF">
                <a:alpha val="25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4762500" y="2222500"/>
            <a:ext cx="647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F0FF"/>
                </a:solidFill>
                <a:latin typeface="Noto Sans SC"/>
                <a:ea typeface="Noto Sans SC"/>
                <a:cs typeface="Noto Sans SC"/>
                <a:sym typeface="Noto Sans SC"/>
              </a:rPr>
              <a:t>01. 静态模型 vs. 动态世界</a:t>
            </a:r>
            <a:endParaRPr lang="en-US" sz="1100"/>
          </a:p>
        </p:txBody>
      </p:sp>
      <p:sp>
        <p:nvSpPr>
          <p:cNvPr id="8" name="AutoShape 8"/>
          <p:cNvSpPr/>
          <p:nvPr/>
        </p:nvSpPr>
        <p:spPr>
          <a:xfrm>
            <a:off x="4762500" y="2730500"/>
            <a:ext cx="6477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85098"/>
                  </a:srgbClr>
                </a:solidFill>
                <a:latin typeface="Noto Sans SC"/>
                <a:ea typeface="Noto Sans SC"/>
                <a:cs typeface="Noto Sans SC"/>
                <a:sym typeface="Noto Sans SC"/>
              </a:rPr>
              <a:t>主流大模型本质是“离线预训练”的产物，知识更新周期以“月”甚至“年”为单位，永远滞后于现实世界的变化。它像一本不再修订的旧字典，无法捕捉即时的信息与新出现的事物，难以应对瞬息万变的真实场景。</a:t>
            </a:r>
            <a:endParaRPr lang="en-US" sz="1100"/>
          </a:p>
        </p:txBody>
      </p:sp>
      <p:sp>
        <p:nvSpPr>
          <p:cNvPr id="9" name="AutoShape 9"/>
          <p:cNvSpPr/>
          <p:nvPr/>
        </p:nvSpPr>
        <p:spPr>
          <a:xfrm>
            <a:off x="4572000" y="4254500"/>
            <a:ext cx="6858000" cy="1968500"/>
          </a:xfrm>
          <a:prstGeom prst="roundRect">
            <a:avLst>
              <a:gd name="adj" fmla="val 0"/>
            </a:avLst>
          </a:prstGeom>
          <a:solidFill>
            <a:srgbClr val="00F0FF">
              <a:alpha val="8000"/>
            </a:srgbClr>
          </a:solidFill>
          <a:ln w="12700" cap="flat" cmpd="sng">
            <a:solidFill>
              <a:srgbClr val="00F0FF">
                <a:alpha val="25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762500" y="4445000"/>
            <a:ext cx="647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F0FF"/>
                </a:solidFill>
                <a:latin typeface="Noto Sans SC"/>
                <a:ea typeface="Noto Sans SC"/>
                <a:cs typeface="Noto Sans SC"/>
                <a:sym typeface="Noto Sans SC"/>
              </a:rPr>
              <a:t>02. 人工驱动的“伪智能”</a:t>
            </a:r>
            <a:endParaRPr lang="en-US" sz="1100"/>
          </a:p>
        </p:txBody>
      </p:sp>
      <p:sp>
        <p:nvSpPr>
          <p:cNvPr id="11" name="AutoShape 11"/>
          <p:cNvSpPr/>
          <p:nvPr/>
        </p:nvSpPr>
        <p:spPr>
          <a:xfrm>
            <a:off x="4762500" y="4953000"/>
            <a:ext cx="6477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FFFFFF">
                    <a:alpha val="85098"/>
                  </a:srgbClr>
                </a:solidFill>
                <a:latin typeface="Noto Sans SC"/>
                <a:ea typeface="Noto Sans SC"/>
                <a:cs typeface="Noto Sans SC"/>
                <a:sym typeface="Noto Sans SC"/>
              </a:rPr>
              <a:t>当前AI的“智能”高度依赖人类构建的庞大生态系统，从数据标注、模型训练到应用部署，每个环节都需要海量人工干预。它并非具备自主意识的独立智能体，而更像是被人类深度操控、放大了的强大工具。</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F0FF"/>
                </a:solidFill>
                <a:latin typeface="Noto Sans SC"/>
                <a:ea typeface="Noto Sans SC"/>
                <a:cs typeface="Noto Sans SC"/>
                <a:sym typeface="Noto Sans SC"/>
              </a:rPr>
              <a:t>通往通用人工智能（AGI）的两大天堑</a:t>
            </a:r>
            <a:endParaRPr lang="en-US" sz="1100"/>
          </a:p>
        </p:txBody>
      </p:sp>
      <p:sp>
        <p:nvSpPr>
          <p:cNvPr id="4" name="AutoShape 4"/>
          <p:cNvSpPr/>
          <p:nvPr/>
        </p:nvSpPr>
        <p:spPr>
          <a:xfrm>
            <a:off x="762000" y="2032000"/>
            <a:ext cx="5207000" cy="3429000"/>
          </a:xfrm>
          <a:prstGeom prst="roundRect">
            <a:avLst>
              <a:gd name="adj" fmla="val 0"/>
            </a:avLst>
          </a:prstGeom>
          <a:solidFill>
            <a:srgbClr val="00F0FF">
              <a:alpha val="5000"/>
            </a:srgbClr>
          </a:solidFill>
          <a:ln w="12700" cap="flat" cmpd="sng">
            <a:solidFill>
              <a:srgbClr val="00F0FF">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86000"/>
            <a:ext cx="355600" cy="355600"/>
          </a:xfrm>
          <a:prstGeom prst="rect">
            <a:avLst/>
          </a:prstGeom>
        </p:spPr>
      </p:pic>
      <p:sp>
        <p:nvSpPr>
          <p:cNvPr id="6" name="AutoShape 6"/>
          <p:cNvSpPr/>
          <p:nvPr/>
        </p:nvSpPr>
        <p:spPr>
          <a:xfrm>
            <a:off x="1460500" y="2260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F0FF"/>
                </a:solidFill>
                <a:latin typeface="Noto Sans SC"/>
                <a:ea typeface="Noto Sans SC"/>
                <a:cs typeface="Noto Sans SC"/>
                <a:sym typeface="Noto Sans SC"/>
              </a:rPr>
              <a:t>01 / 数据稀疏性的诅咒</a:t>
            </a:r>
            <a:endParaRPr lang="en-US" sz="1100"/>
          </a:p>
        </p:txBody>
      </p:sp>
      <p:sp>
        <p:nvSpPr>
          <p:cNvPr id="7" name="AutoShape 7"/>
          <p:cNvSpPr/>
          <p:nvPr/>
        </p:nvSpPr>
        <p:spPr>
          <a:xfrm>
            <a:off x="1016000" y="2768600"/>
            <a:ext cx="4699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50196"/>
                  </a:srgbClr>
                </a:solidFill>
                <a:latin typeface="Noto Sans SC"/>
                <a:ea typeface="Noto Sans SC"/>
                <a:cs typeface="Noto Sans SC"/>
                <a:sym typeface="Noto Sans SC"/>
              </a:rPr>
              <a:t>The Curse of Sparse Data</a:t>
            </a:r>
            <a:endParaRPr lang="en-US" sz="1100"/>
          </a:p>
        </p:txBody>
      </p:sp>
      <p:cxnSp>
        <p:nvCxnSpPr>
          <p:cNvPr id="8" name="Connector 8"/>
          <p:cNvCxnSpPr/>
          <p:nvPr/>
        </p:nvCxnSpPr>
        <p:spPr>
          <a:xfrm rot="-9291">
            <a:off x="1016009" y="3168650"/>
            <a:ext cx="4699000" cy="12700"/>
          </a:xfrm>
          <a:prstGeom prst="straightConnector1">
            <a:avLst/>
          </a:prstGeom>
          <a:solidFill>
            <a:srgbClr val="DEE0E3">
              <a:alpha val="100000"/>
            </a:srgbClr>
          </a:solidFill>
          <a:ln w="12700" cap="flat" cmpd="sng">
            <a:solidFill>
              <a:srgbClr val="00F0FF">
                <a:alpha val="15000"/>
              </a:srgbClr>
            </a:solidFill>
            <a:prstDash val="solid"/>
            <a:round/>
            <a:headEnd type="none" w="med" len="med"/>
            <a:tailEnd type="none" w="med" len="med"/>
          </a:ln>
        </p:spPr>
      </p:cxnSp>
      <p:sp>
        <p:nvSpPr>
          <p:cNvPr id="9" name="AutoShape 9"/>
          <p:cNvSpPr/>
          <p:nvPr/>
        </p:nvSpPr>
        <p:spPr>
          <a:xfrm>
            <a:off x="1016000" y="33655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00F0FF">
                    <a:alpha val="90196"/>
                  </a:srgbClr>
                </a:solidFill>
                <a:latin typeface="Noto Sans SC"/>
                <a:ea typeface="Noto Sans SC"/>
                <a:cs typeface="Noto Sans SC"/>
                <a:sym typeface="Noto Sans SC"/>
              </a:rPr>
              <a:t>核心问题：</a:t>
            </a:r>
            <a:r>
              <a:rPr lang="en-US" sz="1400" b="0" i="0" u="none" strike="noStrike">
                <a:solidFill>
                  <a:srgbClr val="FFFFFF">
                    <a:alpha val="70196"/>
                  </a:srgbClr>
                </a:solidFill>
                <a:latin typeface="Noto Sans SC"/>
                <a:ea typeface="Noto Sans SC"/>
                <a:cs typeface="Noto Sans SC"/>
                <a:sym typeface="Noto Sans SC"/>
              </a:rPr>
              <a:t>现有AI极度依赖海量标注数据，但在自动驾驶、医疗诊断等高风险、高成本场景中，获取大量高质量标记数据往往不现实。</a:t>
            </a:r>
            <a:endParaRPr lang="en-US" sz="1100"/>
          </a:p>
        </p:txBody>
      </p:sp>
      <p:sp>
        <p:nvSpPr>
          <p:cNvPr id="10" name="AutoShape 10"/>
          <p:cNvSpPr/>
          <p:nvPr/>
        </p:nvSpPr>
        <p:spPr>
          <a:xfrm>
            <a:off x="1016000" y="44450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00F0FF">
                    <a:alpha val="90196"/>
                  </a:srgbClr>
                </a:solidFill>
                <a:latin typeface="Noto Sans SC"/>
                <a:ea typeface="Noto Sans SC"/>
                <a:cs typeface="Noto Sans SC"/>
                <a:sym typeface="Noto Sans SC"/>
              </a:rPr>
              <a:t>根本矛盾：</a:t>
            </a:r>
            <a:r>
              <a:rPr lang="en-US" sz="1400" b="0" i="0" u="none" strike="noStrike">
                <a:solidFill>
                  <a:srgbClr val="FFFFFF">
                    <a:alpha val="70196"/>
                  </a:srgbClr>
                </a:solidFill>
                <a:latin typeface="Noto Sans SC"/>
                <a:ea typeface="Noto Sans SC"/>
                <a:cs typeface="Noto Sans SC"/>
                <a:sym typeface="Noto Sans SC"/>
              </a:rPr>
              <a:t>模型对数据的贪婪需求，与真实世界中关键场景数据的天然稀缺性之间，存在难以逾越的鸿沟。</a:t>
            </a:r>
            <a:endParaRPr lang="en-US" sz="1100"/>
          </a:p>
        </p:txBody>
      </p:sp>
      <p:sp>
        <p:nvSpPr>
          <p:cNvPr id="11" name="AutoShape 11"/>
          <p:cNvSpPr/>
          <p:nvPr/>
        </p:nvSpPr>
        <p:spPr>
          <a:xfrm>
            <a:off x="6223000" y="2032000"/>
            <a:ext cx="5207000" cy="3429000"/>
          </a:xfrm>
          <a:prstGeom prst="roundRect">
            <a:avLst>
              <a:gd name="adj" fmla="val 0"/>
            </a:avLst>
          </a:prstGeom>
          <a:solidFill>
            <a:srgbClr val="00F0FF">
              <a:alpha val="5000"/>
            </a:srgbClr>
          </a:solidFill>
          <a:ln w="12700" cap="flat" cmpd="sng">
            <a:solidFill>
              <a:srgbClr val="00F0FF">
                <a:alpha val="2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286000"/>
            <a:ext cx="355600" cy="355600"/>
          </a:xfrm>
          <a:prstGeom prst="rect">
            <a:avLst/>
          </a:prstGeom>
        </p:spPr>
      </p:pic>
      <p:sp>
        <p:nvSpPr>
          <p:cNvPr id="13" name="AutoShape 13"/>
          <p:cNvSpPr/>
          <p:nvPr/>
        </p:nvSpPr>
        <p:spPr>
          <a:xfrm>
            <a:off x="6921500" y="22606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F0FF"/>
                </a:solidFill>
                <a:latin typeface="Noto Sans SC"/>
                <a:ea typeface="Noto Sans SC"/>
                <a:cs typeface="Noto Sans SC"/>
                <a:sym typeface="Noto Sans SC"/>
              </a:rPr>
              <a:t>02 / 泛化能力的瓶颈</a:t>
            </a:r>
            <a:endParaRPr lang="en-US" sz="1100"/>
          </a:p>
        </p:txBody>
      </p:sp>
      <p:sp>
        <p:nvSpPr>
          <p:cNvPr id="14" name="AutoShape 14"/>
          <p:cNvSpPr/>
          <p:nvPr/>
        </p:nvSpPr>
        <p:spPr>
          <a:xfrm>
            <a:off x="6477000" y="2768600"/>
            <a:ext cx="4699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FFFFFF">
                    <a:alpha val="50196"/>
                  </a:srgbClr>
                </a:solidFill>
                <a:latin typeface="Noto Sans SC"/>
                <a:ea typeface="Noto Sans SC"/>
                <a:cs typeface="Noto Sans SC"/>
                <a:sym typeface="Noto Sans SC"/>
              </a:rPr>
              <a:t>The Bottleneck of Generalization</a:t>
            </a:r>
            <a:endParaRPr lang="en-US" sz="1100"/>
          </a:p>
        </p:txBody>
      </p:sp>
      <p:cxnSp>
        <p:nvCxnSpPr>
          <p:cNvPr id="15" name="Connector 15"/>
          <p:cNvCxnSpPr/>
          <p:nvPr/>
        </p:nvCxnSpPr>
        <p:spPr>
          <a:xfrm rot="-9291">
            <a:off x="6477009" y="3168650"/>
            <a:ext cx="4699000" cy="12700"/>
          </a:xfrm>
          <a:prstGeom prst="straightConnector1">
            <a:avLst/>
          </a:prstGeom>
          <a:solidFill>
            <a:srgbClr val="DEE0E3">
              <a:alpha val="100000"/>
            </a:srgbClr>
          </a:solidFill>
          <a:ln w="12700" cap="flat" cmpd="sng">
            <a:solidFill>
              <a:srgbClr val="00F0FF">
                <a:alpha val="15000"/>
              </a:srgbClr>
            </a:solidFill>
            <a:prstDash val="solid"/>
            <a:round/>
            <a:headEnd type="none" w="med" len="med"/>
            <a:tailEnd type="none" w="med" len="med"/>
          </a:ln>
        </p:spPr>
      </p:cxnSp>
      <p:sp>
        <p:nvSpPr>
          <p:cNvPr id="16" name="AutoShape 16"/>
          <p:cNvSpPr/>
          <p:nvPr/>
        </p:nvSpPr>
        <p:spPr>
          <a:xfrm>
            <a:off x="6477000" y="33655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00F0FF">
                    <a:alpha val="90196"/>
                  </a:srgbClr>
                </a:solidFill>
                <a:latin typeface="Noto Sans SC"/>
                <a:ea typeface="Noto Sans SC"/>
                <a:cs typeface="Noto Sans SC"/>
                <a:sym typeface="Noto Sans SC"/>
              </a:rPr>
              <a:t>核心问题：</a:t>
            </a:r>
            <a:r>
              <a:rPr lang="en-US" sz="1400" b="0" i="0" u="none" strike="noStrike">
                <a:solidFill>
                  <a:srgbClr val="FFFFFF">
                    <a:alpha val="70196"/>
                  </a:srgbClr>
                </a:solidFill>
                <a:latin typeface="Noto Sans SC"/>
                <a:ea typeface="Noto Sans SC"/>
                <a:cs typeface="Noto Sans SC"/>
                <a:sym typeface="Noto Sans SC"/>
              </a:rPr>
              <a:t>当前模型擅长特定任务的“模式匹配”，却难以将知识迁移到全新领域。例如精通围棋的AI，无法理解象棋的规则与策略。</a:t>
            </a:r>
            <a:endParaRPr lang="en-US" sz="1100"/>
          </a:p>
        </p:txBody>
      </p:sp>
      <p:sp>
        <p:nvSpPr>
          <p:cNvPr id="17" name="AutoShape 17"/>
          <p:cNvSpPr/>
          <p:nvPr/>
        </p:nvSpPr>
        <p:spPr>
          <a:xfrm>
            <a:off x="6477000" y="44450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00F0FF">
                    <a:alpha val="90196"/>
                  </a:srgbClr>
                </a:solidFill>
                <a:latin typeface="Noto Sans SC"/>
                <a:ea typeface="Noto Sans SC"/>
                <a:cs typeface="Noto Sans SC"/>
                <a:sym typeface="Noto Sans SC"/>
              </a:rPr>
              <a:t>根本矛盾：</a:t>
            </a:r>
            <a:r>
              <a:rPr lang="en-US" sz="1400" b="0" i="0" u="none" strike="noStrike">
                <a:solidFill>
                  <a:srgbClr val="FFFFFF">
                    <a:alpha val="70196"/>
                  </a:srgbClr>
                </a:solidFill>
                <a:latin typeface="Noto Sans SC"/>
                <a:ea typeface="Noto Sans SC"/>
                <a:cs typeface="Noto Sans SC"/>
                <a:sym typeface="Noto Sans SC"/>
              </a:rPr>
              <a:t>模型的“记忆”能力远大于“理解”与“归纳”能力，导致知识被禁锢在单一任务中，无法实现跨域复用和灵活迁移。</a:t>
            </a:r>
            <a:endParaRPr lang="en-US" sz="1100"/>
          </a:p>
        </p:txBody>
      </p:sp>
      <p:sp>
        <p:nvSpPr>
          <p:cNvPr id="18" name="AutoShape 18"/>
          <p:cNvSpPr/>
          <p:nvPr/>
        </p:nvSpPr>
        <p:spPr>
          <a:xfrm>
            <a:off x="762000" y="5778500"/>
            <a:ext cx="1066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17000"/>
              </a:lnSpc>
              <a:defRPr/>
            </a:pPr>
            <a:r>
              <a:rPr lang="en-US" sz="1400" b="0" i="0" u="none" strike="noStrike">
                <a:solidFill>
                  <a:srgbClr val="DCE6FF">
                    <a:alpha val="60000"/>
                  </a:srgbClr>
                </a:solidFill>
                <a:latin typeface="Noto Sans SC"/>
                <a:ea typeface="Noto Sans SC"/>
                <a:cs typeface="Noto Sans SC"/>
                <a:sym typeface="Noto Sans SC"/>
              </a:rPr>
              <a:t>突破这两大核心挑战，是从“专用人工智能”迈向“通用人工智能（AGI）”的必经之路，也是AI技术进化的下一个关键分水岭。</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270000" y="-1270000"/>
            <a:ext cx="5080000" cy="5080000"/>
          </a:xfrm>
          <a:prstGeom prst="ellipse">
            <a:avLst/>
          </a:prstGeom>
          <a:solidFill>
            <a:srgbClr val="00F0FF">
              <a:alpha val="1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8890000" y="3810000"/>
            <a:ext cx="5080000" cy="5080000"/>
          </a:xfrm>
          <a:prstGeom prst="ellipse">
            <a:avLst/>
          </a:prstGeom>
          <a:solidFill>
            <a:srgbClr val="00F0FF">
              <a:alpha val="1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1905000"/>
            <a:ext cx="12192000" cy="1270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8000" b="1" i="0" u="none" strike="noStrike">
                <a:solidFill>
                  <a:srgbClr val="00F0FF">
                    <a:alpha val="20000"/>
                  </a:srgbClr>
                </a:solidFill>
                <a:latin typeface="Noto Sans SC"/>
                <a:ea typeface="Noto Sans SC"/>
                <a:cs typeface="Noto Sans SC"/>
                <a:sym typeface="Noto Sans SC"/>
              </a:rPr>
              <a:t>02</a:t>
            </a:r>
            <a:endParaRPr lang="en-US" sz="1100"/>
          </a:p>
        </p:txBody>
      </p:sp>
      <p:sp>
        <p:nvSpPr>
          <p:cNvPr id="6" name="AutoShape 6"/>
          <p:cNvSpPr/>
          <p:nvPr/>
        </p:nvSpPr>
        <p:spPr>
          <a:xfrm>
            <a:off x="0" y="3429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0F0F0"/>
                </a:solidFill>
                <a:latin typeface="Noto Sans SC"/>
                <a:ea typeface="Noto Sans SC"/>
                <a:cs typeface="Noto Sans SC"/>
                <a:sym typeface="Noto Sans SC"/>
              </a:rPr>
              <a:t>Volvence的答案</a:t>
            </a:r>
            <a:endParaRPr lang="en-US" sz="1100"/>
          </a:p>
        </p:txBody>
      </p:sp>
      <p:sp>
        <p:nvSpPr>
          <p:cNvPr id="7" name="AutoShape 7"/>
          <p:cNvSpPr/>
          <p:nvPr/>
        </p:nvSpPr>
        <p:spPr>
          <a:xfrm>
            <a:off x="0" y="49530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0" i="0" u="none" strike="noStrike">
                <a:solidFill>
                  <a:srgbClr val="F0F0F0">
                    <a:alpha val="70196"/>
                  </a:srgbClr>
                </a:solidFill>
                <a:latin typeface="Noto Sans SC"/>
                <a:ea typeface="Noto Sans SC"/>
                <a:cs typeface="Noto Sans SC"/>
                <a:sym typeface="Noto Sans SC"/>
              </a:rPr>
              <a:t>构建自主进化的数字生命体系</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F0FF"/>
                </a:solidFill>
                <a:latin typeface="Noto Sans SC"/>
                <a:ea typeface="Noto Sans SC"/>
                <a:cs typeface="Noto Sans SC"/>
                <a:sym typeface="Noto Sans SC"/>
              </a:rPr>
              <a:t>我们的愿景：让机器掌握目标与经验，迈向AGI</a:t>
            </a:r>
            <a:endParaRPr lang="en-US" sz="1100"/>
          </a:p>
        </p:txBody>
      </p:sp>
      <p:sp>
        <p:nvSpPr>
          <p:cNvPr id="4" name="AutoShape 4"/>
          <p:cNvSpPr/>
          <p:nvPr/>
        </p:nvSpPr>
        <p:spPr>
          <a:xfrm>
            <a:off x="762000" y="2032000"/>
            <a:ext cx="5207000" cy="2286000"/>
          </a:xfrm>
          <a:prstGeom prst="roundRect">
            <a:avLst>
              <a:gd name="adj" fmla="val 0"/>
            </a:avLst>
          </a:prstGeom>
          <a:solidFill>
            <a:srgbClr val="00F0FF">
              <a:alpha val="8000"/>
            </a:srgbClr>
          </a:solidFill>
          <a:ln w="12700" cap="flat" cmpd="sng">
            <a:solidFill>
              <a:srgbClr val="00F0FF">
                <a:alpha val="2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22225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F0FF"/>
                </a:solidFill>
                <a:latin typeface="Noto Sans SC"/>
                <a:ea typeface="Noto Sans SC"/>
                <a:cs typeface="Noto Sans SC"/>
                <a:sym typeface="Noto Sans SC"/>
              </a:rPr>
              <a:t>01 核心理念 · 拒绝堆砌，拥抱进化</a:t>
            </a:r>
            <a:endParaRPr lang="en-US" sz="1100"/>
          </a:p>
        </p:txBody>
      </p:sp>
      <p:sp>
        <p:nvSpPr>
          <p:cNvPr id="6" name="AutoShape 6"/>
          <p:cNvSpPr/>
          <p:nvPr/>
        </p:nvSpPr>
        <p:spPr>
          <a:xfrm>
            <a:off x="1016000" y="2730500"/>
            <a:ext cx="4699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5E7EB"/>
                </a:solidFill>
                <a:latin typeface="Noto Sans SC"/>
                <a:ea typeface="Noto Sans SC"/>
                <a:cs typeface="Noto Sans SC"/>
                <a:sym typeface="Noto Sans SC"/>
              </a:rPr>
              <a:t>通往AGI的关键不在于单纯增加算力与数据量，而在于赋予AI系统</a:t>
            </a:r>
            <a:r>
              <a:rPr lang="en-US" sz="1400" b="1" i="0" u="none" strike="noStrike">
                <a:solidFill>
                  <a:srgbClr val="00F0FF"/>
                </a:solidFill>
                <a:latin typeface="Noto Sans SC"/>
                <a:ea typeface="Noto Sans SC"/>
                <a:cs typeface="Noto Sans SC"/>
                <a:sym typeface="Noto Sans SC"/>
              </a:rPr>
              <a:t>持续学习</a:t>
            </a:r>
            <a:r>
              <a:rPr lang="en-US" sz="1400" b="0" i="0" u="none" strike="noStrike">
                <a:solidFill>
                  <a:srgbClr val="E5E7EB"/>
                </a:solidFill>
                <a:latin typeface="Noto Sans SC"/>
                <a:ea typeface="Noto Sans SC"/>
                <a:cs typeface="Noto Sans SC"/>
                <a:sym typeface="Noto Sans SC"/>
              </a:rPr>
              <a:t>与</a:t>
            </a:r>
            <a:r>
              <a:rPr lang="en-US" sz="1400" b="1" i="0" u="none" strike="noStrike">
                <a:solidFill>
                  <a:srgbClr val="00F0FF"/>
                </a:solidFill>
                <a:latin typeface="Noto Sans SC"/>
                <a:ea typeface="Noto Sans SC"/>
                <a:cs typeface="Noto Sans SC"/>
                <a:sym typeface="Noto Sans SC"/>
              </a:rPr>
              <a:t>自主进化</a:t>
            </a:r>
            <a:r>
              <a:rPr lang="en-US" sz="1400" b="0" i="0" u="none" strike="noStrike">
                <a:solidFill>
                  <a:srgbClr val="E5E7EB"/>
                </a:solidFill>
                <a:latin typeface="Noto Sans SC"/>
                <a:ea typeface="Noto Sans SC"/>
                <a:cs typeface="Noto Sans SC"/>
                <a:sym typeface="Noto Sans SC"/>
              </a:rPr>
              <a:t>的核心能力。正如AI先驱Rich Sutton在《The Bitter Lesson》中所揭示的：让机器真正掌握目标与经验，才是智能突破的根本路径。</a:t>
            </a:r>
            <a:endParaRPr lang="en-US" sz="1100"/>
          </a:p>
        </p:txBody>
      </p:sp>
      <p:sp>
        <p:nvSpPr>
          <p:cNvPr id="7" name="AutoShape 7"/>
          <p:cNvSpPr/>
          <p:nvPr/>
        </p:nvSpPr>
        <p:spPr>
          <a:xfrm>
            <a:off x="6223000" y="2032000"/>
            <a:ext cx="5207000" cy="2286000"/>
          </a:xfrm>
          <a:prstGeom prst="roundRect">
            <a:avLst>
              <a:gd name="adj" fmla="val 0"/>
            </a:avLst>
          </a:prstGeom>
          <a:solidFill>
            <a:srgbClr val="00F0FF">
              <a:alpha val="8000"/>
            </a:srgbClr>
          </a:solidFill>
          <a:ln w="12700" cap="flat" cmpd="sng">
            <a:solidFill>
              <a:srgbClr val="00F0FF">
                <a:alpha val="25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477000" y="22225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F0FF"/>
                </a:solidFill>
                <a:latin typeface="Noto Sans SC"/>
                <a:ea typeface="Noto Sans SC"/>
                <a:cs typeface="Noto Sans SC"/>
                <a:sym typeface="Noto Sans SC"/>
              </a:rPr>
              <a:t>02 终极愿景 · 打造自主数字生命</a:t>
            </a:r>
            <a:endParaRPr lang="en-US" sz="1100"/>
          </a:p>
        </p:txBody>
      </p:sp>
      <p:sp>
        <p:nvSpPr>
          <p:cNvPr id="9" name="AutoShape 9"/>
          <p:cNvSpPr/>
          <p:nvPr/>
        </p:nvSpPr>
        <p:spPr>
          <a:xfrm>
            <a:off x="6477000" y="2730500"/>
            <a:ext cx="4699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5E7EB"/>
                </a:solidFill>
                <a:latin typeface="Noto Sans SC"/>
                <a:ea typeface="Noto Sans SC"/>
                <a:cs typeface="Noto Sans SC"/>
                <a:sym typeface="Noto Sans SC"/>
              </a:rPr>
              <a:t>致力于构建无需人工强干预的、具备完整</a:t>
            </a:r>
            <a:r>
              <a:rPr lang="en-US" sz="1400" b="1" i="0" u="none" strike="noStrike">
                <a:solidFill>
                  <a:srgbClr val="00F0FF"/>
                </a:solidFill>
                <a:latin typeface="Noto Sans SC"/>
                <a:ea typeface="Noto Sans SC"/>
                <a:cs typeface="Noto Sans SC"/>
                <a:sym typeface="Noto Sans SC"/>
              </a:rPr>
              <a:t>持续认知闭环</a:t>
            </a:r>
            <a:r>
              <a:rPr lang="en-US" sz="1400" b="0" i="0" u="none" strike="noStrike">
                <a:solidFill>
                  <a:srgbClr val="E5E7EB"/>
                </a:solidFill>
                <a:latin typeface="Noto Sans SC"/>
                <a:ea typeface="Noto Sans SC"/>
                <a:cs typeface="Noto Sans SC"/>
                <a:sym typeface="Noto Sans SC"/>
              </a:rPr>
              <a:t>的数字生命体系。目标是创造能自主设定目标、感知环境、做出决策、从反馈中学习并沉淀经验的智能体，最终实现具备通用智能与自我进化能力的AGI。</a:t>
            </a:r>
            <a:endParaRPr lang="en-US" sz="1100"/>
          </a:p>
        </p:txBody>
      </p:sp>
      <p:sp>
        <p:nvSpPr>
          <p:cNvPr id="10" name="AutoShape 10"/>
          <p:cNvSpPr/>
          <p:nvPr/>
        </p:nvSpPr>
        <p:spPr>
          <a:xfrm>
            <a:off x="762000" y="4699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3F4F6"/>
                </a:solidFill>
                <a:latin typeface="Noto Sans SC"/>
                <a:ea typeface="Noto Sans SC"/>
                <a:cs typeface="Noto Sans SC"/>
                <a:sym typeface="Noto Sans SC"/>
              </a:rPr>
              <a:t>演进阶梯：从工具到通用智能的跃迁</a:t>
            </a:r>
            <a:endParaRPr lang="en-US" sz="1100"/>
          </a:p>
        </p:txBody>
      </p:sp>
      <p:sp>
        <p:nvSpPr>
          <p:cNvPr id="11" name="AutoShape 11"/>
          <p:cNvSpPr/>
          <p:nvPr/>
        </p:nvSpPr>
        <p:spPr>
          <a:xfrm>
            <a:off x="762000" y="5207000"/>
            <a:ext cx="3302000" cy="1143000"/>
          </a:xfrm>
          <a:prstGeom prst="roundRect">
            <a:avLst>
              <a:gd name="adj" fmla="val 0"/>
            </a:avLst>
          </a:prstGeom>
          <a:solidFill>
            <a:srgbClr val="FFFFFF">
              <a:alpha val="6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889000" y="53086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B4B9C3"/>
                </a:solidFill>
                <a:latin typeface="Noto Sans SC"/>
                <a:ea typeface="Noto Sans SC"/>
                <a:cs typeface="Noto Sans SC"/>
                <a:sym typeface="Noto Sans SC"/>
              </a:rPr>
              <a:t>01 工具型 AI</a:t>
            </a:r>
            <a:endParaRPr lang="en-US" sz="1100"/>
          </a:p>
          <a:p>
            <a:pPr marL="0" indent="0" algn="l">
              <a:lnSpc>
                <a:spcPct val="108000"/>
              </a:lnSpc>
            </a:pPr>
            <a:r>
              <a:rPr lang="en-US" sz="1300" b="0" i="0" u="none" strike="noStrike">
                <a:solidFill>
                  <a:srgbClr val="9CA3AF"/>
                </a:solidFill>
                <a:latin typeface="Noto Sans SC"/>
                <a:ea typeface="Noto Sans SC"/>
                <a:cs typeface="Noto Sans SC"/>
                <a:sym typeface="Noto Sans SC"/>
              </a:rPr>
              <a:t>任务驱动的专用模型，依赖人工指令与海量数据投喂，缺乏自主目标设定与进化能力。</a:t>
            </a:r>
            <a:endParaRPr lang="en-US" sz="1300" b="0" i="0" u="none" strike="noStrike">
              <a:solidFill>
                <a:srgbClr val="9CA3AF"/>
              </a:solidFill>
              <a:latin typeface="Noto Sans SC"/>
              <a:ea typeface="Noto Sans SC"/>
              <a:cs typeface="Noto Sans SC"/>
              <a:sym typeface="Noto Sans SC"/>
            </a:endParaRPr>
          </a:p>
        </p:txBody>
      </p:sp>
      <p:pic>
        <p:nvPicPr>
          <p:cNvPr id="13" name="Picture 13"/>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191000" y="5626100"/>
            <a:ext cx="304800" cy="304800"/>
          </a:xfrm>
          <a:prstGeom prst="rect">
            <a:avLst/>
          </a:prstGeom>
        </p:spPr>
      </p:pic>
      <p:sp>
        <p:nvSpPr>
          <p:cNvPr id="14" name="AutoShape 14"/>
          <p:cNvSpPr/>
          <p:nvPr/>
        </p:nvSpPr>
        <p:spPr>
          <a:xfrm>
            <a:off x="4635500" y="5207000"/>
            <a:ext cx="3302000" cy="1143000"/>
          </a:xfrm>
          <a:prstGeom prst="roundRect">
            <a:avLst>
              <a:gd name="adj" fmla="val 0"/>
            </a:avLst>
          </a:prstGeom>
          <a:solidFill>
            <a:srgbClr val="00F0FF">
              <a:alpha val="18000"/>
            </a:srgbClr>
          </a:solidFill>
          <a:ln w="12700" cap="flat" cmpd="sng">
            <a:solidFill>
              <a:srgbClr val="00F0FF">
                <a:alpha val="6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4762500" y="53086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F0FF"/>
                </a:solidFill>
                <a:latin typeface="Noto Sans SC"/>
                <a:ea typeface="Noto Sans SC"/>
                <a:cs typeface="Noto Sans SC"/>
                <a:sym typeface="Noto Sans SC"/>
              </a:rPr>
              <a:t>02 数字生命 (Volvence)</a:t>
            </a:r>
            <a:endParaRPr lang="en-US" sz="1100"/>
          </a:p>
          <a:p>
            <a:pPr marL="0" indent="0" algn="l">
              <a:lnSpc>
                <a:spcPct val="108000"/>
              </a:lnSpc>
            </a:pPr>
            <a:r>
              <a:rPr lang="en-US" sz="1300" b="0" i="0" u="none" strike="noStrike">
                <a:solidFill>
                  <a:srgbClr val="E5E7EB"/>
                </a:solidFill>
                <a:latin typeface="Noto Sans SC"/>
                <a:ea typeface="Noto Sans SC"/>
                <a:cs typeface="Noto Sans SC"/>
                <a:sym typeface="Noto Sans SC"/>
              </a:rPr>
              <a:t>拥有认知闭环，可自主探索、从环境反馈中迭代经验，是连接专用工具与通用智能的关键桥梁。</a:t>
            </a:r>
            <a:endParaRPr lang="en-US" sz="1300" b="0" i="0" u="none" strike="noStrike">
              <a:solidFill>
                <a:srgbClr val="E5E7EB"/>
              </a:solidFill>
              <a:latin typeface="Noto Sans SC"/>
              <a:ea typeface="Noto Sans SC"/>
              <a:cs typeface="Noto Sans SC"/>
              <a:sym typeface="Noto Sans SC"/>
            </a:endParaRPr>
          </a:p>
        </p:txBody>
      </p:sp>
      <p:pic>
        <p:nvPicPr>
          <p:cNvPr id="16" name="Picture 1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64500" y="5626100"/>
            <a:ext cx="304800" cy="304800"/>
          </a:xfrm>
          <a:prstGeom prst="rect">
            <a:avLst/>
          </a:prstGeom>
        </p:spPr>
      </p:pic>
      <p:sp>
        <p:nvSpPr>
          <p:cNvPr id="17" name="AutoShape 17"/>
          <p:cNvSpPr/>
          <p:nvPr/>
        </p:nvSpPr>
        <p:spPr>
          <a:xfrm>
            <a:off x="8509000" y="5207000"/>
            <a:ext cx="3302000" cy="1143000"/>
          </a:xfrm>
          <a:prstGeom prst="roundRect">
            <a:avLst>
              <a:gd name="adj" fmla="val 0"/>
            </a:avLst>
          </a:prstGeom>
          <a:solidFill>
            <a:srgbClr val="FFFFFF">
              <a:alpha val="6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8636000" y="53086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B4B9C3"/>
                </a:solidFill>
                <a:latin typeface="Noto Sans SC"/>
                <a:ea typeface="Noto Sans SC"/>
                <a:cs typeface="Noto Sans SC"/>
                <a:sym typeface="Noto Sans SC"/>
              </a:rPr>
              <a:t>03 通用人工智能 (AGI)</a:t>
            </a:r>
            <a:endParaRPr lang="en-US" sz="1100"/>
          </a:p>
          <a:p>
            <a:pPr marL="0" indent="0" algn="l">
              <a:lnSpc>
                <a:spcPct val="108000"/>
              </a:lnSpc>
            </a:pPr>
            <a:r>
              <a:rPr lang="en-US" sz="1300" b="0" i="0" u="none" strike="noStrike">
                <a:solidFill>
                  <a:srgbClr val="9CA3AF"/>
                </a:solidFill>
                <a:latin typeface="Noto Sans SC"/>
                <a:ea typeface="Noto Sans SC"/>
                <a:cs typeface="Noto Sans SC"/>
                <a:sym typeface="Noto Sans SC"/>
              </a:rPr>
              <a:t>具备与人类相当的综合智能水平，可理解、学习并执行任何复杂的智力任务，实现真正的自主意识与创造。</a:t>
            </a:r>
            <a:endParaRPr lang="en-US" sz="1300" b="0" i="0" u="none" strike="noStrike">
              <a:solidFill>
                <a:srgbClr val="9CA3AF"/>
              </a:solidFill>
              <a:latin typeface="Noto Sans SC"/>
              <a:ea typeface="Noto Sans SC"/>
              <a:cs typeface="Noto Sans SC"/>
              <a:sym typeface="Noto Sans S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F0FF"/>
                </a:solidFill>
                <a:latin typeface="Noto Sans SC"/>
                <a:ea typeface="Noto Sans SC"/>
                <a:cs typeface="Noto Sans SC"/>
                <a:sym typeface="Noto Sans SC"/>
              </a:rPr>
              <a:t>核心解决方案：持续主动学习模型 (Volvence Model)</a:t>
            </a:r>
            <a:endParaRPr lang="en-US" sz="1100"/>
          </a:p>
        </p:txBody>
      </p:sp>
      <p:sp>
        <p:nvSpPr>
          <p:cNvPr id="4" name="AutoShape 4"/>
          <p:cNvSpPr/>
          <p:nvPr/>
        </p:nvSpPr>
        <p:spPr>
          <a:xfrm>
            <a:off x="762000" y="1778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74902"/>
                  </a:srgbClr>
                </a:solidFill>
                <a:latin typeface="Noto Sans SC"/>
                <a:ea typeface="Noto Sans SC"/>
                <a:cs typeface="Noto Sans SC"/>
                <a:sym typeface="Noto Sans SC"/>
              </a:rPr>
              <a:t>Volvence模型基于原创的“主动学徒学习（Active Apprenticeship Learning）”理论构建，并非静态的知识库，而是一个能够与环境持续交互、自主进化的动态智能系统，其核心在于构建了一个完整的自主认知闭环。</a:t>
            </a:r>
            <a:endParaRPr lang="en-US" sz="1100"/>
          </a:p>
        </p:txBody>
      </p:sp>
      <p:sp>
        <p:nvSpPr>
          <p:cNvPr id="5" name="AutoShape 5"/>
          <p:cNvSpPr/>
          <p:nvPr/>
        </p:nvSpPr>
        <p:spPr>
          <a:xfrm>
            <a:off x="762000" y="29845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0F0FF"/>
                </a:solidFill>
                <a:latin typeface="Noto Sans SC"/>
                <a:ea typeface="Noto Sans SC"/>
                <a:cs typeface="Noto Sans SC"/>
                <a:sym typeface="Noto Sans SC"/>
              </a:rPr>
              <a:t>完整的自主认知闭环</a:t>
            </a:r>
            <a:endParaRPr lang="en-US" sz="1100"/>
          </a:p>
        </p:txBody>
      </p:sp>
      <p:sp>
        <p:nvSpPr>
          <p:cNvPr id="6" name="AutoShape 6"/>
          <p:cNvSpPr/>
          <p:nvPr/>
        </p:nvSpPr>
        <p:spPr>
          <a:xfrm>
            <a:off x="762000" y="3683000"/>
            <a:ext cx="2032000" cy="2349500"/>
          </a:xfrm>
          <a:prstGeom prst="roundRect">
            <a:avLst>
              <a:gd name="adj" fmla="val 0"/>
            </a:avLst>
          </a:prstGeom>
          <a:solidFill>
            <a:srgbClr val="00F0FF">
              <a:alpha val="8000"/>
            </a:srgbClr>
          </a:solidFill>
          <a:ln w="12700" cap="flat" cmpd="sng">
            <a:solidFill>
              <a:srgbClr val="00F0FF">
                <a:alpha val="25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5200" y="3886200"/>
            <a:ext cx="355600" cy="355600"/>
          </a:xfrm>
          <a:prstGeom prst="rect">
            <a:avLst/>
          </a:prstGeom>
        </p:spPr>
      </p:pic>
      <p:sp>
        <p:nvSpPr>
          <p:cNvPr id="8" name="AutoShape 8"/>
          <p:cNvSpPr/>
          <p:nvPr/>
        </p:nvSpPr>
        <p:spPr>
          <a:xfrm>
            <a:off x="1371600" y="3886200"/>
            <a:ext cx="152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F0FF"/>
                </a:solidFill>
                <a:latin typeface="Noto Sans SC"/>
                <a:ea typeface="Noto Sans SC"/>
                <a:cs typeface="Noto Sans SC"/>
                <a:sym typeface="Noto Sans SC"/>
              </a:rPr>
              <a:t>01 感知输入</a:t>
            </a:r>
            <a:endParaRPr lang="en-US" sz="1100"/>
          </a:p>
        </p:txBody>
      </p:sp>
      <p:sp>
        <p:nvSpPr>
          <p:cNvPr id="9" name="AutoShape 9"/>
          <p:cNvSpPr/>
          <p:nvPr/>
        </p:nvSpPr>
        <p:spPr>
          <a:xfrm>
            <a:off x="914400" y="4445000"/>
            <a:ext cx="177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5E7EB">
                    <a:alpha val="80000"/>
                  </a:srgbClr>
                </a:solidFill>
                <a:latin typeface="Noto Sans SC"/>
                <a:ea typeface="Noto Sans SC"/>
                <a:cs typeface="Noto Sans SC"/>
                <a:sym typeface="Noto Sans SC"/>
              </a:rPr>
              <a:t>实时接收多模态信息，全方位捕捉环境动态、用户需求与任务线索，为决策提供基础。</a:t>
            </a:r>
            <a:endParaRPr lang="en-US" sz="1100"/>
          </a:p>
        </p:txBody>
      </p:sp>
      <p:sp>
        <p:nvSpPr>
          <p:cNvPr id="10" name="AutoShape 10"/>
          <p:cNvSpPr/>
          <p:nvPr/>
        </p:nvSpPr>
        <p:spPr>
          <a:xfrm>
            <a:off x="2908300" y="3683000"/>
            <a:ext cx="2032000" cy="2349500"/>
          </a:xfrm>
          <a:prstGeom prst="roundRect">
            <a:avLst>
              <a:gd name="adj" fmla="val 0"/>
            </a:avLst>
          </a:prstGeom>
          <a:solidFill>
            <a:srgbClr val="00F0FF">
              <a:alpha val="8000"/>
            </a:srgbClr>
          </a:solidFill>
          <a:ln w="12700" cap="flat" cmpd="sng">
            <a:solidFill>
              <a:srgbClr val="00F0FF">
                <a:alpha val="25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111500" y="3886200"/>
            <a:ext cx="355600" cy="355600"/>
          </a:xfrm>
          <a:prstGeom prst="rect">
            <a:avLst/>
          </a:prstGeom>
        </p:spPr>
      </p:pic>
      <p:sp>
        <p:nvSpPr>
          <p:cNvPr id="12" name="AutoShape 12"/>
          <p:cNvSpPr/>
          <p:nvPr/>
        </p:nvSpPr>
        <p:spPr>
          <a:xfrm>
            <a:off x="3517900" y="3886200"/>
            <a:ext cx="152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F0FF"/>
                </a:solidFill>
                <a:latin typeface="Noto Sans SC"/>
                <a:ea typeface="Noto Sans SC"/>
                <a:cs typeface="Noto Sans SC"/>
                <a:sym typeface="Noto Sans SC"/>
              </a:rPr>
              <a:t>02 目标决策</a:t>
            </a:r>
            <a:endParaRPr lang="en-US" sz="1100"/>
          </a:p>
        </p:txBody>
      </p:sp>
      <p:sp>
        <p:nvSpPr>
          <p:cNvPr id="13" name="AutoShape 13"/>
          <p:cNvSpPr/>
          <p:nvPr/>
        </p:nvSpPr>
        <p:spPr>
          <a:xfrm>
            <a:off x="3060700" y="4445000"/>
            <a:ext cx="177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5E7EB">
                    <a:alpha val="80000"/>
                  </a:srgbClr>
                </a:solidFill>
                <a:latin typeface="Noto Sans SC"/>
                <a:ea typeface="Noto Sans SC"/>
                <a:cs typeface="Noto Sans SC"/>
                <a:sym typeface="Noto Sans SC"/>
              </a:rPr>
              <a:t>基于感知信息自主设定或动态调整任务目标，明确行动方向与优先级，形成清晰决策。</a:t>
            </a:r>
            <a:endParaRPr lang="en-US" sz="1100"/>
          </a:p>
        </p:txBody>
      </p:sp>
      <p:sp>
        <p:nvSpPr>
          <p:cNvPr id="14" name="AutoShape 14"/>
          <p:cNvSpPr/>
          <p:nvPr/>
        </p:nvSpPr>
        <p:spPr>
          <a:xfrm>
            <a:off x="5054600" y="3683000"/>
            <a:ext cx="2032000" cy="2349500"/>
          </a:xfrm>
          <a:prstGeom prst="roundRect">
            <a:avLst>
              <a:gd name="adj" fmla="val 0"/>
            </a:avLst>
          </a:prstGeom>
          <a:solidFill>
            <a:srgbClr val="00F0FF">
              <a:alpha val="8000"/>
            </a:srgbClr>
          </a:solidFill>
          <a:ln w="12700" cap="flat" cmpd="sng">
            <a:solidFill>
              <a:srgbClr val="00F0FF">
                <a:alpha val="25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57800" y="3886200"/>
            <a:ext cx="355600" cy="355600"/>
          </a:xfrm>
          <a:prstGeom prst="rect">
            <a:avLst/>
          </a:prstGeom>
        </p:spPr>
      </p:pic>
      <p:sp>
        <p:nvSpPr>
          <p:cNvPr id="16" name="AutoShape 16"/>
          <p:cNvSpPr/>
          <p:nvPr/>
        </p:nvSpPr>
        <p:spPr>
          <a:xfrm>
            <a:off x="5664200" y="3886200"/>
            <a:ext cx="152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F0FF"/>
                </a:solidFill>
                <a:latin typeface="Noto Sans SC"/>
                <a:ea typeface="Noto Sans SC"/>
                <a:cs typeface="Noto Sans SC"/>
                <a:sym typeface="Noto Sans SC"/>
              </a:rPr>
              <a:t>03 行动执行</a:t>
            </a:r>
            <a:endParaRPr lang="en-US" sz="1100"/>
          </a:p>
        </p:txBody>
      </p:sp>
      <p:sp>
        <p:nvSpPr>
          <p:cNvPr id="17" name="AutoShape 17"/>
          <p:cNvSpPr/>
          <p:nvPr/>
        </p:nvSpPr>
        <p:spPr>
          <a:xfrm>
            <a:off x="5207000" y="4445000"/>
            <a:ext cx="177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5E7EB">
                    <a:alpha val="80000"/>
                  </a:srgbClr>
                </a:solidFill>
                <a:latin typeface="Noto Sans SC"/>
                <a:ea typeface="Noto Sans SC"/>
                <a:cs typeface="Noto Sans SC"/>
                <a:sym typeface="Noto Sans SC"/>
              </a:rPr>
              <a:t>匹配最优策略并高效执行，将决策转化为实际行动，对环境或任务做出实时响应。</a:t>
            </a:r>
            <a:endParaRPr lang="en-US" sz="1100"/>
          </a:p>
        </p:txBody>
      </p:sp>
      <p:sp>
        <p:nvSpPr>
          <p:cNvPr id="18" name="AutoShape 18"/>
          <p:cNvSpPr/>
          <p:nvPr/>
        </p:nvSpPr>
        <p:spPr>
          <a:xfrm>
            <a:off x="7200900" y="3683000"/>
            <a:ext cx="2032000" cy="2349500"/>
          </a:xfrm>
          <a:prstGeom prst="roundRect">
            <a:avLst>
              <a:gd name="adj" fmla="val 0"/>
            </a:avLst>
          </a:prstGeom>
          <a:solidFill>
            <a:srgbClr val="00F0FF">
              <a:alpha val="8000"/>
            </a:srgbClr>
          </a:solidFill>
          <a:ln w="12700" cap="flat" cmpd="sng">
            <a:solidFill>
              <a:srgbClr val="00F0FF">
                <a:alpha val="25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404100" y="3886200"/>
            <a:ext cx="355600" cy="355600"/>
          </a:xfrm>
          <a:prstGeom prst="rect">
            <a:avLst/>
          </a:prstGeom>
        </p:spPr>
      </p:pic>
      <p:sp>
        <p:nvSpPr>
          <p:cNvPr id="20" name="AutoShape 20"/>
          <p:cNvSpPr/>
          <p:nvPr/>
        </p:nvSpPr>
        <p:spPr>
          <a:xfrm>
            <a:off x="7810500" y="3886200"/>
            <a:ext cx="152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F0FF"/>
                </a:solidFill>
                <a:latin typeface="Noto Sans SC"/>
                <a:ea typeface="Noto Sans SC"/>
                <a:cs typeface="Noto Sans SC"/>
                <a:sym typeface="Noto Sans SC"/>
              </a:rPr>
              <a:t>04 反馈学习</a:t>
            </a:r>
            <a:endParaRPr lang="en-US" sz="1100"/>
          </a:p>
        </p:txBody>
      </p:sp>
      <p:sp>
        <p:nvSpPr>
          <p:cNvPr id="21" name="AutoShape 21"/>
          <p:cNvSpPr/>
          <p:nvPr/>
        </p:nvSpPr>
        <p:spPr>
          <a:xfrm>
            <a:off x="7353300" y="4445000"/>
            <a:ext cx="177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5E7EB">
                    <a:alpha val="80000"/>
                  </a:srgbClr>
                </a:solidFill>
                <a:latin typeface="Noto Sans SC"/>
                <a:ea typeface="Noto Sans SC"/>
                <a:cs typeface="Noto Sans SC"/>
                <a:sym typeface="Noto Sans SC"/>
              </a:rPr>
              <a:t>从行动结果中提取关键反馈信息，分析得失并完成自我迭代，实现能力的持续优化。</a:t>
            </a:r>
            <a:endParaRPr lang="en-US" sz="1100"/>
          </a:p>
        </p:txBody>
      </p:sp>
      <p:sp>
        <p:nvSpPr>
          <p:cNvPr id="22" name="AutoShape 22"/>
          <p:cNvSpPr/>
          <p:nvPr/>
        </p:nvSpPr>
        <p:spPr>
          <a:xfrm>
            <a:off x="9347200" y="3683000"/>
            <a:ext cx="2032000" cy="2349500"/>
          </a:xfrm>
          <a:prstGeom prst="roundRect">
            <a:avLst>
              <a:gd name="adj" fmla="val 0"/>
            </a:avLst>
          </a:prstGeom>
          <a:solidFill>
            <a:srgbClr val="00F0FF">
              <a:alpha val="8000"/>
            </a:srgbClr>
          </a:solidFill>
          <a:ln w="12700" cap="flat" cmpd="sng">
            <a:solidFill>
              <a:srgbClr val="00F0FF">
                <a:alpha val="25000"/>
              </a:srgbClr>
            </a:solid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50400" y="3886200"/>
            <a:ext cx="355600" cy="355600"/>
          </a:xfrm>
          <a:prstGeom prst="rect">
            <a:avLst/>
          </a:prstGeom>
        </p:spPr>
      </p:pic>
      <p:sp>
        <p:nvSpPr>
          <p:cNvPr id="24" name="AutoShape 24"/>
          <p:cNvSpPr/>
          <p:nvPr/>
        </p:nvSpPr>
        <p:spPr>
          <a:xfrm>
            <a:off x="9956800" y="3886200"/>
            <a:ext cx="1524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F0FF"/>
                </a:solidFill>
                <a:latin typeface="Noto Sans SC"/>
                <a:ea typeface="Noto Sans SC"/>
                <a:cs typeface="Noto Sans SC"/>
                <a:sym typeface="Noto Sans SC"/>
              </a:rPr>
              <a:t>05 经验沉淀</a:t>
            </a:r>
            <a:endParaRPr lang="en-US" sz="1100"/>
          </a:p>
        </p:txBody>
      </p:sp>
      <p:sp>
        <p:nvSpPr>
          <p:cNvPr id="25" name="AutoShape 25"/>
          <p:cNvSpPr/>
          <p:nvPr/>
        </p:nvSpPr>
        <p:spPr>
          <a:xfrm>
            <a:off x="9499600" y="4445000"/>
            <a:ext cx="177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5E7EB">
                    <a:alpha val="80000"/>
                  </a:srgbClr>
                </a:solidFill>
                <a:latin typeface="Noto Sans SC"/>
                <a:ea typeface="Noto Sans SC"/>
                <a:cs typeface="Noto Sans SC"/>
                <a:sym typeface="Noto Sans SC"/>
              </a:rPr>
              <a:t>将碎片化知识提炼为结构化、可复用的经验模型，形成长效认知资产，赋能未来决策。</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cap="flat" cmpd="sng">
            <a:solidFill>
              <a:srgbClr val="000000">
                <a:alpha val="8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1270000" y="-1270000"/>
            <a:ext cx="5080000" cy="5080000"/>
          </a:xfrm>
          <a:prstGeom prst="ellipse">
            <a:avLst/>
          </a:prstGeom>
          <a:solidFill>
            <a:srgbClr val="00F0FF">
              <a:alpha val="8000"/>
            </a:srgbClr>
          </a:solidFill>
          <a:ln cap="flat" cmpd="sng">
            <a:solidFill>
              <a:srgbClr val="00D8E6">
                <a:alpha val="8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8382000" y="3048000"/>
            <a:ext cx="6350000" cy="6350000"/>
          </a:xfrm>
          <a:prstGeom prst="ellipse">
            <a:avLst/>
          </a:prstGeom>
          <a:solidFill>
            <a:srgbClr val="00F0FF">
              <a:alpha val="5000"/>
            </a:srgbClr>
          </a:solidFill>
          <a:ln cap="flat" cmpd="sng">
            <a:solidFill>
              <a:srgbClr val="00D8E6">
                <a:alpha val="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0" y="1651000"/>
            <a:ext cx="12192000" cy="177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00F0FF">
                    <a:alpha val="14902"/>
                  </a:srgbClr>
                </a:solidFill>
                <a:latin typeface="Noto Sans SC"/>
                <a:ea typeface="Noto Sans SC"/>
                <a:cs typeface="Noto Sans SC"/>
                <a:sym typeface="Noto Sans SC"/>
              </a:rPr>
              <a:t>03</a:t>
            </a:r>
            <a:endParaRPr lang="en-US" sz="1100"/>
          </a:p>
        </p:txBody>
      </p:sp>
      <p:sp>
        <p:nvSpPr>
          <p:cNvPr id="6" name="AutoShape 6"/>
          <p:cNvSpPr/>
          <p:nvPr/>
        </p:nvSpPr>
        <p:spPr>
          <a:xfrm>
            <a:off x="0" y="34290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0F0F0"/>
                </a:solidFill>
                <a:latin typeface="Noto Sans SC"/>
                <a:ea typeface="Noto Sans SC"/>
                <a:cs typeface="Noto Sans SC"/>
                <a:sym typeface="Noto Sans SC"/>
              </a:rPr>
              <a:t>核心技术壁垒</a:t>
            </a:r>
            <a:endParaRPr lang="en-US" sz="1100"/>
          </a:p>
        </p:txBody>
      </p:sp>
      <p:sp>
        <p:nvSpPr>
          <p:cNvPr id="7" name="AutoShape 7"/>
          <p:cNvSpPr/>
          <p:nvPr/>
        </p:nvSpPr>
        <p:spPr>
          <a:xfrm>
            <a:off x="5588000" y="4762500"/>
            <a:ext cx="1016000" cy="50800"/>
          </a:xfrm>
          <a:prstGeom prst="roundRect">
            <a:avLst>
              <a:gd name="adj" fmla="val 0"/>
            </a:avLst>
          </a:prstGeom>
          <a:solidFill>
            <a:srgbClr val="00F0FF">
              <a:alpha val="100000"/>
            </a:srgbClr>
          </a:solidFill>
          <a:ln cap="flat" cmpd="sng">
            <a:solidFill>
              <a:srgbClr val="00D8E6">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0" y="5207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spc="200">
                <a:solidFill>
                  <a:srgbClr val="F0F0F0">
                    <a:alpha val="60000"/>
                  </a:srgbClr>
                </a:solidFill>
                <a:latin typeface="Noto Sans SC"/>
                <a:ea typeface="Noto Sans SC"/>
                <a:cs typeface="Noto Sans SC"/>
                <a:sym typeface="Noto Sans SC"/>
              </a:rPr>
              <a:t>攻克稀疏学习与泛化迁移的世界级难题</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cap="flat" cmpd="sng">
            <a:solidFill>
              <a:srgbClr val="000000">
                <a:alpha val="8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F0FF"/>
                </a:solidFill>
                <a:latin typeface="Noto Sans SC"/>
                <a:ea typeface="Noto Sans SC"/>
                <a:cs typeface="Noto Sans SC"/>
                <a:sym typeface="Noto Sans SC"/>
              </a:rPr>
              <a:t>壁垒一：稀疏数据学习——从“海量投喂”到“一点即通”</a:t>
            </a:r>
            <a:endParaRPr lang="en-US" sz="1100"/>
          </a:p>
        </p:txBody>
      </p:sp>
      <p:sp>
        <p:nvSpPr>
          <p:cNvPr id="4" name="AutoShape 4"/>
          <p:cNvSpPr/>
          <p:nvPr/>
        </p:nvSpPr>
        <p:spPr>
          <a:xfrm>
            <a:off x="762000" y="1778000"/>
            <a:ext cx="10668000" cy="1270000"/>
          </a:xfrm>
          <a:prstGeom prst="roundRect">
            <a:avLst>
              <a:gd name="adj" fmla="val 0"/>
            </a:avLst>
          </a:prstGeom>
          <a:solidFill>
            <a:srgbClr val="00F0FF">
              <a:alpha val="8000"/>
            </a:srgbClr>
          </a:solidFill>
          <a:ln w="12700" cap="flat" cmpd="sng">
            <a:solidFill>
              <a:srgbClr val="00F0FF">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968500"/>
            <a:ext cx="10160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0FF"/>
                </a:solidFill>
                <a:latin typeface="Noto Sans SC"/>
                <a:ea typeface="Noto Sans SC"/>
                <a:cs typeface="Noto Sans SC"/>
                <a:sym typeface="Noto Sans SC"/>
              </a:rPr>
              <a:t>01 / 突破性解决稀疏数据难题</a:t>
            </a:r>
            <a:endParaRPr lang="en-US" sz="1100"/>
          </a:p>
        </p:txBody>
      </p:sp>
      <p:sp>
        <p:nvSpPr>
          <p:cNvPr id="6" name="AutoShape 6"/>
          <p:cNvSpPr/>
          <p:nvPr/>
        </p:nvSpPr>
        <p:spPr>
          <a:xfrm>
            <a:off x="1016000" y="23495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E5E7EB"/>
                </a:solidFill>
                <a:latin typeface="Noto Sans SC"/>
                <a:ea typeface="Noto Sans SC"/>
                <a:cs typeface="Noto Sans SC"/>
                <a:sym typeface="Noto Sans SC"/>
              </a:rPr>
              <a:t>革命性攻克AI在稀疏、残缺、高噪声真实环境下的学习难题，仅需每月数百次用户交互反馈即可实现高效“小样本学习”，摆脱对海量数据的依赖。</a:t>
            </a:r>
            <a:endParaRPr lang="en-US" sz="1100"/>
          </a:p>
        </p:txBody>
      </p:sp>
      <p:sp>
        <p:nvSpPr>
          <p:cNvPr id="7" name="AutoShape 7"/>
          <p:cNvSpPr/>
          <p:nvPr/>
        </p:nvSpPr>
        <p:spPr>
          <a:xfrm>
            <a:off x="762000" y="3302000"/>
            <a:ext cx="3429000" cy="1714500"/>
          </a:xfrm>
          <a:prstGeom prst="roundRect">
            <a:avLst>
              <a:gd name="adj" fmla="val 0"/>
            </a:avLst>
          </a:prstGeom>
          <a:solidFill>
            <a:srgbClr val="FFFFFF">
              <a:alpha val="5000"/>
            </a:srgbClr>
          </a:solidFill>
          <a:ln w="12700" cap="flat" cmpd="sng">
            <a:solidFill>
              <a:srgbClr val="00F0FF">
                <a:alpha val="2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952500" y="34925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0F0FF"/>
                </a:solidFill>
                <a:latin typeface="Noto Sans SC"/>
                <a:ea typeface="Noto Sans SC"/>
                <a:cs typeface="Noto Sans SC"/>
                <a:sym typeface="Noto Sans SC"/>
              </a:rPr>
              <a:t>Star Number 复杂度度量</a:t>
            </a:r>
            <a:endParaRPr lang="en-US" sz="1100"/>
          </a:p>
        </p:txBody>
      </p:sp>
      <p:sp>
        <p:nvSpPr>
          <p:cNvPr id="9" name="AutoShape 9"/>
          <p:cNvSpPr/>
          <p:nvPr/>
        </p:nvSpPr>
        <p:spPr>
          <a:xfrm>
            <a:off x="952500" y="38735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D1D5DB"/>
                </a:solidFill>
                <a:latin typeface="Noto Sans SC"/>
                <a:ea typeface="Noto Sans SC"/>
                <a:cs typeface="Noto Sans SC"/>
                <a:sym typeface="Noto Sans SC"/>
              </a:rPr>
              <a:t>发表于顶刊JMLR，提出全新的复杂度度量标准，成为学界与工业界在主动学习领域的通用理论依据。</a:t>
            </a:r>
            <a:endParaRPr lang="en-US" sz="1100"/>
          </a:p>
        </p:txBody>
      </p:sp>
      <p:sp>
        <p:nvSpPr>
          <p:cNvPr id="10" name="AutoShape 10"/>
          <p:cNvSpPr/>
          <p:nvPr/>
        </p:nvSpPr>
        <p:spPr>
          <a:xfrm>
            <a:off x="4381500" y="3302000"/>
            <a:ext cx="3429000" cy="1714500"/>
          </a:xfrm>
          <a:prstGeom prst="roundRect">
            <a:avLst>
              <a:gd name="adj" fmla="val 0"/>
            </a:avLst>
          </a:prstGeom>
          <a:solidFill>
            <a:srgbClr val="FFFFFF">
              <a:alpha val="5000"/>
            </a:srgbClr>
          </a:solidFill>
          <a:ln w="12700" cap="flat" cmpd="sng">
            <a:solidFill>
              <a:srgbClr val="00F0FF">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572000" y="34925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0F0FF"/>
                </a:solidFill>
                <a:latin typeface="Noto Sans SC"/>
                <a:ea typeface="Noto Sans SC"/>
                <a:cs typeface="Noto Sans SC"/>
                <a:sym typeface="Noto Sans SC"/>
              </a:rPr>
              <a:t>攻克领域开放难题</a:t>
            </a:r>
            <a:endParaRPr lang="en-US" sz="1100"/>
          </a:p>
        </p:txBody>
      </p:sp>
      <p:sp>
        <p:nvSpPr>
          <p:cNvPr id="12" name="AutoShape 12"/>
          <p:cNvSpPr/>
          <p:nvPr/>
        </p:nvSpPr>
        <p:spPr>
          <a:xfrm>
            <a:off x="4572000" y="38735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D1D5DB"/>
                </a:solidFill>
                <a:latin typeface="Noto Sans SC"/>
                <a:ea typeface="Noto Sans SC"/>
                <a:cs typeface="Noto Sans SC"/>
                <a:sym typeface="Noto Sans SC"/>
              </a:rPr>
              <a:t>基于可识别混合假设的主动学习研究，解决了该领域长期遗留的理论开放问题，为小样本场景提供坚实支撑。</a:t>
            </a:r>
            <a:endParaRPr lang="en-US" sz="1100"/>
          </a:p>
        </p:txBody>
      </p:sp>
      <p:sp>
        <p:nvSpPr>
          <p:cNvPr id="13" name="AutoShape 13"/>
          <p:cNvSpPr/>
          <p:nvPr/>
        </p:nvSpPr>
        <p:spPr>
          <a:xfrm>
            <a:off x="8001000" y="3302000"/>
            <a:ext cx="3429000" cy="1714500"/>
          </a:xfrm>
          <a:prstGeom prst="roundRect">
            <a:avLst>
              <a:gd name="adj" fmla="val 0"/>
            </a:avLst>
          </a:prstGeom>
          <a:solidFill>
            <a:srgbClr val="FFFFFF">
              <a:alpha val="5000"/>
            </a:srgbClr>
          </a:solidFill>
          <a:ln w="12700" cap="flat" cmpd="sng">
            <a:solidFill>
              <a:srgbClr val="00F0FF">
                <a:alpha val="2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8191500" y="34925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00F0FF"/>
                </a:solidFill>
                <a:latin typeface="Noto Sans SC"/>
                <a:ea typeface="Noto Sans SC"/>
                <a:cs typeface="Noto Sans SC"/>
                <a:sym typeface="Noto Sans SC"/>
              </a:rPr>
              <a:t>大幅提升学习效率</a:t>
            </a:r>
            <a:endParaRPr lang="en-US" sz="1100"/>
          </a:p>
        </p:txBody>
      </p:sp>
      <p:sp>
        <p:nvSpPr>
          <p:cNvPr id="15" name="AutoShape 15"/>
          <p:cNvSpPr/>
          <p:nvPr/>
        </p:nvSpPr>
        <p:spPr>
          <a:xfrm>
            <a:off x="8191500" y="3873500"/>
            <a:ext cx="304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D1D5DB"/>
                </a:solidFill>
                <a:latin typeface="Noto Sans SC"/>
                <a:ea typeface="Noto Sans SC"/>
                <a:cs typeface="Noto Sans SC"/>
                <a:sym typeface="Noto Sans SC"/>
              </a:rPr>
              <a:t>通过替代损失函数的优化研究，显著降低模型训练成本，在低数据量场景下实现学习速度与精度的双重飞跃。</a:t>
            </a:r>
            <a:endParaRPr lang="en-US" sz="1100"/>
          </a:p>
        </p:txBody>
      </p:sp>
      <p:cxnSp>
        <p:nvCxnSpPr>
          <p:cNvPr id="16" name="Connector 16"/>
          <p:cNvCxnSpPr/>
          <p:nvPr/>
        </p:nvCxnSpPr>
        <p:spPr>
          <a:xfrm rot="-4092">
            <a:off x="762004" y="5264150"/>
            <a:ext cx="10668000" cy="12700"/>
          </a:xfrm>
          <a:prstGeom prst="straightConnector1">
            <a:avLst/>
          </a:prstGeom>
          <a:solidFill>
            <a:srgbClr val="DEE0E3">
              <a:alpha val="100000"/>
            </a:srgbClr>
          </a:solidFill>
          <a:ln w="12700" cap="flat" cmpd="sng">
            <a:solidFill>
              <a:srgbClr val="00F0FF">
                <a:alpha val="20000"/>
              </a:srgbClr>
            </a:solidFill>
            <a:prstDash val="dash"/>
            <a:round/>
            <a:headEnd type="none" w="med" len="med"/>
            <a:tailEnd type="none" w="med" len="med"/>
          </a:ln>
        </p:spPr>
      </p:cxnSp>
      <p:pic>
        <p:nvPicPr>
          <p:cNvPr id="17" name="Picture 1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5524500"/>
            <a:ext cx="304800" cy="304800"/>
          </a:xfrm>
          <a:prstGeom prst="rect">
            <a:avLst/>
          </a:prstGeom>
        </p:spPr>
      </p:pic>
      <p:sp>
        <p:nvSpPr>
          <p:cNvPr id="18" name="AutoShape 18"/>
          <p:cNvSpPr/>
          <p:nvPr/>
        </p:nvSpPr>
        <p:spPr>
          <a:xfrm>
            <a:off x="1193800" y="5486400"/>
            <a:ext cx="304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个性化医疗</a:t>
            </a:r>
            <a:endParaRPr lang="en-US" sz="1100"/>
          </a:p>
          <a:p>
            <a:pPr marL="0" indent="0" algn="l">
              <a:lnSpc>
                <a:spcPct val="125000"/>
              </a:lnSpc>
            </a:pPr>
            <a:r>
              <a:rPr lang="en-US" sz="1300" b="0" i="0" u="none" strike="noStrike">
                <a:solidFill>
                  <a:srgbClr val="9CA3AF"/>
                </a:solidFill>
                <a:latin typeface="Noto Sans SC"/>
                <a:ea typeface="Noto Sans SC"/>
                <a:cs typeface="Noto Sans SC"/>
                <a:sym typeface="Noto Sans SC"/>
              </a:rPr>
              <a:t>低样本下的精准诊断与方案定制，打破数据稀缺限制</a:t>
            </a:r>
            <a:endParaRPr lang="en-US" sz="1300" b="0" i="0" u="none" strike="noStrike">
              <a:solidFill>
                <a:srgbClr val="9CA3AF"/>
              </a:solidFill>
              <a:latin typeface="Noto Sans SC"/>
              <a:ea typeface="Noto Sans SC"/>
              <a:cs typeface="Noto Sans SC"/>
              <a:sym typeface="Noto Sans SC"/>
            </a:endParaRPr>
          </a:p>
        </p:txBody>
      </p:sp>
      <p:pic>
        <p:nvPicPr>
          <p:cNvPr id="19" name="Picture 1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81500" y="5524500"/>
            <a:ext cx="304800" cy="304800"/>
          </a:xfrm>
          <a:prstGeom prst="rect">
            <a:avLst/>
          </a:prstGeom>
        </p:spPr>
      </p:pic>
      <p:sp>
        <p:nvSpPr>
          <p:cNvPr id="20" name="AutoShape 20"/>
          <p:cNvSpPr/>
          <p:nvPr/>
        </p:nvSpPr>
        <p:spPr>
          <a:xfrm>
            <a:off x="4813300" y="5486400"/>
            <a:ext cx="304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高端制造</a:t>
            </a:r>
            <a:endParaRPr lang="en-US" sz="1100"/>
          </a:p>
          <a:p>
            <a:pPr marL="0" indent="0" algn="l">
              <a:lnSpc>
                <a:spcPct val="125000"/>
              </a:lnSpc>
            </a:pPr>
            <a:r>
              <a:rPr lang="en-US" sz="1300" b="0" i="0" u="none" strike="noStrike">
                <a:solidFill>
                  <a:srgbClr val="9CA3AF"/>
                </a:solidFill>
                <a:latin typeface="Noto Sans SC"/>
                <a:ea typeface="Noto Sans SC"/>
                <a:cs typeface="Noto Sans SC"/>
                <a:sym typeface="Noto Sans SC"/>
              </a:rPr>
              <a:t>产线调试与故障检测的快速适配，降低试错成本</a:t>
            </a:r>
            <a:endParaRPr lang="en-US" sz="1300" b="0" i="0" u="none" strike="noStrike">
              <a:solidFill>
                <a:srgbClr val="9CA3AF"/>
              </a:solidFill>
              <a:latin typeface="Noto Sans SC"/>
              <a:ea typeface="Noto Sans SC"/>
              <a:cs typeface="Noto Sans SC"/>
              <a:sym typeface="Noto Sans SC"/>
            </a:endParaRPr>
          </a:p>
        </p:txBody>
      </p:sp>
      <p:pic>
        <p:nvPicPr>
          <p:cNvPr id="21" name="Picture 2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001000" y="5524500"/>
            <a:ext cx="304800" cy="304800"/>
          </a:xfrm>
          <a:prstGeom prst="rect">
            <a:avLst/>
          </a:prstGeom>
        </p:spPr>
      </p:pic>
      <p:sp>
        <p:nvSpPr>
          <p:cNvPr id="22" name="AutoShape 22"/>
          <p:cNvSpPr/>
          <p:nvPr/>
        </p:nvSpPr>
        <p:spPr>
          <a:xfrm>
            <a:off x="8432800" y="5486400"/>
            <a:ext cx="304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a:ea typeface="Noto Sans SC"/>
                <a:cs typeface="Noto Sans SC"/>
                <a:sym typeface="Noto Sans SC"/>
              </a:rPr>
              <a:t>航天探索</a:t>
            </a:r>
            <a:endParaRPr lang="en-US" sz="1100"/>
          </a:p>
          <a:p>
            <a:pPr marL="0" indent="0" algn="l">
              <a:lnSpc>
                <a:spcPct val="125000"/>
              </a:lnSpc>
            </a:pPr>
            <a:r>
              <a:rPr lang="en-US" sz="1300" b="0" i="0" u="none" strike="noStrike">
                <a:solidFill>
                  <a:srgbClr val="9CA3AF"/>
                </a:solidFill>
                <a:latin typeface="Noto Sans SC"/>
                <a:ea typeface="Noto Sans SC"/>
                <a:cs typeface="Noto Sans SC"/>
                <a:sym typeface="Noto Sans SC"/>
              </a:rPr>
              <a:t>极端环境下的自主决策与系统优化，保障任务可靠性</a:t>
            </a:r>
            <a:endParaRPr lang="en-US" sz="1300" b="0" i="0" u="none" strike="noStrike">
              <a:solidFill>
                <a:srgbClr val="9CA3AF"/>
              </a:solidFill>
              <a:latin typeface="Noto Sans SC"/>
              <a:ea typeface="Noto Sans SC"/>
              <a:cs typeface="Noto Sans SC"/>
              <a:sym typeface="Noto Sans SC"/>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F0FF"/>
                </a:solidFill>
                <a:latin typeface="Noto Sans SC"/>
                <a:ea typeface="Noto Sans SC"/>
                <a:cs typeface="Noto Sans SC"/>
                <a:sym typeface="Noto Sans SC"/>
              </a:rPr>
              <a:t>壁垒二：泛化抽象能力——从“经验记忆”到“知识迁移”</a:t>
            </a:r>
            <a:endParaRPr lang="en-US" sz="1100"/>
          </a:p>
        </p:txBody>
      </p:sp>
      <p:sp>
        <p:nvSpPr>
          <p:cNvPr id="4" name="AutoShape 4"/>
          <p:cNvSpPr/>
          <p:nvPr/>
        </p:nvSpPr>
        <p:spPr>
          <a:xfrm>
            <a:off x="762000" y="1714500"/>
            <a:ext cx="10668000" cy="1397000"/>
          </a:xfrm>
          <a:prstGeom prst="roundRect">
            <a:avLst>
              <a:gd name="adj" fmla="val 0"/>
            </a:avLst>
          </a:prstGeom>
          <a:solidFill>
            <a:srgbClr val="00F0FF">
              <a:alpha val="8000"/>
            </a:srgbClr>
          </a:solidFill>
          <a:ln w="12700" cap="flat" cmpd="sng">
            <a:solidFill>
              <a:srgbClr val="00F0FF">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68500"/>
            <a:ext cx="457200" cy="457200"/>
          </a:xfrm>
          <a:prstGeom prst="rect">
            <a:avLst/>
          </a:prstGeom>
        </p:spPr>
      </p:pic>
      <p:sp>
        <p:nvSpPr>
          <p:cNvPr id="6" name="AutoShape 6"/>
          <p:cNvSpPr/>
          <p:nvPr/>
        </p:nvSpPr>
        <p:spPr>
          <a:xfrm>
            <a:off x="1651000" y="1930400"/>
            <a:ext cx="965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0FF"/>
                </a:solidFill>
                <a:latin typeface="Noto Sans SC"/>
                <a:ea typeface="Noto Sans SC"/>
                <a:cs typeface="Noto Sans SC"/>
                <a:sym typeface="Noto Sans SC"/>
              </a:rPr>
              <a:t>问题解决：从“经验归纳”到“认知迁移”</a:t>
            </a:r>
            <a:endParaRPr lang="en-US" sz="1100"/>
          </a:p>
        </p:txBody>
      </p:sp>
      <p:sp>
        <p:nvSpPr>
          <p:cNvPr id="7" name="AutoShape 7"/>
          <p:cNvSpPr/>
          <p:nvPr/>
        </p:nvSpPr>
        <p:spPr>
          <a:xfrm>
            <a:off x="1651000" y="2349500"/>
            <a:ext cx="9652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FFFFFF">
                    <a:alpha val="80000"/>
                  </a:srgbClr>
                </a:solidFill>
                <a:latin typeface="Noto Sans SC"/>
                <a:ea typeface="Noto Sans SC"/>
                <a:cs typeface="Noto Sans SC"/>
                <a:sym typeface="Noto Sans SC"/>
              </a:rPr>
              <a:t>模型具备从海量事件流中提炼结构化、可复用经验认知的能力，并能跨用户、跨行业迁移复用。不再是孤立的“任务专家”，而是具备触类旁通的“通识能力”，打破场景与行业的壁垒。</a:t>
            </a:r>
            <a:endParaRPr lang="en-US" sz="1100"/>
          </a:p>
        </p:txBody>
      </p:sp>
      <p:sp>
        <p:nvSpPr>
          <p:cNvPr id="8" name="AutoShape 8"/>
          <p:cNvSpPr/>
          <p:nvPr/>
        </p:nvSpPr>
        <p:spPr>
          <a:xfrm>
            <a:off x="762000" y="3365500"/>
            <a:ext cx="3429000" cy="1968500"/>
          </a:xfrm>
          <a:prstGeom prst="roundRect">
            <a:avLst>
              <a:gd name="adj" fmla="val 0"/>
            </a:avLst>
          </a:prstGeom>
          <a:solidFill>
            <a:srgbClr val="00F0FF">
              <a:alpha val="8000"/>
            </a:srgbClr>
          </a:solidFill>
          <a:ln w="12700" cap="flat" cmpd="sng">
            <a:solidFill>
              <a:srgbClr val="00F0FF">
                <a:alpha val="2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952500" y="35560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F0FF"/>
                </a:solidFill>
                <a:latin typeface="Noto Sans SC"/>
                <a:ea typeface="Noto Sans SC"/>
                <a:cs typeface="Noto Sans SC"/>
                <a:sym typeface="Noto Sans SC"/>
              </a:rPr>
              <a:t>主动学习融合框架</a:t>
            </a:r>
            <a:endParaRPr lang="en-US" sz="1100"/>
          </a:p>
        </p:txBody>
      </p:sp>
      <p:sp>
        <p:nvSpPr>
          <p:cNvPr id="10" name="AutoShape 10"/>
          <p:cNvSpPr/>
          <p:nvPr/>
        </p:nvSpPr>
        <p:spPr>
          <a:xfrm>
            <a:off x="952500" y="396240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70196"/>
                  </a:srgbClr>
                </a:solidFill>
                <a:latin typeface="Noto Sans SC"/>
                <a:ea typeface="Noto Sans SC"/>
                <a:cs typeface="Noto Sans SC"/>
                <a:sym typeface="Noto Sans SC"/>
              </a:rPr>
              <a:t>基于论文《A Theory of Transfer Learning...》，建立主动学习与迁移学习相结合的理论框架，为模型的高效迭代与知识复用奠定核心理论基础。</a:t>
            </a:r>
            <a:endParaRPr lang="en-US" sz="1100"/>
          </a:p>
        </p:txBody>
      </p:sp>
      <p:sp>
        <p:nvSpPr>
          <p:cNvPr id="11" name="AutoShape 11"/>
          <p:cNvSpPr/>
          <p:nvPr/>
        </p:nvSpPr>
        <p:spPr>
          <a:xfrm>
            <a:off x="4381500" y="3365500"/>
            <a:ext cx="3429000" cy="1968500"/>
          </a:xfrm>
          <a:prstGeom prst="roundRect">
            <a:avLst>
              <a:gd name="adj" fmla="val 0"/>
            </a:avLst>
          </a:prstGeom>
          <a:solidFill>
            <a:srgbClr val="00F0FF">
              <a:alpha val="8000"/>
            </a:srgbClr>
          </a:solidFill>
          <a:ln w="12700" cap="flat" cmpd="sng">
            <a:solidFill>
              <a:srgbClr val="00F0FF">
                <a:alpha val="2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572000" y="35560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F0FF"/>
                </a:solidFill>
                <a:latin typeface="Noto Sans SC"/>
                <a:ea typeface="Noto Sans SC"/>
                <a:cs typeface="Noto Sans SC"/>
                <a:sym typeface="Noto Sans SC"/>
              </a:rPr>
              <a:t>数学保证与性能边界</a:t>
            </a:r>
            <a:endParaRPr lang="en-US" sz="1100"/>
          </a:p>
        </p:txBody>
      </p:sp>
      <p:sp>
        <p:nvSpPr>
          <p:cNvPr id="13" name="AutoShape 13"/>
          <p:cNvSpPr/>
          <p:nvPr/>
        </p:nvSpPr>
        <p:spPr>
          <a:xfrm>
            <a:off x="4572000" y="396240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70196"/>
                  </a:srgbClr>
                </a:solidFill>
                <a:latin typeface="Noto Sans SC"/>
                <a:ea typeface="Noto Sans SC"/>
                <a:cs typeface="Noto Sans SC"/>
                <a:sym typeface="Noto Sans SC"/>
              </a:rPr>
              <a:t>《Bounds on the Minimax Rate...》为经验归纳能力提供严谨的数学理论保证，明确模型在复杂场景下的泛化性能边界与优化方向。</a:t>
            </a:r>
            <a:endParaRPr lang="en-US" sz="1100"/>
          </a:p>
        </p:txBody>
      </p:sp>
      <p:sp>
        <p:nvSpPr>
          <p:cNvPr id="14" name="AutoShape 14"/>
          <p:cNvSpPr/>
          <p:nvPr/>
        </p:nvSpPr>
        <p:spPr>
          <a:xfrm>
            <a:off x="8001000" y="3365500"/>
            <a:ext cx="3429000" cy="1968500"/>
          </a:xfrm>
          <a:prstGeom prst="roundRect">
            <a:avLst>
              <a:gd name="adj" fmla="val 0"/>
            </a:avLst>
          </a:prstGeom>
          <a:solidFill>
            <a:srgbClr val="00F0FF">
              <a:alpha val="8000"/>
            </a:srgbClr>
          </a:solidFill>
          <a:ln w="12700" cap="flat" cmpd="sng">
            <a:solidFill>
              <a:srgbClr val="00F0FF">
                <a:alpha val="2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8191500" y="35560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00F0FF"/>
                </a:solidFill>
                <a:latin typeface="Noto Sans SC"/>
                <a:ea typeface="Noto Sans SC"/>
                <a:cs typeface="Noto Sans SC"/>
                <a:sym typeface="Noto Sans SC"/>
              </a:rPr>
              <a:t>前沿理论探索 (COLT 2023)</a:t>
            </a:r>
            <a:endParaRPr lang="en-US" sz="1100"/>
          </a:p>
        </p:txBody>
      </p:sp>
      <p:sp>
        <p:nvSpPr>
          <p:cNvPr id="16" name="AutoShape 16"/>
          <p:cNvSpPr/>
          <p:nvPr/>
        </p:nvSpPr>
        <p:spPr>
          <a:xfrm>
            <a:off x="8191500" y="3962400"/>
            <a:ext cx="3048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FFFFFF">
                    <a:alpha val="70196"/>
                  </a:srgbClr>
                </a:solidFill>
                <a:latin typeface="Noto Sans SC"/>
                <a:ea typeface="Noto Sans SC"/>
                <a:cs typeface="Noto Sans SC"/>
                <a:sym typeface="Noto Sans SC"/>
              </a:rPr>
              <a:t>发表于顶级理论会议COLT 2023的《Bandit Learnability...》，展示了在机器学习理论前沿的探索能力，突破传统范式的认知局限。</a:t>
            </a:r>
            <a:endParaRPr lang="en-US" sz="1100"/>
          </a:p>
        </p:txBody>
      </p:sp>
      <p:sp>
        <p:nvSpPr>
          <p:cNvPr id="17" name="AutoShape 17"/>
          <p:cNvSpPr/>
          <p:nvPr/>
        </p:nvSpPr>
        <p:spPr>
          <a:xfrm>
            <a:off x="762000" y="5461000"/>
            <a:ext cx="10668000" cy="1079500"/>
          </a:xfrm>
          <a:prstGeom prst="roundRect">
            <a:avLst>
              <a:gd name="adj" fmla="val 0"/>
            </a:avLst>
          </a:prstGeom>
          <a:solidFill>
            <a:srgbClr val="00F0FF">
              <a:alpha val="8000"/>
            </a:srgbClr>
          </a:solidFill>
          <a:ln w="12700" cap="flat" cmpd="sng">
            <a:solidFill>
              <a:srgbClr val="00F0FF">
                <a:alpha val="2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5689600"/>
            <a:ext cx="406400" cy="406400"/>
          </a:xfrm>
          <a:prstGeom prst="rect">
            <a:avLst/>
          </a:prstGeom>
        </p:spPr>
      </p:pic>
      <p:sp>
        <p:nvSpPr>
          <p:cNvPr id="19" name="AutoShape 19"/>
          <p:cNvSpPr/>
          <p:nvPr/>
        </p:nvSpPr>
        <p:spPr>
          <a:xfrm>
            <a:off x="1651000" y="5588000"/>
            <a:ext cx="965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00F0FF"/>
                </a:solidFill>
                <a:latin typeface="Noto Sans SC"/>
                <a:ea typeface="Noto Sans SC"/>
                <a:cs typeface="Noto Sans SC"/>
                <a:sym typeface="Noto Sans SC"/>
              </a:rPr>
              <a:t>行业迁移应用：</a:t>
            </a:r>
            <a:r>
              <a:rPr lang="en-US" sz="1400" b="0" i="0" u="none" strike="noStrike">
                <a:solidFill>
                  <a:srgbClr val="FFFFFF">
                    <a:alpha val="80000"/>
                  </a:srgbClr>
                </a:solidFill>
                <a:latin typeface="Noto Sans SC"/>
                <a:ea typeface="Noto Sans SC"/>
                <a:cs typeface="Noto Sans SC"/>
                <a:sym typeface="Noto Sans SC"/>
              </a:rPr>
              <a:t>模型可快速适配新行业、新场景，例如金融风控模型能无缝迁移至电商反欺诈场景，无需从零训练，极大缩短部署周期，降低算法落地的成本与时间成本。</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cap="flat" cmpd="sng">
            <a:solidFill>
              <a:srgbClr val="000000">
                <a:alpha val="8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0" y="1714500"/>
            <a:ext cx="12192000" cy="177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0" b="1" i="0" u="none" strike="noStrike">
                <a:solidFill>
                  <a:srgbClr val="00F0FF"/>
                </a:solidFill>
                <a:latin typeface="Noto Sans SC"/>
                <a:ea typeface="Noto Sans SC"/>
                <a:cs typeface="Noto Sans SC"/>
                <a:sym typeface="Noto Sans SC"/>
              </a:rPr>
              <a:t>04</a:t>
            </a:r>
            <a:endParaRPr lang="en-US" sz="1100"/>
          </a:p>
        </p:txBody>
      </p:sp>
      <p:sp>
        <p:nvSpPr>
          <p:cNvPr id="4" name="AutoShape 4"/>
          <p:cNvSpPr/>
          <p:nvPr/>
        </p:nvSpPr>
        <p:spPr>
          <a:xfrm>
            <a:off x="0" y="3746500"/>
            <a:ext cx="12192000" cy="1016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0F0F0"/>
                </a:solidFill>
                <a:latin typeface="Noto Sans SC"/>
                <a:ea typeface="Noto Sans SC"/>
                <a:cs typeface="Noto Sans SC"/>
                <a:sym typeface="Noto Sans SC"/>
              </a:rPr>
              <a:t>世界级团队与未来蓝图</a:t>
            </a:r>
            <a:endParaRPr lang="en-US" sz="1100"/>
          </a:p>
        </p:txBody>
      </p:sp>
      <p:sp>
        <p:nvSpPr>
          <p:cNvPr id="5" name="AutoShape 5"/>
          <p:cNvSpPr/>
          <p:nvPr/>
        </p:nvSpPr>
        <p:spPr>
          <a:xfrm>
            <a:off x="0" y="5270500"/>
            <a:ext cx="12192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200" b="0" i="0" u="none" strike="noStrike" spc="300">
                <a:solidFill>
                  <a:srgbClr val="F0F0F0">
                    <a:alpha val="65098"/>
                  </a:srgbClr>
                </a:solidFill>
                <a:latin typeface="Noto Sans SC"/>
                <a:ea typeface="Noto Sans SC"/>
                <a:cs typeface="Noto Sans SC"/>
                <a:sym typeface="Noto Sans SC"/>
              </a:rPr>
              <a:t>汇聚顶尖智慧，共创AGI未来</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F0FF"/>
                </a:solidFill>
                <a:latin typeface="Noto Sans SC"/>
                <a:ea typeface="Noto Sans SC"/>
                <a:cs typeface="Noto Sans SC"/>
                <a:sym typeface="Noto Sans SC"/>
              </a:rPr>
              <a:t>我们的基石：汇聚全球顶尖智慧的创始团队</a:t>
            </a:r>
            <a:endParaRPr lang="en-US" sz="1100"/>
          </a:p>
        </p:txBody>
      </p:sp>
      <p:sp>
        <p:nvSpPr>
          <p:cNvPr id="4" name="AutoShape 4"/>
          <p:cNvSpPr/>
          <p:nvPr/>
        </p:nvSpPr>
        <p:spPr>
          <a:xfrm>
            <a:off x="762000" y="1524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5E7EB">
                    <a:alpha val="80000"/>
                  </a:srgbClr>
                </a:solidFill>
                <a:latin typeface="Noto Sans SC"/>
                <a:ea typeface="Noto Sans SC"/>
                <a:cs typeface="Noto Sans SC"/>
                <a:sym typeface="Noto Sans SC"/>
              </a:rPr>
              <a:t>Volvence的团队是一支完整融合了</a:t>
            </a:r>
            <a:r>
              <a:rPr lang="en-US" sz="1400" b="1" i="0" u="none" strike="noStrike">
                <a:solidFill>
                  <a:srgbClr val="00F0FF"/>
                </a:solidFill>
                <a:latin typeface="Noto Sans SC"/>
                <a:ea typeface="Noto Sans SC"/>
                <a:cs typeface="Noto Sans SC"/>
                <a:sym typeface="Noto Sans SC"/>
              </a:rPr>
              <a:t>顶尖科研、全栈工程与成功商业</a:t>
            </a:r>
            <a:r>
              <a:rPr lang="en-US" sz="1400" b="0" i="0" u="none" strike="noStrike">
                <a:solidFill>
                  <a:srgbClr val="E5E7EB">
                    <a:alpha val="80000"/>
                  </a:srgbClr>
                </a:solidFill>
                <a:latin typeface="Noto Sans SC"/>
                <a:ea typeface="Noto Sans SC"/>
                <a:cs typeface="Noto Sans SC"/>
                <a:sym typeface="Noto Sans SC"/>
              </a:rPr>
              <a:t>经验的梦之队，以跨界能力构建技术与商业的双重壁垒，驱动AI技术从实验室走向规模化商业价值。</a:t>
            </a:r>
            <a:endParaRPr lang="en-US" sz="1100"/>
          </a:p>
        </p:txBody>
      </p:sp>
      <p:sp>
        <p:nvSpPr>
          <p:cNvPr id="5" name="AutoShape 5"/>
          <p:cNvSpPr/>
          <p:nvPr/>
        </p:nvSpPr>
        <p:spPr>
          <a:xfrm>
            <a:off x="762000" y="2413000"/>
            <a:ext cx="5270500" cy="1841500"/>
          </a:xfrm>
          <a:prstGeom prst="roundRect">
            <a:avLst>
              <a:gd name="adj" fmla="val 0"/>
            </a:avLst>
          </a:prstGeom>
          <a:solidFill>
            <a:srgbClr val="00F0FF">
              <a:alpha val="8000"/>
            </a:srgbClr>
          </a:solidFill>
          <a:ln w="12700" cap="flat" cmpd="sng">
            <a:solidFill>
              <a:srgbClr val="00F0FF">
                <a:alpha val="25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952500" y="25654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0FF"/>
                </a:solidFill>
                <a:latin typeface="Noto Sans SC"/>
                <a:ea typeface="Noto Sans SC"/>
                <a:cs typeface="Noto Sans SC"/>
                <a:sym typeface="Noto Sans SC"/>
              </a:rPr>
              <a:t>CEO 赵江波</a:t>
            </a:r>
            <a:r>
              <a:rPr lang="en-US" sz="1200" b="0" i="0" u="none" strike="noStrike">
                <a:solidFill>
                  <a:srgbClr val="9CA3AF"/>
                </a:solidFill>
                <a:latin typeface="Noto Sans SC"/>
                <a:ea typeface="Noto Sans SC"/>
                <a:cs typeface="Noto Sans SC"/>
                <a:sym typeface="Noto Sans SC"/>
              </a:rPr>
              <a:t>| 商业战略与价值掌舵人</a:t>
            </a:r>
            <a:endParaRPr lang="en-US" sz="1100"/>
          </a:p>
        </p:txBody>
      </p:sp>
      <p:sp>
        <p:nvSpPr>
          <p:cNvPr id="7" name="AutoShape 7"/>
          <p:cNvSpPr/>
          <p:nvPr/>
        </p:nvSpPr>
        <p:spPr>
          <a:xfrm>
            <a:off x="952500" y="3022600"/>
            <a:ext cx="488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D1D5DB"/>
                </a:solidFill>
                <a:latin typeface="Noto Sans SC"/>
                <a:ea typeface="Noto Sans SC"/>
                <a:cs typeface="Noto Sans SC"/>
                <a:sym typeface="Noto Sans SC"/>
              </a:rPr>
              <a:t>• 连续创业者，拥有成功退出经验，深谙商业本质与增长逻辑</a:t>
            </a:r>
            <a:endParaRPr lang="en-US" sz="1100"/>
          </a:p>
          <a:p>
            <a:pPr marL="0" indent="0" algn="l">
              <a:lnSpc>
                <a:spcPct val="108000"/>
              </a:lnSpc>
            </a:pPr>
            <a:r>
              <a:rPr lang="en-US" sz="1300" b="0" i="0" u="none" strike="noStrike">
                <a:solidFill>
                  <a:srgbClr val="D1D5DB"/>
                </a:solidFill>
                <a:latin typeface="Noto Sans SC"/>
                <a:ea typeface="Noto Sans SC"/>
                <a:cs typeface="Noto Sans SC"/>
                <a:sym typeface="Noto Sans SC"/>
              </a:rPr>
              <a:t>• 具备敏锐的市场洞察力与长期战略远见，锚定业务发展方向</a:t>
            </a:r>
            <a:endParaRPr lang="en-US" sz="1300" b="0" i="0" u="none" strike="noStrike">
              <a:solidFill>
                <a:srgbClr val="D1D5DB"/>
              </a:solidFill>
              <a:latin typeface="Noto Sans SC"/>
              <a:ea typeface="Noto Sans SC"/>
              <a:cs typeface="Noto Sans SC"/>
              <a:sym typeface="Noto Sans SC"/>
            </a:endParaRPr>
          </a:p>
          <a:p>
            <a:pPr marL="0" indent="0" algn="l">
              <a:lnSpc>
                <a:spcPct val="108000"/>
              </a:lnSpc>
            </a:pPr>
            <a:r>
              <a:rPr lang="en-US" sz="1300" b="0" i="0" u="none" strike="noStrike">
                <a:solidFill>
                  <a:srgbClr val="D1D5DB"/>
                </a:solidFill>
                <a:latin typeface="Noto Sans SC"/>
                <a:ea typeface="Noto Sans SC"/>
                <a:cs typeface="Noto Sans SC"/>
                <a:sym typeface="Noto Sans SC"/>
              </a:rPr>
              <a:t>• 连接前沿AI技术与商业场景，实现技术价值的商业化落地</a:t>
            </a:r>
            <a:endParaRPr lang="en-US" sz="1300" b="0" i="0" u="none" strike="noStrike">
              <a:solidFill>
                <a:srgbClr val="D1D5DB"/>
              </a:solidFill>
              <a:latin typeface="Noto Sans SC"/>
              <a:ea typeface="Noto Sans SC"/>
              <a:cs typeface="Noto Sans SC"/>
              <a:sym typeface="Noto Sans SC"/>
            </a:endParaRPr>
          </a:p>
        </p:txBody>
      </p:sp>
      <p:sp>
        <p:nvSpPr>
          <p:cNvPr id="8" name="AutoShape 8"/>
          <p:cNvSpPr/>
          <p:nvPr/>
        </p:nvSpPr>
        <p:spPr>
          <a:xfrm>
            <a:off x="6286500" y="2413000"/>
            <a:ext cx="5270500" cy="1841500"/>
          </a:xfrm>
          <a:prstGeom prst="roundRect">
            <a:avLst>
              <a:gd name="adj" fmla="val 0"/>
            </a:avLst>
          </a:prstGeom>
          <a:solidFill>
            <a:srgbClr val="00F0FF">
              <a:alpha val="8000"/>
            </a:srgbClr>
          </a:solidFill>
          <a:ln w="12700" cap="flat" cmpd="sng">
            <a:solidFill>
              <a:srgbClr val="00F0FF">
                <a:alpha val="25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477000" y="25654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0FF"/>
                </a:solidFill>
                <a:latin typeface="Noto Sans SC"/>
                <a:ea typeface="Noto Sans SC"/>
                <a:cs typeface="Noto Sans SC"/>
                <a:sym typeface="Noto Sans SC"/>
              </a:rPr>
              <a:t>首席科学家 杨柳</a:t>
            </a:r>
            <a:r>
              <a:rPr lang="en-US" sz="1200" b="0" i="0" u="none" strike="noStrike">
                <a:solidFill>
                  <a:srgbClr val="9CA3AF"/>
                </a:solidFill>
                <a:latin typeface="Noto Sans SC"/>
                <a:ea typeface="Noto Sans SC"/>
                <a:cs typeface="Noto Sans SC"/>
                <a:sym typeface="Noto Sans SC"/>
              </a:rPr>
              <a:t>| 技术壁垒总设计师</a:t>
            </a:r>
            <a:endParaRPr lang="en-US" sz="1100"/>
          </a:p>
        </p:txBody>
      </p:sp>
      <p:sp>
        <p:nvSpPr>
          <p:cNvPr id="10" name="AutoShape 10"/>
          <p:cNvSpPr/>
          <p:nvPr/>
        </p:nvSpPr>
        <p:spPr>
          <a:xfrm>
            <a:off x="6477000" y="3022600"/>
            <a:ext cx="488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D1D5DB"/>
                </a:solidFill>
                <a:latin typeface="Noto Sans SC"/>
                <a:ea typeface="Noto Sans SC"/>
                <a:cs typeface="Noto Sans SC"/>
                <a:sym typeface="Noto Sans SC"/>
              </a:rPr>
              <a:t>• 全球主动学习领域奠基者之一，拥有深厚的学术与技术造诣</a:t>
            </a:r>
            <a:endParaRPr lang="en-US" sz="1100"/>
          </a:p>
          <a:p>
            <a:pPr marL="0" indent="0" algn="l">
              <a:lnSpc>
                <a:spcPct val="108000"/>
              </a:lnSpc>
            </a:pPr>
            <a:r>
              <a:rPr lang="en-US" sz="1300" b="0" i="0" u="none" strike="noStrike">
                <a:solidFill>
                  <a:srgbClr val="D1D5DB"/>
                </a:solidFill>
                <a:latin typeface="Noto Sans SC"/>
                <a:ea typeface="Noto Sans SC"/>
                <a:cs typeface="Noto Sans SC"/>
                <a:sym typeface="Noto Sans SC"/>
              </a:rPr>
              <a:t>• CMU机器学习博士，师从图灵奖得主，视野开阔、功底扎实</a:t>
            </a:r>
            <a:endParaRPr lang="en-US" sz="1300" b="0" i="0" u="none" strike="noStrike">
              <a:solidFill>
                <a:srgbClr val="D1D5DB"/>
              </a:solidFill>
              <a:latin typeface="Noto Sans SC"/>
              <a:ea typeface="Noto Sans SC"/>
              <a:cs typeface="Noto Sans SC"/>
              <a:sym typeface="Noto Sans SC"/>
            </a:endParaRPr>
          </a:p>
          <a:p>
            <a:pPr marL="0" indent="0" algn="l">
              <a:lnSpc>
                <a:spcPct val="108000"/>
              </a:lnSpc>
            </a:pPr>
            <a:r>
              <a:rPr lang="en-US" sz="1300" b="0" i="0" u="none" strike="noStrike">
                <a:solidFill>
                  <a:srgbClr val="D1D5DB"/>
                </a:solidFill>
                <a:latin typeface="Noto Sans SC"/>
                <a:ea typeface="Noto Sans SC"/>
                <a:cs typeface="Noto Sans SC"/>
                <a:sym typeface="Noto Sans SC"/>
              </a:rPr>
              <a:t>• 20年AI研究积淀，为公司技术架构筑牢理论与应用根基</a:t>
            </a:r>
            <a:endParaRPr lang="en-US" sz="1300" b="0" i="0" u="none" strike="noStrike">
              <a:solidFill>
                <a:srgbClr val="D1D5DB"/>
              </a:solidFill>
              <a:latin typeface="Noto Sans SC"/>
              <a:ea typeface="Noto Sans SC"/>
              <a:cs typeface="Noto Sans SC"/>
              <a:sym typeface="Noto Sans SC"/>
            </a:endParaRPr>
          </a:p>
        </p:txBody>
      </p:sp>
      <p:sp>
        <p:nvSpPr>
          <p:cNvPr id="11" name="AutoShape 11"/>
          <p:cNvSpPr/>
          <p:nvPr/>
        </p:nvSpPr>
        <p:spPr>
          <a:xfrm>
            <a:off x="762000" y="4445000"/>
            <a:ext cx="5270500" cy="1841500"/>
          </a:xfrm>
          <a:prstGeom prst="roundRect">
            <a:avLst>
              <a:gd name="adj" fmla="val 0"/>
            </a:avLst>
          </a:prstGeom>
          <a:solidFill>
            <a:srgbClr val="00F0FF">
              <a:alpha val="8000"/>
            </a:srgbClr>
          </a:solidFill>
          <a:ln w="12700" cap="flat" cmpd="sng">
            <a:solidFill>
              <a:srgbClr val="00F0FF">
                <a:alpha val="25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952500" y="45974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0FF"/>
                </a:solidFill>
                <a:latin typeface="Noto Sans SC"/>
                <a:ea typeface="Noto Sans SC"/>
                <a:cs typeface="Noto Sans SC"/>
                <a:sym typeface="Noto Sans SC"/>
              </a:rPr>
              <a:t>研究院院长 马志刚</a:t>
            </a:r>
            <a:r>
              <a:rPr lang="en-US" sz="1200" b="0" i="0" u="none" strike="noStrike">
                <a:solidFill>
                  <a:srgbClr val="9CA3AF"/>
                </a:solidFill>
                <a:latin typeface="Noto Sans SC"/>
                <a:ea typeface="Noto Sans SC"/>
                <a:cs typeface="Noto Sans SC"/>
                <a:sym typeface="Noto Sans SC"/>
              </a:rPr>
              <a:t>| 工程落地与系统核心保障</a:t>
            </a:r>
            <a:endParaRPr lang="en-US" sz="1100"/>
          </a:p>
        </p:txBody>
      </p:sp>
      <p:sp>
        <p:nvSpPr>
          <p:cNvPr id="13" name="AutoShape 13"/>
          <p:cNvSpPr/>
          <p:nvPr/>
        </p:nvSpPr>
        <p:spPr>
          <a:xfrm>
            <a:off x="952500" y="5054600"/>
            <a:ext cx="488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D1D5DB"/>
                </a:solidFill>
                <a:latin typeface="Noto Sans SC"/>
                <a:ea typeface="Noto Sans SC"/>
                <a:cs typeface="Noto Sans SC"/>
                <a:sym typeface="Noto Sans SC"/>
              </a:rPr>
              <a:t>• 前字节跳动技术元老，深耕超大规模分布式AI系统建设</a:t>
            </a:r>
            <a:endParaRPr lang="en-US" sz="1100"/>
          </a:p>
          <a:p>
            <a:pPr marL="0" indent="0" algn="l">
              <a:lnSpc>
                <a:spcPct val="108000"/>
              </a:lnSpc>
            </a:pPr>
            <a:r>
              <a:rPr lang="en-US" sz="1300" b="0" i="0" u="none" strike="noStrike">
                <a:solidFill>
                  <a:srgbClr val="D1D5DB"/>
                </a:solidFill>
                <a:latin typeface="Noto Sans SC"/>
                <a:ea typeface="Noto Sans SC"/>
                <a:cs typeface="Noto Sans SC"/>
                <a:sym typeface="Noto Sans SC"/>
              </a:rPr>
              <a:t>• 主导地图、推荐等高并发场景的系统架构与实战落地</a:t>
            </a:r>
            <a:endParaRPr lang="en-US" sz="1300" b="0" i="0" u="none" strike="noStrike">
              <a:solidFill>
                <a:srgbClr val="D1D5DB"/>
              </a:solidFill>
              <a:latin typeface="Noto Sans SC"/>
              <a:ea typeface="Noto Sans SC"/>
              <a:cs typeface="Noto Sans SC"/>
              <a:sym typeface="Noto Sans SC"/>
            </a:endParaRPr>
          </a:p>
          <a:p>
            <a:pPr marL="0" indent="0" algn="l">
              <a:lnSpc>
                <a:spcPct val="108000"/>
              </a:lnSpc>
            </a:pPr>
            <a:r>
              <a:rPr lang="en-US" sz="1300" b="0" i="0" u="none" strike="noStrike">
                <a:solidFill>
                  <a:srgbClr val="D1D5DB"/>
                </a:solidFill>
                <a:latin typeface="Noto Sans SC"/>
                <a:ea typeface="Noto Sans SC"/>
                <a:cs typeface="Noto Sans SC"/>
                <a:sym typeface="Noto Sans SC"/>
              </a:rPr>
              <a:t>• 保障前沿算法向高可用、高扩展工程系统的高效转化</a:t>
            </a:r>
            <a:endParaRPr lang="en-US" sz="1300" b="0" i="0" u="none" strike="noStrike">
              <a:solidFill>
                <a:srgbClr val="D1D5DB"/>
              </a:solidFill>
              <a:latin typeface="Noto Sans SC"/>
              <a:ea typeface="Noto Sans SC"/>
              <a:cs typeface="Noto Sans SC"/>
              <a:sym typeface="Noto Sans SC"/>
            </a:endParaRPr>
          </a:p>
        </p:txBody>
      </p:sp>
      <p:sp>
        <p:nvSpPr>
          <p:cNvPr id="14" name="AutoShape 14"/>
          <p:cNvSpPr/>
          <p:nvPr/>
        </p:nvSpPr>
        <p:spPr>
          <a:xfrm>
            <a:off x="6286500" y="4445000"/>
            <a:ext cx="5270500" cy="1841500"/>
          </a:xfrm>
          <a:prstGeom prst="roundRect">
            <a:avLst>
              <a:gd name="adj" fmla="val 0"/>
            </a:avLst>
          </a:prstGeom>
          <a:solidFill>
            <a:srgbClr val="00F0FF">
              <a:alpha val="8000"/>
            </a:srgbClr>
          </a:solidFill>
          <a:ln w="12700" cap="flat" cmpd="sng">
            <a:solidFill>
              <a:srgbClr val="00F0FF">
                <a:alpha val="25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477000" y="45974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00F0FF"/>
                </a:solidFill>
                <a:latin typeface="Noto Sans SC"/>
                <a:ea typeface="Noto Sans SC"/>
                <a:cs typeface="Noto Sans SC"/>
                <a:sym typeface="Noto Sans SC"/>
              </a:rPr>
              <a:t>CTO 张驰</a:t>
            </a:r>
            <a:r>
              <a:rPr lang="en-US" sz="1200" b="0" i="0" u="none" strike="noStrike">
                <a:solidFill>
                  <a:srgbClr val="9CA3AF"/>
                </a:solidFill>
                <a:latin typeface="Noto Sans SC"/>
                <a:ea typeface="Noto Sans SC"/>
                <a:cs typeface="Noto Sans SC"/>
                <a:sym typeface="Noto Sans SC"/>
              </a:rPr>
              <a:t>| 规模化部署与产品架构推动者</a:t>
            </a:r>
            <a:endParaRPr lang="en-US" sz="1100"/>
          </a:p>
        </p:txBody>
      </p:sp>
      <p:sp>
        <p:nvSpPr>
          <p:cNvPr id="16" name="AutoShape 16"/>
          <p:cNvSpPr/>
          <p:nvPr/>
        </p:nvSpPr>
        <p:spPr>
          <a:xfrm>
            <a:off x="6477000" y="5054600"/>
            <a:ext cx="4889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D1D5DB"/>
                </a:solidFill>
                <a:latin typeface="Noto Sans SC"/>
                <a:ea typeface="Noto Sans SC"/>
                <a:cs typeface="Noto Sans SC"/>
                <a:sym typeface="Noto Sans SC"/>
              </a:rPr>
              <a:t>• 少年天才型技术领袖，担任产品与技术体系的总架构师</a:t>
            </a:r>
            <a:endParaRPr lang="en-US" sz="1100"/>
          </a:p>
          <a:p>
            <a:pPr marL="0" indent="0" algn="l">
              <a:lnSpc>
                <a:spcPct val="108000"/>
              </a:lnSpc>
            </a:pPr>
            <a:r>
              <a:rPr lang="en-US" sz="1300" b="0" i="0" u="none" strike="noStrike">
                <a:solidFill>
                  <a:srgbClr val="D1D5DB"/>
                </a:solidFill>
                <a:latin typeface="Noto Sans SC"/>
                <a:ea typeface="Noto Sans SC"/>
                <a:cs typeface="Noto Sans SC"/>
                <a:sym typeface="Noto Sans SC"/>
              </a:rPr>
              <a:t>• 主导实现认知智能闭环的端到端工程化落地与迭代</a:t>
            </a:r>
            <a:endParaRPr lang="en-US" sz="1300" b="0" i="0" u="none" strike="noStrike">
              <a:solidFill>
                <a:srgbClr val="D1D5DB"/>
              </a:solidFill>
              <a:latin typeface="Noto Sans SC"/>
              <a:ea typeface="Noto Sans SC"/>
              <a:cs typeface="Noto Sans SC"/>
              <a:sym typeface="Noto Sans SC"/>
            </a:endParaRPr>
          </a:p>
          <a:p>
            <a:pPr marL="0" indent="0" algn="l">
              <a:lnSpc>
                <a:spcPct val="108000"/>
              </a:lnSpc>
            </a:pPr>
            <a:r>
              <a:rPr lang="en-US" sz="1300" b="0" i="0" u="none" strike="noStrike">
                <a:solidFill>
                  <a:srgbClr val="D1D5DB"/>
                </a:solidFill>
                <a:latin typeface="Noto Sans SC"/>
                <a:ea typeface="Noto Sans SC"/>
                <a:cs typeface="Noto Sans SC"/>
                <a:sym typeface="Noto Sans SC"/>
              </a:rPr>
              <a:t>• 推动技术跨行业复制、规模化部署，释放技术规模化价值</a:t>
            </a:r>
            <a:endParaRPr lang="en-US" sz="1300" b="0" i="0" u="none" strike="noStrike">
              <a:solidFill>
                <a:srgbClr val="D1D5DB"/>
              </a:solidFill>
              <a:latin typeface="Noto Sans SC"/>
              <a:ea typeface="Noto Sans SC"/>
              <a:cs typeface="Noto Sans SC"/>
              <a:sym typeface="Noto Sans SC"/>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00F0FF"/>
                </a:solidFill>
                <a:latin typeface="Noto Sans SC"/>
                <a:ea typeface="Noto Sans SC"/>
                <a:cs typeface="Noto Sans SC"/>
                <a:sym typeface="Noto Sans SC"/>
              </a:rPr>
              <a:t>未来蓝图：从持续学习到数字生命</a:t>
            </a:r>
            <a:endParaRPr lang="en-US" sz="1100"/>
          </a:p>
        </p:txBody>
      </p:sp>
      <p:sp>
        <p:nvSpPr>
          <p:cNvPr id="4" name="AutoShape 4"/>
          <p:cNvSpPr/>
          <p:nvPr/>
        </p:nvSpPr>
        <p:spPr>
          <a:xfrm>
            <a:off x="762000" y="2032000"/>
            <a:ext cx="3378200" cy="3556000"/>
          </a:xfrm>
          <a:prstGeom prst="roundRect">
            <a:avLst>
              <a:gd name="adj" fmla="val 0"/>
            </a:avLst>
          </a:prstGeom>
          <a:solidFill>
            <a:srgbClr val="00F0FF">
              <a:alpha val="8000"/>
            </a:srgbClr>
          </a:solidFill>
          <a:ln w="12700" cap="flat" cmpd="sng">
            <a:solidFill>
              <a:srgbClr val="00F0FF">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2336800"/>
            <a:ext cx="355600" cy="355600"/>
          </a:xfrm>
          <a:prstGeom prst="rect">
            <a:avLst/>
          </a:prstGeom>
        </p:spPr>
      </p:pic>
      <p:sp>
        <p:nvSpPr>
          <p:cNvPr id="6" name="AutoShape 6"/>
          <p:cNvSpPr/>
          <p:nvPr/>
        </p:nvSpPr>
        <p:spPr>
          <a:xfrm>
            <a:off x="1524000" y="23368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近期目标 (1-2年)</a:t>
            </a:r>
            <a:endParaRPr lang="en-US" sz="1100"/>
          </a:p>
        </p:txBody>
      </p:sp>
      <p:sp>
        <p:nvSpPr>
          <p:cNvPr id="7" name="AutoShape 7"/>
          <p:cNvSpPr/>
          <p:nvPr/>
        </p:nvSpPr>
        <p:spPr>
          <a:xfrm>
            <a:off x="1066800" y="3048000"/>
            <a:ext cx="27686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1" i="0" u="none" strike="noStrike">
                <a:solidFill>
                  <a:srgbClr val="E5E7EB">
                    <a:alpha val="90196"/>
                  </a:srgbClr>
                </a:solidFill>
                <a:latin typeface="Noto Sans SC"/>
                <a:ea typeface="Noto Sans SC"/>
                <a:cs typeface="Noto Sans SC"/>
                <a:sym typeface="Noto Sans SC"/>
              </a:rPr>
              <a:t>技术深化:</a:t>
            </a:r>
            <a:r>
              <a:rPr lang="en-US" sz="1400" b="0" i="0" u="none" strike="noStrike">
                <a:solidFill>
                  <a:srgbClr val="E5E7EB">
                    <a:alpha val="90196"/>
                  </a:srgbClr>
                </a:solidFill>
                <a:latin typeface="Noto Sans SC"/>
                <a:ea typeface="Noto Sans SC"/>
                <a:cs typeface="Noto Sans SC"/>
                <a:sym typeface="Noto Sans SC"/>
              </a:rPr>
              <a:t>持续迭代模型，拓展能力边界。</a:t>
            </a:r>
            <a:endParaRPr lang="en-US" sz="1100"/>
          </a:p>
          <a:p>
            <a:pPr marL="0" indent="0" algn="l">
              <a:lnSpc>
                <a:spcPct val="133000"/>
              </a:lnSpc>
            </a:pPr>
            <a:r>
              <a:rPr lang="en-US" sz="1400" b="1" i="0" u="none" strike="noStrike">
                <a:solidFill>
                  <a:srgbClr val="E5E7EB">
                    <a:alpha val="90196"/>
                  </a:srgbClr>
                </a:solidFill>
                <a:latin typeface="Noto Sans SC"/>
                <a:ea typeface="Noto Sans SC"/>
                <a:cs typeface="Noto Sans SC"/>
                <a:sym typeface="Noto Sans SC"/>
              </a:rPr>
              <a:t>商业验证:</a:t>
            </a:r>
            <a:r>
              <a:rPr lang="en-US" sz="1400" b="0" i="0" u="none" strike="noStrike">
                <a:solidFill>
                  <a:srgbClr val="E5E7EB">
                    <a:alpha val="90196"/>
                  </a:srgbClr>
                </a:solidFill>
                <a:latin typeface="Noto Sans SC"/>
                <a:ea typeface="Noto Sans SC"/>
                <a:cs typeface="Noto Sans SC"/>
                <a:sym typeface="Noto Sans SC"/>
              </a:rPr>
              <a:t>聚焦高价值行业，打造标杆案例。</a:t>
            </a:r>
            <a:endParaRPr lang="en-US" sz="1400" b="0" i="0" u="none" strike="noStrike">
              <a:solidFill>
                <a:srgbClr val="E5E7EB">
                  <a:alpha val="90196"/>
                </a:srgbClr>
              </a:solidFill>
              <a:latin typeface="Noto Sans SC"/>
              <a:ea typeface="Noto Sans SC"/>
              <a:cs typeface="Noto Sans SC"/>
              <a:sym typeface="Noto Sans SC"/>
            </a:endParaRPr>
          </a:p>
          <a:p>
            <a:pPr marL="0" indent="0" algn="l">
              <a:lnSpc>
                <a:spcPct val="133000"/>
              </a:lnSpc>
            </a:pPr>
            <a:r>
              <a:rPr lang="en-US" sz="1400" b="1" i="0" u="none" strike="noStrike">
                <a:solidFill>
                  <a:srgbClr val="E5E7EB">
                    <a:alpha val="90196"/>
                  </a:srgbClr>
                </a:solidFill>
                <a:latin typeface="Noto Sans SC"/>
                <a:ea typeface="Noto Sans SC"/>
                <a:cs typeface="Noto Sans SC"/>
                <a:sym typeface="Noto Sans SC"/>
              </a:rPr>
              <a:t>产品化:</a:t>
            </a:r>
            <a:r>
              <a:rPr lang="en-US" sz="1400" b="0" i="0" u="none" strike="noStrike">
                <a:solidFill>
                  <a:srgbClr val="E5E7EB">
                    <a:alpha val="90196"/>
                  </a:srgbClr>
                </a:solidFill>
                <a:latin typeface="Noto Sans SC"/>
                <a:ea typeface="Noto Sans SC"/>
                <a:cs typeface="Noto Sans SC"/>
                <a:sym typeface="Noto Sans SC"/>
              </a:rPr>
              <a:t>推出标准化的模型服务平台。</a:t>
            </a:r>
            <a:endParaRPr lang="en-US" sz="1400" b="0" i="0" u="none" strike="noStrike">
              <a:solidFill>
                <a:srgbClr val="E5E7EB">
                  <a:alpha val="90196"/>
                </a:srgbClr>
              </a:solidFill>
              <a:latin typeface="Noto Sans SC"/>
              <a:ea typeface="Noto Sans SC"/>
              <a:cs typeface="Noto Sans SC"/>
              <a:sym typeface="Noto Sans SC"/>
            </a:endParaRPr>
          </a:p>
        </p:txBody>
      </p:sp>
      <p:sp>
        <p:nvSpPr>
          <p:cNvPr id="8" name="AutoShape 8"/>
          <p:cNvSpPr/>
          <p:nvPr/>
        </p:nvSpPr>
        <p:spPr>
          <a:xfrm>
            <a:off x="4394200" y="2032000"/>
            <a:ext cx="3378200" cy="3556000"/>
          </a:xfrm>
          <a:prstGeom prst="roundRect">
            <a:avLst>
              <a:gd name="adj" fmla="val 0"/>
            </a:avLst>
          </a:prstGeom>
          <a:solidFill>
            <a:srgbClr val="00F0FF">
              <a:alpha val="8000"/>
            </a:srgbClr>
          </a:solidFill>
          <a:ln w="12700" cap="flat" cmpd="sng">
            <a:solidFill>
              <a:srgbClr val="00F0FF">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336800"/>
            <a:ext cx="355600" cy="355600"/>
          </a:xfrm>
          <a:prstGeom prst="rect">
            <a:avLst/>
          </a:prstGeom>
        </p:spPr>
      </p:pic>
      <p:sp>
        <p:nvSpPr>
          <p:cNvPr id="10" name="AutoShape 10"/>
          <p:cNvSpPr/>
          <p:nvPr/>
        </p:nvSpPr>
        <p:spPr>
          <a:xfrm>
            <a:off x="5156200" y="23368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中期目标 (3-5年)</a:t>
            </a:r>
            <a:endParaRPr lang="en-US" sz="1100"/>
          </a:p>
        </p:txBody>
      </p:sp>
      <p:sp>
        <p:nvSpPr>
          <p:cNvPr id="11" name="AutoShape 11"/>
          <p:cNvSpPr/>
          <p:nvPr/>
        </p:nvSpPr>
        <p:spPr>
          <a:xfrm>
            <a:off x="4699000" y="3048000"/>
            <a:ext cx="27686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1" i="0" u="none" strike="noStrike">
                <a:solidFill>
                  <a:srgbClr val="E5E7EB">
                    <a:alpha val="90196"/>
                  </a:srgbClr>
                </a:solidFill>
                <a:latin typeface="Noto Sans SC"/>
                <a:ea typeface="Noto Sans SC"/>
                <a:cs typeface="Noto Sans SC"/>
                <a:sym typeface="Noto Sans SC"/>
              </a:rPr>
              <a:t>跨领域扩张:</a:t>
            </a:r>
            <a:r>
              <a:rPr lang="en-US" sz="1400" b="0" i="0" u="none" strike="noStrike">
                <a:solidFill>
                  <a:srgbClr val="E5E7EB">
                    <a:alpha val="90196"/>
                  </a:srgbClr>
                </a:solidFill>
                <a:latin typeface="Noto Sans SC"/>
                <a:ea typeface="Noto Sans SC"/>
                <a:cs typeface="Noto Sans SC"/>
                <a:sym typeface="Noto Sans SC"/>
              </a:rPr>
              <a:t>复制解决方案，构建AI应用生态。</a:t>
            </a:r>
            <a:endParaRPr lang="en-US" sz="1100"/>
          </a:p>
          <a:p>
            <a:pPr marL="0" indent="0" algn="l">
              <a:lnSpc>
                <a:spcPct val="133000"/>
              </a:lnSpc>
            </a:pPr>
            <a:r>
              <a:rPr lang="en-US" sz="1400" b="1" i="0" u="none" strike="noStrike">
                <a:solidFill>
                  <a:srgbClr val="E5E7EB">
                    <a:alpha val="90196"/>
                  </a:srgbClr>
                </a:solidFill>
                <a:latin typeface="Noto Sans SC"/>
                <a:ea typeface="Noto Sans SC"/>
                <a:cs typeface="Noto Sans SC"/>
                <a:sym typeface="Noto Sans SC"/>
              </a:rPr>
              <a:t>认知进化:</a:t>
            </a:r>
            <a:r>
              <a:rPr lang="en-US" sz="1400" b="0" i="0" u="none" strike="noStrike">
                <a:solidFill>
                  <a:srgbClr val="E5E7EB">
                    <a:alpha val="90196"/>
                  </a:srgbClr>
                </a:solidFill>
                <a:latin typeface="Noto Sans SC"/>
                <a:ea typeface="Noto Sans SC"/>
                <a:cs typeface="Noto Sans SC"/>
                <a:sym typeface="Noto Sans SC"/>
              </a:rPr>
              <a:t>模型具备初步情感交互和复杂决策能力，向“数字生命”演进。</a:t>
            </a:r>
            <a:endParaRPr lang="en-US" sz="1400" b="0" i="0" u="none" strike="noStrike">
              <a:solidFill>
                <a:srgbClr val="E5E7EB">
                  <a:alpha val="90196"/>
                </a:srgbClr>
              </a:solidFill>
              <a:latin typeface="Noto Sans SC"/>
              <a:ea typeface="Noto Sans SC"/>
              <a:cs typeface="Noto Sans SC"/>
              <a:sym typeface="Noto Sans SC"/>
            </a:endParaRPr>
          </a:p>
        </p:txBody>
      </p:sp>
      <p:sp>
        <p:nvSpPr>
          <p:cNvPr id="12" name="AutoShape 12"/>
          <p:cNvSpPr/>
          <p:nvPr/>
        </p:nvSpPr>
        <p:spPr>
          <a:xfrm>
            <a:off x="8026400" y="2032000"/>
            <a:ext cx="3378200" cy="3556000"/>
          </a:xfrm>
          <a:prstGeom prst="roundRect">
            <a:avLst>
              <a:gd name="adj" fmla="val 0"/>
            </a:avLst>
          </a:prstGeom>
          <a:solidFill>
            <a:srgbClr val="00F0FF">
              <a:alpha val="8000"/>
            </a:srgbClr>
          </a:solidFill>
          <a:ln w="12700" cap="flat" cmpd="sng">
            <a:solidFill>
              <a:srgbClr val="00F0FF">
                <a:alpha val="3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31200" y="2336800"/>
            <a:ext cx="355600" cy="355600"/>
          </a:xfrm>
          <a:prstGeom prst="rect">
            <a:avLst/>
          </a:prstGeom>
        </p:spPr>
      </p:pic>
      <p:sp>
        <p:nvSpPr>
          <p:cNvPr id="14" name="AutoShape 14"/>
          <p:cNvSpPr/>
          <p:nvPr/>
        </p:nvSpPr>
        <p:spPr>
          <a:xfrm>
            <a:off x="8788400" y="2336800"/>
            <a:ext cx="241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a:ea typeface="Noto Sans SC"/>
                <a:cs typeface="Noto Sans SC"/>
                <a:sym typeface="Noto Sans SC"/>
              </a:rPr>
              <a:t>长期愿景 (5-10年+)</a:t>
            </a:r>
            <a:endParaRPr lang="en-US" sz="1100"/>
          </a:p>
        </p:txBody>
      </p:sp>
      <p:sp>
        <p:nvSpPr>
          <p:cNvPr id="15" name="AutoShape 15"/>
          <p:cNvSpPr/>
          <p:nvPr/>
        </p:nvSpPr>
        <p:spPr>
          <a:xfrm>
            <a:off x="8331200" y="3048000"/>
            <a:ext cx="27686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33000"/>
              </a:lnSpc>
              <a:defRPr/>
            </a:pPr>
            <a:r>
              <a:rPr lang="en-US" sz="1400" b="1" i="0" u="none" strike="noStrike">
                <a:solidFill>
                  <a:srgbClr val="E5E7EB">
                    <a:alpha val="90196"/>
                  </a:srgbClr>
                </a:solidFill>
                <a:latin typeface="Noto Sans SC"/>
                <a:ea typeface="Noto Sans SC"/>
                <a:cs typeface="Noto Sans SC"/>
                <a:sym typeface="Noto Sans SC"/>
              </a:rPr>
              <a:t>AGI基石:</a:t>
            </a:r>
            <a:r>
              <a:rPr lang="en-US" sz="1400" b="0" i="0" u="none" strike="noStrike">
                <a:solidFill>
                  <a:srgbClr val="E5E7EB">
                    <a:alpha val="90196"/>
                  </a:srgbClr>
                </a:solidFill>
                <a:latin typeface="Noto Sans SC"/>
                <a:ea typeface="Noto Sans SC"/>
                <a:cs typeface="Noto Sans SC"/>
                <a:sym typeface="Noto Sans SC"/>
              </a:rPr>
              <a:t>构建高度自主进化的数字生命体系。</a:t>
            </a:r>
            <a:endParaRPr lang="en-US" sz="1100"/>
          </a:p>
          <a:p>
            <a:pPr marL="0" indent="0" algn="l">
              <a:lnSpc>
                <a:spcPct val="133000"/>
              </a:lnSpc>
            </a:pPr>
            <a:r>
              <a:rPr lang="en-US" sz="1400" b="1" i="0" u="none" strike="noStrike">
                <a:solidFill>
                  <a:srgbClr val="E5E7EB">
                    <a:alpha val="90196"/>
                  </a:srgbClr>
                </a:solidFill>
                <a:latin typeface="Noto Sans SC"/>
                <a:ea typeface="Noto Sans SC"/>
                <a:cs typeface="Noto Sans SC"/>
                <a:sym typeface="Noto Sans SC"/>
              </a:rPr>
              <a:t>赋能人类:</a:t>
            </a:r>
            <a:r>
              <a:rPr lang="en-US" sz="1400" b="0" i="0" u="none" strike="noStrike">
                <a:solidFill>
                  <a:srgbClr val="E5E7EB">
                    <a:alpha val="90196"/>
                  </a:srgbClr>
                </a:solidFill>
                <a:latin typeface="Noto Sans SC"/>
                <a:ea typeface="Noto Sans SC"/>
                <a:cs typeface="Noto Sans SC"/>
                <a:sym typeface="Noto Sans SC"/>
              </a:rPr>
              <a:t>将人类从重复性劳动中解放，共同开启全新文明时代。</a:t>
            </a:r>
            <a:endParaRPr lang="en-US" sz="1400" b="0" i="0" u="none" strike="noStrike">
              <a:solidFill>
                <a:srgbClr val="E5E7EB">
                  <a:alpha val="90196"/>
                </a:srgbClr>
              </a:solidFill>
              <a:latin typeface="Noto Sans SC"/>
              <a:ea typeface="Noto Sans SC"/>
              <a:cs typeface="Noto Sans SC"/>
              <a:sym typeface="Noto Sans SC"/>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540000"/>
            <a:ext cx="12192000" cy="1143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0F0F0"/>
                </a:solidFill>
                <a:latin typeface="Noto Sans SC"/>
                <a:ea typeface="Noto Sans SC"/>
                <a:cs typeface="Noto Sans SC"/>
                <a:sym typeface="Noto Sans SC"/>
              </a:rPr>
              <a:t>谢谢</a:t>
            </a:r>
            <a:endParaRPr lang="en-US" sz="1100"/>
          </a:p>
        </p:txBody>
      </p:sp>
      <p:sp>
        <p:nvSpPr>
          <p:cNvPr id="4" name="AutoShape 4"/>
          <p:cNvSpPr/>
          <p:nvPr/>
        </p:nvSpPr>
        <p:spPr>
          <a:xfrm>
            <a:off x="0" y="4191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08000"/>
              </a:lnSpc>
              <a:defRPr/>
            </a:pPr>
            <a:r>
              <a:rPr lang="en-US" sz="2200" b="0" i="0" u="none" strike="noStrike">
                <a:solidFill>
                  <a:srgbClr val="00F0FF"/>
                </a:solidFill>
                <a:latin typeface="Noto Sans SC"/>
                <a:ea typeface="Noto Sans SC"/>
                <a:cs typeface="Noto Sans SC"/>
                <a:sym typeface="Noto Sans SC"/>
              </a:rPr>
              <a:t>与Volvence一起，开启持续学习的新纪元</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3666</Words>
  <Application>WPS 文字</Application>
  <PresentationFormat/>
  <Paragraphs>246</Paragraphs>
  <Slides>16</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16</vt:i4>
      </vt:variant>
    </vt:vector>
  </HeadingPairs>
  <TitlesOfParts>
    <vt:vector size="31" baseType="lpstr">
      <vt:lpstr>Arial</vt:lpstr>
      <vt:lpstr>宋体</vt:lpstr>
      <vt:lpstr>Wingdings</vt:lpstr>
      <vt:lpstr>Arial</vt:lpstr>
      <vt:lpstr>Noto Sans SC</vt:lpstr>
      <vt:lpstr>Thonburi</vt:lpstr>
      <vt:lpstr>宋体</vt:lpstr>
      <vt:lpstr>汉仪书宋二KW</vt:lpstr>
      <vt:lpstr>微软雅黑</vt:lpstr>
      <vt:lpstr>汉仪旗黑</vt:lpstr>
      <vt:lpstr>Arial Unicode MS</vt:lpstr>
      <vt:lpstr>Noto Sans SC</vt:lpstr>
      <vt:lpstr>苹方-简</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橡树</cp:lastModifiedBy>
  <cp:revision>1</cp:revision>
  <dcterms:created xsi:type="dcterms:W3CDTF">2026-07-16T10:34:22Z</dcterms:created>
  <dcterms:modified xsi:type="dcterms:W3CDTF">2026-07-16T10:34:22Z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{"Label":"1","ContentProducer":"001191110102MACQD9K64010000","ProduceID":"7663071539261230280","ReservedCode1":"","ContentPropagator":"","PropagateID":"","ReservedCode2":""}</vt:lpwstr>
  </property>
  <property fmtid="{D5CDD505-2E9C-101B-9397-08002B2CF9AE}" pid="3" name="ICV">
    <vt:lpwstr>2472871783FD8481AEB3586AB8B4D241_43</vt:lpwstr>
  </property>
  <property fmtid="{D5CDD505-2E9C-101B-9397-08002B2CF9AE}" pid="4" name="KSOProductBuildVer">
    <vt:lpwstr>2052-12.1.26026.26026</vt:lpwstr>
  </property>
</Properties>
</file>