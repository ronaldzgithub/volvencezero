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notesMasters/notesMaster1.xml" ContentType="application/vnd.openxmlformats-officedocument.presentationml.notesMaster+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notesMasterIdLst>
    <p:notesMasterId r:id="rId4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slide" Target="slides/slide25.xml" /><Relationship Id="rId27" Type="http://schemas.openxmlformats.org/officeDocument/2006/relationships/slide" Target="slides/slide26.xml" /><Relationship Id="rId28" Type="http://schemas.openxmlformats.org/officeDocument/2006/relationships/slide" Target="slides/slide27.xml" /><Relationship Id="rId29" Type="http://schemas.openxmlformats.org/officeDocument/2006/relationships/slide" Target="slides/slide28.xml" /><Relationship Id="rId30" Type="http://schemas.openxmlformats.org/officeDocument/2006/relationships/slide" Target="slides/slide29.xml" /><Relationship Id="rId31" Type="http://schemas.openxmlformats.org/officeDocument/2006/relationships/slide" Target="slides/slide30.xml" /><Relationship Id="rId32" Type="http://schemas.openxmlformats.org/officeDocument/2006/relationships/slide" Target="slides/slide31.xml" /><Relationship Id="rId33" Type="http://schemas.openxmlformats.org/officeDocument/2006/relationships/slide" Target="slides/slide32.xml" /><Relationship Id="rId34" Type="http://schemas.openxmlformats.org/officeDocument/2006/relationships/slide" Target="slides/slide33.xml" /><Relationship Id="rId35" Type="http://schemas.openxmlformats.org/officeDocument/2006/relationships/slide" Target="slides/slide34.xml" /><Relationship Id="rId36" Type="http://schemas.openxmlformats.org/officeDocument/2006/relationships/slide" Target="slides/slide35.xml" /><Relationship Id="rId37" Type="http://schemas.openxmlformats.org/officeDocument/2006/relationships/slide" Target="slides/slide36.xml" /><Relationship Id="rId38" Type="http://schemas.openxmlformats.org/officeDocument/2006/relationships/slide" Target="slides/slide37.xml" /><Relationship Id="rId39" Type="http://schemas.openxmlformats.org/officeDocument/2006/relationships/slide" Target="slides/slide38.xml" /><Relationship Id="rId40" Type="http://schemas.openxmlformats.org/officeDocument/2006/relationships/slide" Target="slides/slide39.xml" /><Relationship Id="rId41" Type="http://schemas.openxmlformats.org/officeDocument/2006/relationships/notesMaster" Target="notesMasters/notesMaster1.xml" /><Relationship Id="rId43" Type="http://schemas.openxmlformats.org/officeDocument/2006/relationships/viewProps" Target="viewProps.xml" /><Relationship Id="rId42" Type="http://schemas.openxmlformats.org/officeDocument/2006/relationships/presProps" Target="presProps.xml" /><Relationship Id="rId1" Type="http://schemas.openxmlformats.org/officeDocument/2006/relationships/slideMaster" Target="slideMasters/slideMaster1.xml" /><Relationship Id="rId45" Type="http://schemas.openxmlformats.org/officeDocument/2006/relationships/tableStyles" Target="tableStyles.xml" /><Relationship Id="rId44" Type="http://schemas.openxmlformats.org/officeDocument/2006/relationships/theme" Target="theme/theme1.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1/2/22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2.xml.rels><?xml version="1.0" encoding="UTF-8"?><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3.xml.rels><?xml version="1.0" encoding="UTF-8"?><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4.xml.rels><?xml version="1.0" encoding="UTF-8"?><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5.xml.rels><?xml version="1.0" encoding="UTF-8"?><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6.xml.rels><?xml version="1.0" encoding="UTF-8"?><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7.xml.rels><?xml version="1.0" encoding="UTF-8"?><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8.xml.rels><?xml version="1.0" encoding="UTF-8"?><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9.xml.rels><?xml version="1.0" encoding="UTF-8"?><Relationships xmlns="http://schemas.openxmlformats.org/package/2006/relationships"><Relationship Id="rId2" Type="http://schemas.openxmlformats.org/officeDocument/2006/relationships/slide" Target="../slides/slide12.xml" /><Relationship Id="rId1" Type="http://schemas.openxmlformats.org/officeDocument/2006/relationships/notesMaster" Target="../notesMasters/notesMaster1.xml" /></Relationships>
</file>

<file path=ppt/notesSlides/_rels/notesSlide10.xml.rels><?xml version="1.0" encoding="UTF-8"?><Relationships xmlns="http://schemas.openxmlformats.org/package/2006/relationships"><Relationship Id="rId2" Type="http://schemas.openxmlformats.org/officeDocument/2006/relationships/slide" Target="../slides/slide13.xml" /><Relationship Id="rId1" Type="http://schemas.openxmlformats.org/officeDocument/2006/relationships/notesMaster" Target="../notesMasters/notesMaster1.xml" /></Relationships>
</file>

<file path=ppt/notesSlides/_rels/notesSlide11.xml.rels><?xml version="1.0" encoding="UTF-8"?><Relationships xmlns="http://schemas.openxmlformats.org/package/2006/relationships"><Relationship Id="rId2" Type="http://schemas.openxmlformats.org/officeDocument/2006/relationships/slide" Target="../slides/slide14.xml" /><Relationship Id="rId1" Type="http://schemas.openxmlformats.org/officeDocument/2006/relationships/notesMaster" Target="../notesMasters/notesMaster1.xml" /></Relationships>
</file>

<file path=ppt/notesSlides/_rels/notesSlide12.xml.rels><?xml version="1.0" encoding="UTF-8"?><Relationships xmlns="http://schemas.openxmlformats.org/package/2006/relationships"><Relationship Id="rId2" Type="http://schemas.openxmlformats.org/officeDocument/2006/relationships/slide" Target="../slides/slide16.xml" /><Relationship Id="rId1" Type="http://schemas.openxmlformats.org/officeDocument/2006/relationships/notesMaster" Target="../notesMasters/notesMaster1.xml" /></Relationships>
</file>

<file path=ppt/notesSlides/_rels/notesSlide13.xml.rels><?xml version="1.0" encoding="UTF-8"?><Relationships xmlns="http://schemas.openxmlformats.org/package/2006/relationships"><Relationship Id="rId2" Type="http://schemas.openxmlformats.org/officeDocument/2006/relationships/slide" Target="../slides/slide18.xml" /><Relationship Id="rId1" Type="http://schemas.openxmlformats.org/officeDocument/2006/relationships/notesMaster" Target="../notesMasters/notesMaster1.xml" /></Relationships>
</file>

<file path=ppt/notesSlides/_rels/notesSlide14.xml.rels><?xml version="1.0" encoding="UTF-8"?><Relationships xmlns="http://schemas.openxmlformats.org/package/2006/relationships"><Relationship Id="rId2" Type="http://schemas.openxmlformats.org/officeDocument/2006/relationships/slide" Target="../slides/slide20.xml" /><Relationship Id="rId1" Type="http://schemas.openxmlformats.org/officeDocument/2006/relationships/notesMaster" Target="../notesMasters/notesMaster1.xml" /></Relationships>
</file>

<file path=ppt/notesSlides/_rels/notesSlide15.xml.rels><?xml version="1.0" encoding="UTF-8"?><Relationships xmlns="http://schemas.openxmlformats.org/package/2006/relationships"><Relationship Id="rId2" Type="http://schemas.openxmlformats.org/officeDocument/2006/relationships/slide" Target="../slides/slide22.xml" /><Relationship Id="rId1" Type="http://schemas.openxmlformats.org/officeDocument/2006/relationships/notesMaster" Target="../notesMasters/notesMaster1.xml" /></Relationships>
</file>

<file path=ppt/notesSlides/_rels/notesSlide16.xml.rels><?xml version="1.0" encoding="UTF-8"?><Relationships xmlns="http://schemas.openxmlformats.org/package/2006/relationships"><Relationship Id="rId2" Type="http://schemas.openxmlformats.org/officeDocument/2006/relationships/slide" Target="../slides/slide24.xml" /><Relationship Id="rId1" Type="http://schemas.openxmlformats.org/officeDocument/2006/relationships/notesMaster" Target="../notesMasters/notesMaster1.xml" /></Relationships>
</file>

<file path=ppt/notesSlides/_rels/notesSlide17.xml.rels><?xml version="1.0" encoding="UTF-8"?><Relationships xmlns="http://schemas.openxmlformats.org/package/2006/relationships"><Relationship Id="rId2" Type="http://schemas.openxmlformats.org/officeDocument/2006/relationships/slide" Target="../slides/slide26.xml" /><Relationship Id="rId1" Type="http://schemas.openxmlformats.org/officeDocument/2006/relationships/notesMaster" Target="../notesMasters/notesMaster1.xml" /></Relationships>
</file>

<file path=ppt/notesSlides/_rels/notesSlide18.xml.rels><?xml version="1.0" encoding="UTF-8"?><Relationships xmlns="http://schemas.openxmlformats.org/package/2006/relationships"><Relationship Id="rId2" Type="http://schemas.openxmlformats.org/officeDocument/2006/relationships/slide" Target="../slides/slide28.xml" /><Relationship Id="rId1" Type="http://schemas.openxmlformats.org/officeDocument/2006/relationships/notesMaster" Target="../notesMasters/notesMaster1.xml" /></Relationships>
</file>

<file path=ppt/notesSlides/_rels/notesSlide19.xml.rels><?xml version="1.0" encoding="UTF-8"?><Relationships xmlns="http://schemas.openxmlformats.org/package/2006/relationships"><Relationship Id="rId2" Type="http://schemas.openxmlformats.org/officeDocument/2006/relationships/slide" Target="../slides/slide29.xml" /><Relationship Id="rId1" Type="http://schemas.openxmlformats.org/officeDocument/2006/relationships/notesMaster" Target="../notesMasters/notesMaster1.xml" /></Relationships>
</file>

<file path=ppt/notesSlides/_rels/notesSlide20.xml.rels><?xml version="1.0" encoding="UTF-8"?><Relationships xmlns="http://schemas.openxmlformats.org/package/2006/relationships"><Relationship Id="rId2" Type="http://schemas.openxmlformats.org/officeDocument/2006/relationships/slide" Target="../slides/slide31.xml" /><Relationship Id="rId1" Type="http://schemas.openxmlformats.org/officeDocument/2006/relationships/notesMaster" Target="../notesMasters/notesMaster1.xml" /></Relationships>
</file>

<file path=ppt/notesSlides/_rels/notesSlide21.xml.rels><?xml version="1.0" encoding="UTF-8"?><Relationships xmlns="http://schemas.openxmlformats.org/package/2006/relationships"><Relationship Id="rId2" Type="http://schemas.openxmlformats.org/officeDocument/2006/relationships/slide" Target="../slides/slide33.xml" /><Relationship Id="rId1" Type="http://schemas.openxmlformats.org/officeDocument/2006/relationships/notesMaster" Target="../notesMasters/notesMaster1.xml" /></Relationships>
</file>

<file path=ppt/notesSlides/_rels/notesSlide22.xml.rels><?xml version="1.0" encoding="UTF-8"?><Relationships xmlns="http://schemas.openxmlformats.org/package/2006/relationships"><Relationship Id="rId2" Type="http://schemas.openxmlformats.org/officeDocument/2006/relationships/slide" Target="../slides/slide34.xml" /><Relationship Id="rId1" Type="http://schemas.openxmlformats.org/officeDocument/2006/relationships/notesMaster" Target="../notesMasters/notesMaster1.xml" /></Relationships>
</file>

<file path=ppt/notesSlides/_rels/notesSlide23.xml.rels><?xml version="1.0" encoding="UTF-8"?><Relationships xmlns="http://schemas.openxmlformats.org/package/2006/relationships"><Relationship Id="rId2" Type="http://schemas.openxmlformats.org/officeDocument/2006/relationships/slide" Target="../slides/slide36.xml" /><Relationship Id="rId1" Type="http://schemas.openxmlformats.org/officeDocument/2006/relationships/notesMaster" Target="../notesMasters/notesMaster1.xml" /></Relationships>
</file>

<file path=ppt/notesSlides/_rels/notesSlide24.xml.rels><?xml version="1.0" encoding="UTF-8"?><Relationships xmlns="http://schemas.openxmlformats.org/package/2006/relationships"><Relationship Id="rId2" Type="http://schemas.openxmlformats.org/officeDocument/2006/relationships/slide" Target="../slides/slide38.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Patrick, thanks for taking the time.</a:t>
            </a:r>
          </a:p>
          <a:p>
            <a:pPr lvl="0" indent="0" marL="0">
              <a:buNone/>
            </a:pPr>
          </a:p>
          <a:p>
            <a:pPr lvl="0" indent="0" marL="0">
              <a:buNone/>
            </a:pPr>
            <a:r>
              <a:rPr/>
              <a:t>I will keep this simple. Volvence is building a relationship runtime for AI products where the user experience depends on memory, adaptation, and trust over time.</a:t>
            </a:r>
          </a:p>
          <a:p>
            <a:pPr lvl="0" indent="0" marL="0">
              <a:buNone/>
            </a:pPr>
          </a:p>
          <a:p>
            <a:pPr lvl="0" indent="0" marL="0">
              <a:buNone/>
            </a:pPr>
            <a:r>
              <a:rPr/>
              <a:t>The shortest way to say our technical difference is: thin prompt, thick runtime. We do not put the product logic into a giant prompt. The prompt renders language; the runtime owns identity, memory, relationship state, adaptation, and governance.</a:t>
            </a:r>
          </a:p>
          <a:p>
            <a:pPr lvl="0" indent="0" marL="0">
              <a:buNone/>
            </a:pPr>
          </a:p>
          <a:p>
            <a:pPr lvl="0" indent="0" marL="0">
              <a:buNone/>
            </a:pPr>
            <a:r>
              <a:rPr/>
              <a:t>We are not trying to build a smarter base model. We use frontier models as substrate. Our layer is the runtime above them.</a:t>
            </a:r>
          </a:p>
          <a:p>
            <a:pPr lvl="0" indent="0" marL="0">
              <a:buNone/>
            </a:pPr>
          </a:p>
          <a:p>
            <a:pPr lvl="0" indent="0" marL="0">
              <a:buNone/>
            </a:pPr>
            <a:r>
              <a:rPr/>
              <a:t>Today I want to show you four things: why this team is credible, why private traffic is our first wedge, why human relationships are the next vertical data layer, and what we need to prove over the next 18 months.</a:t>
            </a:r>
          </a:p>
        </p:txBody>
      </p:sp>
      <p:sp>
        <p:nvSpPr>
          <p:cNvPr id="4" name="Slide Number Placeholder 3"/>
          <p:cNvSpPr>
            <a:spLocks noGrp="1"/>
          </p:cNvSpPr>
          <p:nvPr>
            <p:ph type="sldNum" sz="quarter" idx="10"/>
          </p:nvPr>
        </p:nvSpPr>
        <p:spPr/>
        <p:txBody>
          <a:bodyPr/>
          <a:lstStyle/>
          <a:p>
            <a:fld id="{18BDFEC3-8487-43E8-A154-7C12CBC1FFF2}" type="slidenum">
              <a:rPr lang="en-US"/>
              <a:t>2</a:t>
            </a:fld>
            <a:endParaRPr lang="en-US"/>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I will start with myself, because at this stage you are mostly underwriting founder judgment.</a:t>
            </a:r>
          </a:p>
          <a:p>
            <a:pPr lvl="0" indent="0" marL="0">
              <a:buNone/>
            </a:pPr>
          </a:p>
          <a:p>
            <a:pPr lvl="0" indent="0" marL="0">
              <a:buNone/>
            </a:pPr>
            <a:r>
              <a:rPr/>
              <a:t>My background has three parts. First, CS and systems training: Peking University CS, IBM Japan Research, and years in enterprise software. Second, sales and market training: HP, Alibaba, Tencent, and large enterprise customers. Third, founder training: I have built products before, including Haopai, which reached 300,000 users with zero paid acquisition.</a:t>
            </a:r>
          </a:p>
          <a:p>
            <a:pPr lvl="0" indent="0" marL="0">
              <a:buNone/>
            </a:pPr>
          </a:p>
          <a:p>
            <a:pPr lvl="0" indent="0" marL="0">
              <a:buNone/>
            </a:pPr>
            <a:r>
              <a:rPr/>
              <a:t>After ChatGPT launched, I stopped other work and self-funded this direction. The total personal investment has been around RMB 5M, now fully spent on team, engineering, experiments, and JV development.</a:t>
            </a:r>
          </a:p>
          <a:p>
            <a:pPr lvl="0" indent="0" marL="0">
              <a:buNone/>
            </a:pPr>
          </a:p>
          <a:p>
            <a:pPr lvl="0" indent="0" marL="0">
              <a:buNone/>
            </a:pPr>
            <a:r>
              <a:rPr/>
              <a:t>One thing I want to make concrete: I am not a non-technical CEO outsourcing the product. I have been hands-on in the codebase since late 2022. The GitHub activity is available for DD.</a:t>
            </a:r>
          </a:p>
          <a:p>
            <a:pPr lvl="0" indent="0" marL="0">
              <a:buNone/>
            </a:pPr>
          </a:p>
          <a:p>
            <a:pPr lvl="0" indent="0" marL="0">
              <a:buNone/>
            </a:pPr>
            <a:r>
              <a:rPr/>
              <a:t>The reason this matters is simple: Volvence sits at the intersection of systems engineering, human relationships, and commercialization. My career prepared me for that intersection, but the next 18 months still have to prove it with real customers.</a:t>
            </a:r>
          </a:p>
        </p:txBody>
      </p:sp>
      <p:sp>
        <p:nvSpPr>
          <p:cNvPr id="4" name="Slide Number Placeholder 3"/>
          <p:cNvSpPr>
            <a:spLocks noGrp="1"/>
          </p:cNvSpPr>
          <p:nvPr>
            <p:ph type="sldNum" sz="quarter" idx="10"/>
          </p:nvPr>
        </p:nvSpPr>
        <p:spPr/>
        <p:txBody>
          <a:bodyPr/>
          <a:lstStyle/>
          <a:p>
            <a:fld id="{18BDFEC3-8487-43E8-A154-7C12CBC1FFF2}" type="slidenum">
              <a:rPr lang="en-US"/>
              <a:t>3</a:t>
            </a:fld>
            <a:endParaRPr lang="en-US"/>
          </a:p>
        </p:txBody>
      </p:sp>
    </p:spTree>
  </p:cSld>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most important team point is Yang Liu.</a:t>
            </a:r>
          </a:p>
          <a:p>
            <a:pPr lvl="0" indent="0" marL="0">
              <a:buNone/>
            </a:pPr>
          </a:p>
          <a:p>
            <a:pPr lvl="0" indent="0" marL="0">
              <a:buNone/>
            </a:pPr>
            <a:r>
              <a:rPr/>
              <a:t>Yang is a CMU machine learning PhD, advised by Avrim Blum and Jaime Carbonell. Her research is directly relevant to our problem: active learning, drifting distributions, transfer learning, and learning when the environment is not stationary.</a:t>
            </a:r>
          </a:p>
          <a:p>
            <a:pPr lvl="0" indent="0" marL="0">
              <a:buNone/>
            </a:pPr>
          </a:p>
          <a:p>
            <a:pPr lvl="0" indent="0" marL="0">
              <a:buNone/>
            </a:pPr>
            <a:r>
              <a:rPr/>
              <a:t>This is not decoration for the deck. Our product problem is: how does an AI system keep learning when each user, each relationship, and each business context changes over time? Yang’s research background gives us a serious scientific base for that question.</a:t>
            </a:r>
          </a:p>
          <a:p>
            <a:pPr lvl="0" indent="0" marL="0">
              <a:buNone/>
            </a:pPr>
          </a:p>
          <a:p>
            <a:pPr lvl="0" indent="0" marL="0">
              <a:buNone/>
            </a:pPr>
            <a:r>
              <a:rPr/>
              <a:t>The rest of the team gives us commercialization access and delivery capability: private traffic, enterprise sales, engineering, and market operations. It is a small team, but everyone is full-time.</a:t>
            </a:r>
          </a:p>
        </p:txBody>
      </p:sp>
      <p:sp>
        <p:nvSpPr>
          <p:cNvPr id="4" name="Slide Number Placeholder 3"/>
          <p:cNvSpPr>
            <a:spLocks noGrp="1"/>
          </p:cNvSpPr>
          <p:nvPr>
            <p:ph type="sldNum" sz="quarter" idx="10"/>
          </p:nvPr>
        </p:nvSpPr>
        <p:spPr/>
        <p:txBody>
          <a:bodyPr/>
          <a:lstStyle/>
          <a:p>
            <a:fld id="{18BDFEC3-8487-43E8-A154-7C12CBC1FFF2}" type="slidenum">
              <a:rPr lang="en-US"/>
              <a:t>4</a:t>
            </a:fld>
            <a:endParaRPr lang="en-US"/>
          </a:p>
        </p:txBody>
      </p:sp>
    </p:spTree>
  </p:cSld>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Our first wedge is private traffic in China.</a:t>
            </a:r>
          </a:p>
          <a:p>
            <a:pPr lvl="0" indent="0" marL="0">
              <a:buNone/>
            </a:pPr>
          </a:p>
          <a:p>
            <a:pPr lvl="0" indent="0" marL="0">
              <a:buNone/>
            </a:pPr>
            <a:r>
              <a:rPr/>
              <a:t>For an overseas investor, this market can be easy to underestimate. It is not just CRM. It is a relationship-based commerce layer built on WeChat, groups, personal accounts, and repeated 1-on-1 interactions.</a:t>
            </a:r>
          </a:p>
          <a:p>
            <a:pPr lvl="0" indent="0" marL="0">
              <a:buNone/>
            </a:pPr>
          </a:p>
          <a:p>
            <a:pPr lvl="0" indent="0" marL="0">
              <a:buNone/>
            </a:pPr>
            <a:r>
              <a:rPr/>
              <a:t>Brands and MCNs do not only need to send messages. They need users to feel remembered, understood, and approached at the right time. Existing tools mostly optimize reach: mass messaging, tags, workflows, auto-replies.</a:t>
            </a:r>
          </a:p>
          <a:p>
            <a:pPr lvl="0" indent="0" marL="0">
              <a:buNone/>
            </a:pPr>
          </a:p>
          <a:p>
            <a:pPr lvl="0" indent="0" marL="0">
              <a:buNone/>
            </a:pPr>
            <a:r>
              <a:rPr/>
              <a:t>The missing layer is relationship quality over time. That is the wedge where our architecture is most directly useful.</a:t>
            </a:r>
          </a:p>
          <a:p>
            <a:pPr lvl="0" indent="0" marL="0">
              <a:buNone/>
            </a:pPr>
          </a:p>
          <a:p>
            <a:pPr lvl="0" indent="0" marL="0">
              <a:buNone/>
            </a:pPr>
            <a:r>
              <a:rPr/>
              <a:t>Note: do not start with “$150B TAM” or “largest untapped vertical”. Start with mechanism. If Patrick believes the mechanism, TAM can follow.</a:t>
            </a:r>
          </a:p>
        </p:txBody>
      </p:sp>
      <p:sp>
        <p:nvSpPr>
          <p:cNvPr id="4" name="Slide Number Placeholder 3"/>
          <p:cNvSpPr>
            <a:spLocks noGrp="1"/>
          </p:cNvSpPr>
          <p:nvPr>
            <p:ph type="sldNum" sz="quarter" idx="10"/>
          </p:nvPr>
        </p:nvSpPr>
        <p:spPr/>
        <p:txBody>
          <a:bodyPr/>
          <a:lstStyle/>
          <a:p>
            <a:fld id="{18BDFEC3-8487-43E8-A154-7C12CBC1FFF2}" type="slidenum">
              <a:rPr lang="en-US"/>
              <a:t>5</a:t>
            </a:fld>
            <a:endParaRPr lang="en-US"/>
          </a:p>
        </p:txBody>
      </p:sp>
    </p:spTree>
  </p:cSld>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Most tools in this market are useful, but they are built around contact, not relationship.</a:t>
            </a:r>
          </a:p>
          <a:p>
            <a:pPr lvl="0" indent="0" marL="0">
              <a:buNone/>
            </a:pPr>
          </a:p>
          <a:p>
            <a:pPr lvl="0" indent="0" marL="0">
              <a:buNone/>
            </a:pPr>
            <a:r>
              <a:rPr/>
              <a:t>They help companies reach users, segment users, and automate workflows. But they do not solve the harder question: how should the system behave differently after 20 conversations with the same user?</a:t>
            </a:r>
          </a:p>
          <a:p>
            <a:pPr lvl="0" indent="0" marL="0">
              <a:buNone/>
            </a:pPr>
          </a:p>
          <a:p>
            <a:pPr lvl="0" indent="0" marL="0">
              <a:buNone/>
            </a:pPr>
            <a:r>
              <a:rPr/>
              <a:t>If a user says, “you are too pushy”, the next conversation should reflect that. If a user mentioned a family situation last week, the system should remember it appropriately. If the relationship is not ready for a recommendation, the system should wait.</a:t>
            </a:r>
          </a:p>
          <a:p>
            <a:pPr lvl="0" indent="0" marL="0">
              <a:buNone/>
            </a:pPr>
          </a:p>
          <a:p>
            <a:pPr lvl="0" indent="0" marL="0">
              <a:buNone/>
            </a:pPr>
            <a:r>
              <a:rPr/>
              <a:t>This is not a better script problem. It requires persistent relationship state, memory, adaptation, and governance. That is why we call Volvence a relationship runtime.</a:t>
            </a:r>
          </a:p>
        </p:txBody>
      </p:sp>
      <p:sp>
        <p:nvSpPr>
          <p:cNvPr id="4" name="Slide Number Placeholder 3"/>
          <p:cNvSpPr>
            <a:spLocks noGrp="1"/>
          </p:cNvSpPr>
          <p:nvPr>
            <p:ph type="sldNum" sz="quarter" idx="10"/>
          </p:nvPr>
        </p:nvSpPr>
        <p:spPr/>
        <p:txBody>
          <a:bodyPr/>
          <a:lstStyle/>
          <a:p>
            <a:fld id="{18BDFEC3-8487-43E8-A154-7C12CBC1FFF2}" type="slidenum">
              <a:rPr lang="en-US"/>
              <a:t>7</a:t>
            </a:fld>
            <a:endParaRPr lang="en-US"/>
          </a:p>
        </p:txBody>
      </p:sp>
    </p:spTree>
  </p:cSld>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the product definition.</a:t>
            </a:r>
          </a:p>
          <a:p>
            <a:pPr lvl="0" indent="0" marL="0">
              <a:buNone/>
            </a:pPr>
          </a:p>
          <a:p>
            <a:pPr lvl="0" indent="0" marL="0">
              <a:buNone/>
            </a:pPr>
            <a:r>
              <a:rPr/>
              <a:t>We are not replacing GPT, Claude, Qwen, or DeepSeek. We use them as substrate. The Volvence layer maintains the state that base models do not own: user state, relationship state, adaptation history, and governance.</a:t>
            </a:r>
          </a:p>
          <a:p>
            <a:pPr lvl="0" indent="0" marL="0">
              <a:buNone/>
            </a:pPr>
          </a:p>
          <a:p>
            <a:pPr lvl="0" indent="0" marL="0">
              <a:buNone/>
            </a:pPr>
            <a:r>
              <a:rPr/>
              <a:t>The simplest way to understand our architecture is: thin prompt, thick runtime.</a:t>
            </a:r>
          </a:p>
          <a:p>
            <a:pPr lvl="0" indent="0" marL="0">
              <a:buNone/>
            </a:pPr>
          </a:p>
          <a:p>
            <a:pPr lvl="0" indent="0" marL="0">
              <a:buNone/>
            </a:pPr>
            <a:r>
              <a:rPr/>
              <a:t>In a normal LLM wrapper, a lot of product logic is hidden in the prompt: persona, memory summary, behavioral rules, sales posture, safety instructions. That can produce a good demo, but it is fragile. If the prompt changes, the product changes. If the context gets long, behavior drifts. If the customer asks for audit or deletion, you do not have a clean state boundary.</a:t>
            </a:r>
          </a:p>
          <a:p>
            <a:pPr lvl="0" indent="0" marL="0">
              <a:buNone/>
            </a:pPr>
          </a:p>
          <a:p>
            <a:pPr lvl="0" indent="0" marL="0">
              <a:buNone/>
            </a:pPr>
            <a:r>
              <a:rPr/>
              <a:t>In Volvence, the prompt is only the language rendering layer. The runtime owns the durable logic: identity, memory, relationship stage, constraints, adaptation, and audit trail.</a:t>
            </a:r>
          </a:p>
        </p:txBody>
      </p:sp>
      <p:sp>
        <p:nvSpPr>
          <p:cNvPr id="4" name="Slide Number Placeholder 3"/>
          <p:cNvSpPr>
            <a:spLocks noGrp="1"/>
          </p:cNvSpPr>
          <p:nvPr>
            <p:ph type="sldNum" sz="quarter" idx="10"/>
          </p:nvPr>
        </p:nvSpPr>
        <p:spPr/>
        <p:txBody>
          <a:bodyPr/>
          <a:lstStyle/>
          <a:p>
            <a:fld id="{18BDFEC3-8487-43E8-A154-7C12CBC1FFF2}" type="slidenum">
              <a:rPr lang="en-US"/>
              <a:t>8</a:t>
            </a:fld>
            <a:endParaRPr lang="en-US"/>
          </a:p>
        </p:txBody>
      </p:sp>
    </p:spTree>
  </p:cSld>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the page where I want to connect our wedge to your thesis.</a:t>
            </a:r>
          </a:p>
          <a:p>
            <a:pPr lvl="0" indent="0" marL="0">
              <a:buNone/>
            </a:pPr>
          </a:p>
          <a:p>
            <a:pPr lvl="0" indent="0" marL="0">
              <a:buNone/>
            </a:pPr>
            <a:r>
              <a:rPr/>
              <a:t>Xfund’s framing — that proprietary vertical data matters more than competing with base-model scaling — is the framing we have used internally for two years. The question we asked is: what is the next layer of vertical data after Mayo Clinic, S&amp;P, and the obvious institutional corpora?</a:t>
            </a:r>
          </a:p>
          <a:p>
            <a:pPr lvl="0" indent="0" marL="0">
              <a:buNone/>
            </a:pPr>
          </a:p>
          <a:p>
            <a:pPr lvl="0" indent="0" marL="0">
              <a:buNone/>
            </a:pPr>
            <a:r>
              <a:rPr/>
              <a:t>Our answer: the relationship itself.</a:t>
            </a:r>
          </a:p>
          <a:p>
            <a:pPr lvl="0" indent="0" marL="0">
              <a:buNone/>
            </a:pPr>
          </a:p>
          <a:p>
            <a:pPr lvl="0" indent="0" marL="0">
              <a:buNone/>
            </a:pPr>
            <a:r>
              <a:rPr/>
              <a:t>First-generation vertical data is institutional: medical, financial, legal, academic. It is powerful, but it is already-existing, already-recorded, and over time it becomes licensable or synthesizable.</a:t>
            </a:r>
          </a:p>
          <a:p>
            <a:pPr lvl="0" indent="0" marL="0">
              <a:buNone/>
            </a:pPr>
          </a:p>
          <a:p>
            <a:pPr lvl="0" indent="0" marL="0">
              <a:buNone/>
            </a:pPr>
            <a:r>
              <a:rPr/>
              <a:t>Second-generation vertical data is the relationship between a brand or a service and an individual user, accumulated over time. Every interaction creates new data. The state is not a record, it is a trajectory: user, time, context, relationship stage. It is non-transferable, because it lives in the owner’s runtime snapshots. And it is long-tail by construction, because every user-relationship pair is its own micro-vertical.</a:t>
            </a:r>
          </a:p>
          <a:p>
            <a:pPr lvl="0" indent="0" marL="0">
              <a:buNone/>
            </a:pPr>
          </a:p>
          <a:p>
            <a:pPr lvl="0" indent="0" marL="0">
              <a:buNone/>
            </a:pPr>
            <a:r>
              <a:rPr/>
              <a:t>I want to be careful here. I am not claiming that a strong base model cannot ship memory features. They will, and that helps our substrate. The claim is narrower: a generic assistant is not structured to be the persistent relationship owner for a specific brand, MCN, or service vertical. That is the layer Volvence is building toward.</a:t>
            </a:r>
          </a:p>
        </p:txBody>
      </p:sp>
      <p:sp>
        <p:nvSpPr>
          <p:cNvPr id="4" name="Slide Number Placeholder 3"/>
          <p:cNvSpPr>
            <a:spLocks noGrp="1"/>
          </p:cNvSpPr>
          <p:nvPr>
            <p:ph type="sldNum" sz="quarter" idx="10"/>
          </p:nvPr>
        </p:nvSpPr>
        <p:spPr/>
        <p:txBody>
          <a:bodyPr/>
          <a:lstStyle/>
          <a:p>
            <a:fld id="{18BDFEC3-8487-43E8-A154-7C12CBC1FFF2}" type="slidenum">
              <a:rPr lang="en-US"/>
              <a:t>9</a:t>
            </a:fld>
            <a:endParaRPr lang="en-US"/>
          </a:p>
        </p:txBody>
      </p:sp>
    </p:spTree>
  </p:cSld>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Before video (1 min): Let me make this concrete with Mobi. Mobi is a 28M-follower MCN. The business problem is simple: there are too many users and too few human operators to maintain high-quality conversations.</a:t>
            </a:r>
          </a:p>
          <a:p>
            <a:pPr lvl="0" indent="0" marL="0">
              <a:buNone/>
            </a:pPr>
          </a:p>
          <a:p>
            <a:pPr lvl="0" indent="0" marL="0">
              <a:buNone/>
            </a:pPr>
            <a:r>
              <a:rPr/>
              <a:t>In the demo, please watch four things: cross-session memory, preference separation, recommendation timing, and behavior adjustment after user feedback.</a:t>
            </a:r>
          </a:p>
          <a:p>
            <a:pPr lvl="0" indent="0" marL="0">
              <a:buNone/>
            </a:pPr>
          </a:p>
          <a:p>
            <a:pPr lvl="0" indent="0" marL="0">
              <a:buNone/>
            </a:pPr>
            <a:r>
              <a:rPr/>
              <a:t>One important caveat before we play it: the JV is signed and the demo is real, but conversion uplift is not yet proven. That is one of the main things this round needs to help us validate.</a:t>
            </a:r>
          </a:p>
          <a:p>
            <a:pPr lvl="0" indent="0" marL="0">
              <a:buNone/>
            </a:pPr>
          </a:p>
          <a:p>
            <a:pPr lvl="0" indent="0" marL="0">
              <a:buNone/>
            </a:pPr>
            <a:r>
              <a:rPr/>
              <a:t>After video (90s): The point of the demo is not that the AI sounds human in one turn. Many systems can do that.</a:t>
            </a:r>
          </a:p>
          <a:p>
            <a:pPr lvl="0" indent="0" marL="0">
              <a:buNone/>
            </a:pPr>
          </a:p>
          <a:p>
            <a:pPr lvl="0" indent="0" marL="0">
              <a:buNone/>
            </a:pPr>
            <a:r>
              <a:rPr/>
              <a:t>The point is that the system has state across turns and sessions. It can remember, adapt, and avoid treating every message as a fresh prompt.</a:t>
            </a:r>
          </a:p>
          <a:p>
            <a:pPr lvl="0" indent="0" marL="0">
              <a:buNone/>
            </a:pPr>
          </a:p>
          <a:p>
            <a:pPr lvl="0" indent="0" marL="0">
              <a:buNone/>
            </a:pPr>
            <a:r>
              <a:rPr/>
              <a:t>This is the behavior we want to measure in production: not only response quality, but relationship quality and conversion over time.</a:t>
            </a:r>
          </a:p>
        </p:txBody>
      </p:sp>
      <p:sp>
        <p:nvSpPr>
          <p:cNvPr id="4" name="Slide Number Placeholder 3"/>
          <p:cNvSpPr>
            <a:spLocks noGrp="1"/>
          </p:cNvSpPr>
          <p:nvPr>
            <p:ph type="sldNum" sz="quarter" idx="10"/>
          </p:nvPr>
        </p:nvSpPr>
        <p:spPr/>
        <p:txBody>
          <a:bodyPr/>
          <a:lstStyle/>
          <a:p>
            <a:fld id="{18BDFEC3-8487-43E8-A154-7C12CBC1FFF2}" type="slidenum">
              <a:rPr lang="en-US"/>
              <a:t>10</a:t>
            </a:fld>
            <a:endParaRPr lang="en-US"/>
          </a:p>
        </p:txBody>
      </p:sp>
    </p:spTree>
  </p:cSld>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the technical reason we exist.</a:t>
            </a:r>
          </a:p>
          <a:p>
            <a:pPr lvl="0" indent="0" marL="0">
              <a:buNone/>
            </a:pPr>
          </a:p>
          <a:p>
            <a:pPr lvl="0" indent="0" marL="0">
              <a:buNone/>
            </a:pPr>
            <a:r>
              <a:rPr/>
              <a:t>A single prompt can imitate warmth, empathy, or a persona. But relationship products need stability across time. They need the system to know who the user is, what has changed, what should be remembered, and what should be constrained.</a:t>
            </a:r>
          </a:p>
          <a:p>
            <a:pPr lvl="0" indent="0" marL="0">
              <a:buNone/>
            </a:pPr>
          </a:p>
          <a:p>
            <a:pPr lvl="0" indent="0" marL="0">
              <a:buNone/>
            </a:pPr>
            <a:r>
              <a:rPr/>
              <a:t>So the technical problem is not “write a better prompt”. Our principle is: prompts should render behavior, not own behavior.</a:t>
            </a:r>
          </a:p>
          <a:p>
            <a:pPr lvl="0" indent="0" marL="0">
              <a:buNone/>
            </a:pPr>
          </a:p>
          <a:p>
            <a:pPr lvl="0" indent="0" marL="0">
              <a:buNone/>
            </a:pPr>
            <a:r>
              <a:rPr/>
              <a:t>In most LLM wrappers, the prompt owns the product logic: persona, memory summary, rules, sales posture, safety constraints. That can work for demos, but it becomes fragile in long relationships.</a:t>
            </a:r>
          </a:p>
          <a:p>
            <a:pPr lvl="0" indent="0" marL="0">
              <a:buNone/>
            </a:pPr>
          </a:p>
          <a:p>
            <a:pPr lvl="0" indent="0" marL="0">
              <a:buNone/>
            </a:pPr>
            <a:r>
              <a:rPr/>
              <a:t>In Volvence, the durable parts live outside the prompt: relationship state, memory updates, adaptation policy, audit trail, and customer constraints. The prompt should be thin. It expresses the current state into language, not secretly contain the whole product.</a:t>
            </a:r>
          </a:p>
          <a:p>
            <a:pPr lvl="0" indent="0" marL="0">
              <a:buNone/>
            </a:pPr>
          </a:p>
          <a:p>
            <a:pPr lvl="0" indent="0" marL="0">
              <a:buNone/>
            </a:pPr>
            <a:r>
              <a:rPr/>
              <a:t>This is also why we do not frame ourselves as an agent framework. Agent frameworks coordinate tools. Our problem is maintaining a relationship state over time.</a:t>
            </a:r>
          </a:p>
        </p:txBody>
      </p:sp>
      <p:sp>
        <p:nvSpPr>
          <p:cNvPr id="4" name="Slide Number Placeholder 3"/>
          <p:cNvSpPr>
            <a:spLocks noGrp="1"/>
          </p:cNvSpPr>
          <p:nvPr>
            <p:ph type="sldNum" sz="quarter" idx="10"/>
          </p:nvPr>
        </p:nvSpPr>
        <p:spPr/>
        <p:txBody>
          <a:bodyPr/>
          <a:lstStyle/>
          <a:p>
            <a:fld id="{18BDFEC3-8487-43E8-A154-7C12CBC1FFF2}" type="slidenum">
              <a:rPr lang="en-US"/>
              <a:t>12</a:t>
            </a:fld>
            <a:endParaRPr lang="en-US"/>
          </a:p>
        </p:txBody>
      </p:sp>
    </p:spTree>
  </p:cSld>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Internally we call the architecture Body + Brain.</a:t>
            </a:r>
          </a:p>
          <a:p>
            <a:pPr lvl="0" indent="0" marL="0">
              <a:buNone/>
            </a:pPr>
          </a:p>
          <a:p>
            <a:pPr lvl="0" indent="0" marL="0">
              <a:buNone/>
            </a:pPr>
            <a:r>
              <a:rPr/>
              <a:t>Body means stable identity and constraints: what kind of entity this is, what it wants to optimize, what it should avoid, and what relationship posture it should maintain.</a:t>
            </a:r>
          </a:p>
          <a:p>
            <a:pPr lvl="0" indent="0" marL="0">
              <a:buNone/>
            </a:pPr>
          </a:p>
          <a:p>
            <a:pPr lvl="0" indent="0" marL="0">
              <a:buNone/>
            </a:pPr>
            <a:r>
              <a:rPr/>
              <a:t>Brain means the adaptive layer: memory updates, state transitions, response planning, feedback handling, and auditability.</a:t>
            </a:r>
          </a:p>
          <a:p>
            <a:pPr lvl="0" indent="0" marL="0">
              <a:buNone/>
            </a:pPr>
          </a:p>
          <a:p>
            <a:pPr lvl="0" indent="0" marL="0">
              <a:buNone/>
            </a:pPr>
            <a:r>
              <a:rPr/>
              <a:t>I want to be careful here. We are not selling anthropomorphic theater. We are using this language because long-term behavior needs something like stable drives and adaptive cognition. The business outcome is simple: more stable, more trustworthy relationship behavior over time.</a:t>
            </a:r>
          </a:p>
        </p:txBody>
      </p:sp>
      <p:sp>
        <p:nvSpPr>
          <p:cNvPr id="4" name="Slide Number Placeholder 3"/>
          <p:cNvSpPr>
            <a:spLocks noGrp="1"/>
          </p:cNvSpPr>
          <p:nvPr>
            <p:ph type="sldNum" sz="quarter" idx="10"/>
          </p:nvPr>
        </p:nvSpPr>
        <p:spPr/>
        <p:txBody>
          <a:bodyPr/>
          <a:lstStyle/>
          <a:p>
            <a:fld id="{18BDFEC3-8487-43E8-A154-7C12CBC1FFF2}" type="slidenum">
              <a:rPr lang="en-US"/>
              <a:t>13</a:t>
            </a:fld>
            <a:endParaRPr lang="en-US"/>
          </a:p>
        </p:txBody>
      </p:sp>
    </p:spTree>
  </p:cSld>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where Yang’s research background becomes directly relevant.</a:t>
            </a:r>
          </a:p>
          <a:p>
            <a:pPr lvl="0" indent="0" marL="0">
              <a:buNone/>
            </a:pPr>
          </a:p>
          <a:p>
            <a:pPr lvl="0" indent="0" marL="0">
              <a:buNone/>
            </a:pPr>
            <a:r>
              <a:rPr/>
              <a:t>In relationship products, the environment is not stationary. A user’s preference changes. A relationship stage changes. Business context changes. Feedback is sparse, delayed, and noisy.</a:t>
            </a:r>
          </a:p>
          <a:p>
            <a:pPr lvl="0" indent="0" marL="0">
              <a:buNone/>
            </a:pPr>
          </a:p>
          <a:p>
            <a:pPr lvl="0" indent="0" marL="0">
              <a:buNone/>
            </a:pPr>
            <a:r>
              <a:rPr/>
              <a:t>Yang has worked for years on active learning, drifting distributions, transfer learning, and nonstationary learning. That does not magically solve the product problem, but it gives us a serious scientific base for building systems that adapt with limited data.</a:t>
            </a:r>
          </a:p>
          <a:p>
            <a:pPr lvl="0" indent="0" marL="0">
              <a:buNone/>
            </a:pPr>
          </a:p>
          <a:p>
            <a:pPr lvl="0" indent="0" marL="0">
              <a:buNone/>
            </a:pPr>
            <a:r>
              <a:rPr/>
              <a:t>I would frame our current evidence as early but real: we have engineering tests for memory, persistence, and multi-timescale adaptation. During DD, we can show the repo, test surfaces, and what has or has not been proven.</a:t>
            </a:r>
          </a:p>
          <a:p>
            <a:pPr lvl="0" indent="0" marL="0">
              <a:buNone/>
            </a:pPr>
          </a:p>
          <a:p>
            <a:pPr lvl="0" indent="0" marL="0">
              <a:buNone/>
            </a:pPr>
            <a:r>
              <a:rPr/>
              <a:t>Caution: do not say “O(log n) means we only need 1/1000 data” in main deck. If asked, discuss active learning theory carefully as a scientific basis, not a direct business guarantee.</a:t>
            </a:r>
          </a:p>
        </p:txBody>
      </p:sp>
      <p:sp>
        <p:nvSpPr>
          <p:cNvPr id="4" name="Slide Number Placeholder 3"/>
          <p:cNvSpPr>
            <a:spLocks noGrp="1"/>
          </p:cNvSpPr>
          <p:nvPr>
            <p:ph type="sldNum" sz="quarter" idx="10"/>
          </p:nvPr>
        </p:nvSpPr>
        <p:spPr/>
        <p:txBody>
          <a:bodyPr/>
          <a:lstStyle/>
          <a:p>
            <a:fld id="{18BDFEC3-8487-43E8-A154-7C12CBC1FFF2}" type="slidenum">
              <a:rPr lang="en-US"/>
              <a:t>14</a:t>
            </a:fld>
            <a:endParaRPr lang="en-US"/>
          </a:p>
        </p:txBody>
      </p:sp>
    </p:spTree>
  </p:cSld>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the evidence page, and I want to make the technical part concrete.</a:t>
            </a:r>
          </a:p>
          <a:p>
            <a:pPr lvl="0" indent="0" marL="0">
              <a:buNone/>
            </a:pPr>
          </a:p>
          <a:p>
            <a:pPr lvl="0" indent="0" marL="0">
              <a:buNone/>
            </a:pPr>
            <a:r>
              <a:rPr/>
              <a:t>We are not asking you to believe a beautiful architecture diagram. We can show the system doing five hard things that normal LLM wrappers struggle with.</a:t>
            </a:r>
          </a:p>
          <a:p>
            <a:pPr lvl="0" indent="0" marL="0">
              <a:buNone/>
            </a:pPr>
          </a:p>
          <a:p>
            <a:pPr lvl="0" indent="0" marL="0">
              <a:buNone/>
            </a:pPr>
            <a:r>
              <a:rPr/>
              <a:t>First, it remembers across sessions. A long prompt can look like memory inside one conversation, but it does not prove relationship continuity.</a:t>
            </a:r>
          </a:p>
          <a:p>
            <a:pPr lvl="0" indent="0" marL="0">
              <a:buNone/>
            </a:pPr>
          </a:p>
          <a:p>
            <a:pPr lvl="0" indent="0" marL="0">
              <a:buNone/>
            </a:pPr>
            <a:r>
              <a:rPr/>
              <a:t>Second, it updates old beliefs. RAG can retrieve old notes; a relationship system has to revise what it believes.</a:t>
            </a:r>
          </a:p>
          <a:p>
            <a:pPr lvl="0" indent="0" marL="0">
              <a:buNone/>
            </a:pPr>
          </a:p>
          <a:p>
            <a:pPr lvl="0" indent="0" marL="0">
              <a:buNone/>
            </a:pPr>
            <a:r>
              <a:rPr/>
              <a:t>Third, it keeps users separated. That sounds basic, but it is essential for enterprise and private-traffic deployments.</a:t>
            </a:r>
          </a:p>
          <a:p>
            <a:pPr lvl="0" indent="0" marL="0">
              <a:buNone/>
            </a:pPr>
          </a:p>
          <a:p>
            <a:pPr lvl="0" indent="0" marL="0">
              <a:buNone/>
            </a:pPr>
            <a:r>
              <a:rPr/>
              <a:t>Fourth, we can test behavior changes safely. New modules can run in shadow before becoming active.</a:t>
            </a:r>
          </a:p>
          <a:p>
            <a:pPr lvl="0" indent="0" marL="0">
              <a:buNone/>
            </a:pPr>
          </a:p>
          <a:p>
            <a:pPr lvl="0" indent="0" marL="0">
              <a:buNone/>
            </a:pPr>
            <a:r>
              <a:rPr/>
              <a:t>Fifth, the prompt is thin. The durable logic lives in runtime state.</a:t>
            </a:r>
          </a:p>
          <a:p>
            <a:pPr lvl="0" indent="0" marL="0">
              <a:buNone/>
            </a:pPr>
          </a:p>
          <a:p>
            <a:pPr lvl="0" indent="0" marL="0">
              <a:buNone/>
            </a:pPr>
            <a:r>
              <a:rPr/>
              <a:t>On the commercial side, we have 6 signed JVs and access to a large audience and enterprise base. But the open gaps are equally important: the JVs have not yet produced real ARR, and conversion uplift is not yet proven.</a:t>
            </a:r>
          </a:p>
          <a:p>
            <a:pPr lvl="0" indent="0" marL="0">
              <a:buNone/>
            </a:pPr>
          </a:p>
          <a:p>
            <a:pPr lvl="0" indent="0" marL="0">
              <a:buNone/>
            </a:pPr>
            <a:r>
              <a:rPr/>
              <a:t>So the company is not “proven”. It is at the point where the next 6-18 months can turn technical proof into business proof.</a:t>
            </a:r>
          </a:p>
          <a:p>
            <a:pPr lvl="0" indent="0" marL="0">
              <a:buNone/>
            </a:pPr>
          </a:p>
          <a:p>
            <a:pPr lvl="0" indent="0" marL="0">
              <a:buNone/>
            </a:pPr>
            <a:r>
              <a:rPr/>
              <a:t>Optional live demo flow (3 min): create memory in session 1 → restart → ask related question in session 2 → correct one fact → switch user identity and show no leakage.</a:t>
            </a:r>
          </a:p>
        </p:txBody>
      </p:sp>
      <p:sp>
        <p:nvSpPr>
          <p:cNvPr id="4" name="Slide Number Placeholder 3"/>
          <p:cNvSpPr>
            <a:spLocks noGrp="1"/>
          </p:cNvSpPr>
          <p:nvPr>
            <p:ph type="sldNum" sz="quarter" idx="10"/>
          </p:nvPr>
        </p:nvSpPr>
        <p:spPr/>
        <p:txBody>
          <a:bodyPr/>
          <a:lstStyle/>
          <a:p>
            <a:fld id="{18BDFEC3-8487-43E8-A154-7C12CBC1FFF2}" type="slidenum">
              <a:rPr lang="en-US"/>
              <a:t>16</a:t>
            </a:fld>
            <a:endParaRPr lang="en-US"/>
          </a:p>
        </p:txBody>
      </p:sp>
    </p:spTree>
  </p:cSld>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main commercial question is whether signed access becomes real revenue.</a:t>
            </a:r>
          </a:p>
          <a:p>
            <a:pPr lvl="0" indent="0" marL="0">
              <a:buNone/>
            </a:pPr>
          </a:p>
          <a:p>
            <a:pPr lvl="0" indent="0" marL="0">
              <a:buNone/>
            </a:pPr>
            <a:r>
              <a:rPr/>
              <a:t>We have 6 JVs. That is not the same as ARR. I want to be explicit about that. Our 18-month plan is to turn at least 3 of them into in-production deployments and reach more than $1M real ARR.</a:t>
            </a:r>
          </a:p>
          <a:p>
            <a:pPr lvl="0" indent="0" marL="0">
              <a:buNone/>
            </a:pPr>
          </a:p>
          <a:p>
            <a:pPr lvl="0" indent="0" marL="0">
              <a:buNone/>
            </a:pPr>
            <a:r>
              <a:rPr/>
              <a:t>The first three months should produce the first lighthouse: real users, real usage, and measurable retention or conversion. By month nine, we should have three JVs in production. By month eighteen, we should have real ARR, not projected ARR.</a:t>
            </a:r>
          </a:p>
          <a:p>
            <a:pPr lvl="0" indent="0" marL="0">
              <a:buNone/>
            </a:pPr>
          </a:p>
          <a:p>
            <a:pPr lvl="0" indent="0" marL="0">
              <a:buNone/>
            </a:pPr>
            <a:r>
              <a:rPr/>
              <a:t>If we do not hit those milestones, we should not be raising a Series A on this story.</a:t>
            </a:r>
          </a:p>
        </p:txBody>
      </p:sp>
      <p:sp>
        <p:nvSpPr>
          <p:cNvPr id="4" name="Slide Number Placeholder 3"/>
          <p:cNvSpPr>
            <a:spLocks noGrp="1"/>
          </p:cNvSpPr>
          <p:nvPr>
            <p:ph type="sldNum" sz="quarter" idx="10"/>
          </p:nvPr>
        </p:nvSpPr>
        <p:spPr/>
        <p:txBody>
          <a:bodyPr/>
          <a:lstStyle/>
          <a:p>
            <a:fld id="{18BDFEC3-8487-43E8-A154-7C12CBC1FFF2}" type="slidenum">
              <a:rPr lang="en-US"/>
              <a:t>18</a:t>
            </a:fld>
            <a:endParaRPr lang="en-US"/>
          </a:p>
        </p:txBody>
      </p:sp>
    </p:spTree>
  </p:cSld>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the page where I want to be specific about money, and equally specific about what would make us walk away.</a:t>
            </a:r>
          </a:p>
          <a:p>
            <a:pPr lvl="0" indent="0" marL="0">
              <a:buNone/>
            </a:pPr>
          </a:p>
          <a:p>
            <a:pPr lvl="0" indent="0" marL="0">
              <a:buNone/>
            </a:pPr>
            <a:r>
              <a:rPr/>
              <a:t>The Mobi JV has two revenue layers per converted user per year: a service fee of about RMB 30 that covers our platform and token procurement, and a profit share of about RMB 100 on the distributable margin. At a 2026 target of around 187,000 converted orders, that contributes roughly RMB 5.6M, about $800K, to Volvence from this single JV.</a:t>
            </a:r>
          </a:p>
          <a:p>
            <a:pPr lvl="0" indent="0" marL="0">
              <a:buNone/>
            </a:pPr>
          </a:p>
          <a:p>
            <a:pPr lvl="0" indent="0" marL="0">
              <a:buNone/>
            </a:pPr>
            <a:r>
              <a:rPr/>
              <a:t>I have to be explicit about the conversion assumption. The industry baseline for SCRM-style private traffic is around 0.3%. Our projected uplift with the relationship runtime is 0.6% to 1.0%. That projection is anchored on the demo behavior — recommendation timing, preference separation, repair-after-rupture — but the 3-month pilot observation window is not yet complete. So this is a projection, not a result.</a:t>
            </a:r>
          </a:p>
          <a:p>
            <a:pPr lvl="0" indent="0" marL="0">
              <a:buNone/>
            </a:pPr>
          </a:p>
          <a:p>
            <a:pPr lvl="0" indent="0" marL="0">
              <a:buNone/>
            </a:pPr>
            <a:r>
              <a:rPr/>
              <a:t>The kill criterion is the part I want you to remember. If the 3-month pilot lands below 0.5%, we deprioritize this vertical. We do not double down to defend the thesis. That discipline applies to every JV in the portfolio.</a:t>
            </a:r>
          </a:p>
        </p:txBody>
      </p:sp>
      <p:sp>
        <p:nvSpPr>
          <p:cNvPr id="4" name="Slide Number Placeholder 3"/>
          <p:cNvSpPr>
            <a:spLocks noGrp="1"/>
          </p:cNvSpPr>
          <p:nvPr>
            <p:ph type="sldNum" sz="quarter" idx="10"/>
          </p:nvPr>
        </p:nvSpPr>
        <p:spPr/>
        <p:txBody>
          <a:bodyPr/>
          <a:lstStyle/>
          <a:p>
            <a:fld id="{18BDFEC3-8487-43E8-A154-7C12CBC1FFF2}" type="slidenum">
              <a:rPr lang="en-US"/>
              <a:t>20</a:t>
            </a:fld>
            <a:endParaRPr lang="en-US"/>
          </a:p>
        </p:txBody>
      </p:sp>
    </p:spTree>
  </p:cSld>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underlying commercial thesis is not “we are a cheaper Weimob”. It is repricing. Weimob and Youzan sell reach, so their ARPU is around RMB 1K per brand per month. We are selling long-term relationship optimization, which gives us a path to RMB 5K-50K per brand per month. That is where the multiple comes from, if the conversion thesis holds.</a:t>
            </a:r>
          </a:p>
        </p:txBody>
      </p:sp>
      <p:sp>
        <p:nvSpPr>
          <p:cNvPr id="4" name="Slide Number Placeholder 3"/>
          <p:cNvSpPr>
            <a:spLocks noGrp="1"/>
          </p:cNvSpPr>
          <p:nvPr>
            <p:ph type="sldNum" sz="quarter" idx="10"/>
          </p:nvPr>
        </p:nvSpPr>
        <p:spPr/>
        <p:txBody>
          <a:bodyPr/>
          <a:lstStyle/>
          <a:p>
            <a:fld id="{18BDFEC3-8487-43E8-A154-7C12CBC1FFF2}" type="slidenum">
              <a:rPr lang="en-US"/>
              <a:t>22</a:t>
            </a:fld>
            <a:endParaRPr lang="en-US"/>
          </a:p>
        </p:txBody>
      </p:sp>
    </p:spTree>
  </p:cSld>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I want to add one strategic point, because it explains why this can expand beyond China.</a:t>
            </a:r>
          </a:p>
          <a:p>
            <a:pPr lvl="0" indent="0" marL="0">
              <a:buNone/>
            </a:pPr>
          </a:p>
          <a:p>
            <a:pPr lvl="0" indent="0" marL="0">
              <a:buNone/>
            </a:pPr>
            <a:r>
              <a:rPr/>
              <a:t>China private traffic is our first wedge because the behavior already exists at massive scale. Public traffic is pulled into WeChat, groups, and 1-on-1 relationships. Commerce then happens through repeated trust, not one ad click.</a:t>
            </a:r>
          </a:p>
          <a:p>
            <a:pPr lvl="0" indent="0" marL="0">
              <a:buNone/>
            </a:pPr>
          </a:p>
          <a:p>
            <a:pPr lvl="0" indent="0" marL="0">
              <a:buNone/>
            </a:pPr>
            <a:r>
              <a:rPr/>
              <a:t>But this pattern is not uniquely Chinese. Globally, public audiences also move into private or semi-private channels: TikTok creators move fans into Discord, WhatsApp, SMS, email lists, communities, memberships, and commerce flows.</a:t>
            </a:r>
          </a:p>
          <a:p>
            <a:pPr lvl="0" indent="0" marL="0">
              <a:buNone/>
            </a:pPr>
          </a:p>
          <a:p>
            <a:pPr lvl="0" indent="0" marL="0">
              <a:buNone/>
            </a:pPr>
            <a:r>
              <a:rPr/>
              <a:t>The missing layer is the same: once a user leaves the public algorithmic feed and enters a private relationship channel, who understands that user over time?</a:t>
            </a:r>
          </a:p>
          <a:p>
            <a:pPr lvl="0" indent="0" marL="0">
              <a:buNone/>
            </a:pPr>
          </a:p>
          <a:p>
            <a:pPr lvl="0" indent="0" marL="0">
              <a:buNone/>
            </a:pPr>
            <a:r>
              <a:rPr/>
              <a:t>TikTok understands attention through content behavior. Volvence’s opportunity is to understand customers through relationship behavior.</a:t>
            </a:r>
          </a:p>
          <a:p>
            <a:pPr lvl="0" indent="0" marL="0">
              <a:buNone/>
            </a:pPr>
          </a:p>
          <a:p>
            <a:pPr lvl="0" indent="0" marL="0">
              <a:buNone/>
            </a:pPr>
            <a:r>
              <a:rPr/>
              <a:t>That creates a platform option. I would still frame this carefully: this is not the next 12-month proof. The next 12-month proof is production usage and real ARR. But it is the reason the wedge can become much larger if the runtime works.</a:t>
            </a:r>
          </a:p>
        </p:txBody>
      </p:sp>
      <p:sp>
        <p:nvSpPr>
          <p:cNvPr id="4" name="Slide Number Placeholder 3"/>
          <p:cNvSpPr>
            <a:spLocks noGrp="1"/>
          </p:cNvSpPr>
          <p:nvPr>
            <p:ph type="sldNum" sz="quarter" idx="10"/>
          </p:nvPr>
        </p:nvSpPr>
        <p:spPr/>
        <p:txBody>
          <a:bodyPr/>
          <a:lstStyle/>
          <a:p>
            <a:fld id="{18BDFEC3-8487-43E8-A154-7C12CBC1FFF2}" type="slidenum">
              <a:rPr lang="en-US"/>
              <a:t>24</a:t>
            </a:fld>
            <a:endParaRPr lang="en-US"/>
          </a:p>
        </p:txBody>
      </p:sp>
    </p:spTree>
  </p:cSld>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These are the risks I would focus on if I were in your seat.</a:t>
            </a:r>
          </a:p>
          <a:p>
            <a:pPr lvl="0" indent="0" marL="0">
              <a:buNone/>
            </a:pPr>
          </a:p>
          <a:p>
            <a:pPr lvl="0" indent="0" marL="0">
              <a:buNone/>
            </a:pPr>
            <a:r>
              <a:rPr/>
              <a:t>First, signed JVs may not convert to real usage. Second, relationship quality may not produce business uplift. Third, base models may add stronger memory. Fourth, regulation may tighten. Fifth, a small team may be stretched too thin.</a:t>
            </a:r>
          </a:p>
          <a:p>
            <a:pPr lvl="0" indent="0" marL="0">
              <a:buNone/>
            </a:pPr>
          </a:p>
          <a:p>
            <a:pPr lvl="0" indent="0" marL="0">
              <a:buNone/>
            </a:pPr>
            <a:r>
              <a:rPr/>
              <a:t>Our answer is not to hand-wave these risks. It is to test them quickly. If we cannot get lighthouse usage, retention, conversion signal, and three in-production deployments, then the story is not ready for Series A.</a:t>
            </a:r>
          </a:p>
          <a:p>
            <a:pPr lvl="0" indent="0" marL="0">
              <a:buNone/>
            </a:pPr>
          </a:p>
          <a:p>
            <a:pPr lvl="0" indent="0" marL="0">
              <a:buNone/>
            </a:pPr>
            <a:r>
              <a:rPr/>
              <a:t>On substitution risk: if base models get better memory, that helps the substrate. Our value has to be vertical relationship state, governance, and workflow integration.</a:t>
            </a:r>
          </a:p>
        </p:txBody>
      </p:sp>
      <p:sp>
        <p:nvSpPr>
          <p:cNvPr id="4" name="Slide Number Placeholder 3"/>
          <p:cNvSpPr>
            <a:spLocks noGrp="1"/>
          </p:cNvSpPr>
          <p:nvPr>
            <p:ph type="sldNum" sz="quarter" idx="10"/>
          </p:nvPr>
        </p:nvSpPr>
        <p:spPr/>
        <p:txBody>
          <a:bodyPr/>
          <a:lstStyle/>
          <a:p>
            <a:fld id="{18BDFEC3-8487-43E8-A154-7C12CBC1FFF2}" type="slidenum">
              <a:rPr lang="en-US"/>
              <a:t>26</a:t>
            </a:fld>
            <a:endParaRPr lang="en-US"/>
          </a:p>
        </p:txBody>
      </p:sp>
    </p:spTree>
  </p:cSld>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We are raising $3M to $5M as a late seed or pre-Series A round, with Xfund as lead or co-lead if there is alignment.</a:t>
            </a:r>
          </a:p>
          <a:p>
            <a:pPr lvl="0" indent="0" marL="0">
              <a:buNone/>
            </a:pPr>
          </a:p>
          <a:p>
            <a:pPr lvl="0" indent="0" marL="0">
              <a:buNone/>
            </a:pPr>
            <a:r>
              <a:rPr/>
              <a:t>On valuation, the target range we are working with is $20M to $30M pre-money. I want to flag that as a range under discussion, not a take-it-or-leave-it number. We would expect Xfund’s ticket in the $1.5M to $2.5M band, which corresponds to roughly 7% to 10% equity at that range.</a:t>
            </a:r>
          </a:p>
          <a:p>
            <a:pPr lvl="0" indent="0" marL="0">
              <a:buNone/>
            </a:pPr>
          </a:p>
          <a:p>
            <a:pPr lvl="0" indent="0" marL="0">
              <a:buNone/>
            </a:pPr>
            <a:r>
              <a:rPr/>
              <a:t>The purpose of this round is not broad expansion. It is validation. We need 18 months to turn signed access into production deployments, real revenue, and repeatable evidence.</a:t>
            </a:r>
          </a:p>
          <a:p>
            <a:pPr lvl="0" indent="0" marL="0">
              <a:buNone/>
            </a:pPr>
          </a:p>
          <a:p>
            <a:pPr lvl="0" indent="0" marL="0">
              <a:buNone/>
            </a:pPr>
            <a:r>
              <a:rPr/>
              <a:t>The next financing gate is clear: 3 JVs in production, more than $1M real ARR, and a repeatable deployment playbook.</a:t>
            </a:r>
          </a:p>
          <a:p>
            <a:pPr lvl="0" indent="0" marL="0">
              <a:buNone/>
            </a:pPr>
          </a:p>
          <a:p>
            <a:pPr lvl="0" indent="0" marL="0">
              <a:buNone/>
            </a:pPr>
            <a:r>
              <a:rPr/>
              <a:t>If we hit that, we can raise Series A from a position of evidence. If we do not, we should narrow or rethink the wedge.</a:t>
            </a:r>
          </a:p>
        </p:txBody>
      </p:sp>
      <p:sp>
        <p:nvSpPr>
          <p:cNvPr id="4" name="Slide Number Placeholder 3"/>
          <p:cNvSpPr>
            <a:spLocks noGrp="1"/>
          </p:cNvSpPr>
          <p:nvPr>
            <p:ph type="sldNum" sz="quarter" idx="10"/>
          </p:nvPr>
        </p:nvSpPr>
        <p:spPr/>
        <p:txBody>
          <a:bodyPr/>
          <a:lstStyle/>
          <a:p>
            <a:fld id="{18BDFEC3-8487-43E8-A154-7C12CBC1FFF2}" type="slidenum">
              <a:rPr lang="en-US"/>
              <a:t>28</a:t>
            </a:fld>
            <a:endParaRPr lang="en-US"/>
          </a:p>
        </p:txBody>
      </p:sp>
    </p:spTree>
  </p:cSld>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thesis is simple.</a:t>
            </a:r>
          </a:p>
          <a:p>
            <a:pPr lvl="0" indent="0" marL="0">
              <a:buNone/>
            </a:pPr>
          </a:p>
          <a:p>
            <a:pPr lvl="0" indent="0" marL="0">
              <a:buNone/>
            </a:pPr>
            <a:r>
              <a:rPr/>
              <a:t>Many AI products will not be judged by one answer. They will be judged by whether they can maintain a useful, trusted relationship over time.</a:t>
            </a:r>
          </a:p>
          <a:p>
            <a:pPr lvl="0" indent="0" marL="0">
              <a:buNone/>
            </a:pPr>
          </a:p>
          <a:p>
            <a:pPr lvl="0" indent="0" marL="0">
              <a:buNone/>
            </a:pPr>
            <a:r>
              <a:rPr/>
              <a:t>Volvence is building the runtime for that. Relationship data — the second-generation vertical data — is what accumulates inside that runtime. Private traffic is our first wedge because the market already has relationship demand and distribution access.</a:t>
            </a:r>
          </a:p>
          <a:p>
            <a:pPr lvl="0" indent="0" marL="0">
              <a:buNone/>
            </a:pPr>
          </a:p>
          <a:p>
            <a:pPr lvl="0" indent="0" marL="0">
              <a:buNone/>
            </a:pPr>
            <a:r>
              <a:rPr/>
              <a:t>The next 18 months are about proof: signed access to production usage to real ARR.</a:t>
            </a:r>
          </a:p>
          <a:p>
            <a:pPr lvl="0" indent="0" marL="0">
              <a:buNone/>
            </a:pPr>
          </a:p>
          <a:p>
            <a:pPr lvl="0" indent="0" marL="0">
              <a:buNone/>
            </a:pPr>
            <a:r>
              <a:rPr/>
              <a:t>I would love to spend the rest of the time on your questions.</a:t>
            </a:r>
          </a:p>
        </p:txBody>
      </p:sp>
      <p:sp>
        <p:nvSpPr>
          <p:cNvPr id="4" name="Slide Number Placeholder 3"/>
          <p:cNvSpPr>
            <a:spLocks noGrp="1"/>
          </p:cNvSpPr>
          <p:nvPr>
            <p:ph type="sldNum" sz="quarter" idx="10"/>
          </p:nvPr>
        </p:nvSpPr>
        <p:spPr/>
        <p:txBody>
          <a:bodyPr/>
          <a:lstStyle/>
          <a:p>
            <a:fld id="{18BDFEC3-8487-43E8-A154-7C12CBC1FFF2}" type="slidenum">
              <a:rPr lang="en-US"/>
              <a:t>29</a:t>
            </a:fld>
            <a:endParaRPr lang="en-US"/>
          </a:p>
        </p:txBody>
      </p:sp>
    </p:spTree>
  </p:cSld>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We built Companion Benchmark because existing benchmarks mostly measure single-turn preference, task completion, or role-play consistency. Our category needs long-session relationship evaluation.</a:t>
            </a:r>
          </a:p>
          <a:p>
            <a:pPr lvl="0" indent="0" marL="0">
              <a:buNone/>
            </a:pPr>
          </a:p>
          <a:p>
            <a:pPr lvl="0" indent="0" marL="0">
              <a:buNone/>
            </a:pPr>
            <a:r>
              <a:rPr/>
              <a:t>But I would not overclaim this today. The benchmark is designed, but the reference model runs and judge robustness are still in progress. It is a useful evaluation asset, not yet an industry standard.</a:t>
            </a:r>
          </a:p>
        </p:txBody>
      </p:sp>
      <p:sp>
        <p:nvSpPr>
          <p:cNvPr id="4" name="Slide Number Placeholder 3"/>
          <p:cNvSpPr>
            <a:spLocks noGrp="1"/>
          </p:cNvSpPr>
          <p:nvPr>
            <p:ph type="sldNum" sz="quarter" idx="10"/>
          </p:nvPr>
        </p:nvSpPr>
        <p:spPr/>
        <p:txBody>
          <a:bodyPr/>
          <a:lstStyle/>
          <a:p>
            <a:fld id="{18BDFEC3-8487-43E8-A154-7C12CBC1FFF2}" type="slidenum">
              <a:rPr lang="en-US"/>
              <a:t>31</a:t>
            </a:fld>
            <a:endParaRPr lang="en-US"/>
          </a:p>
        </p:txBody>
      </p:sp>
    </p:spTree>
  </p:cSld>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Einstein is a useful case study because it shows the runtime’s auditability and scope control. A normal persona prompt tries to answer everything. Our figure bundle can refuse when outside documented material.</a:t>
            </a:r>
          </a:p>
          <a:p>
            <a:pPr lvl="0" indent="0" marL="0">
              <a:buNone/>
            </a:pPr>
          </a:p>
          <a:p>
            <a:pPr lvl="0" indent="0" marL="0">
              <a:buNone/>
            </a:pPr>
            <a:r>
              <a:rPr/>
              <a:t>The L4 refusal layer is what matters most. Museums, universities, and publishers do not buy theatrical realism — they buy governed fidelity.</a:t>
            </a:r>
          </a:p>
          <a:p>
            <a:pPr lvl="0" indent="0" marL="0">
              <a:buNone/>
            </a:pPr>
          </a:p>
          <a:p>
            <a:pPr lvl="0" indent="0" marL="0">
              <a:buNone/>
            </a:pPr>
            <a:r>
              <a:rPr/>
              <a:t>That said, I would not make this the center of this fundraising story. The first wedge is private traffic because it has clearer distribution and revenue path.</a:t>
            </a:r>
          </a:p>
        </p:txBody>
      </p:sp>
      <p:sp>
        <p:nvSpPr>
          <p:cNvPr id="4" name="Slide Number Placeholder 3"/>
          <p:cNvSpPr>
            <a:spLocks noGrp="1"/>
          </p:cNvSpPr>
          <p:nvPr>
            <p:ph type="sldNum" sz="quarter" idx="10"/>
          </p:nvPr>
        </p:nvSpPr>
        <p:spPr/>
        <p:txBody>
          <a:bodyPr/>
          <a:lstStyle/>
          <a:p>
            <a:fld id="{18BDFEC3-8487-43E8-A154-7C12CBC1FFF2}" type="slidenum">
              <a:rPr lang="en-US"/>
              <a:t>33</a:t>
            </a:fld>
            <a:endParaRPr lang="en-US"/>
          </a:p>
        </p:txBody>
      </p:sp>
    </p:spTree>
  </p:cSld>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I would state this carefully.</a:t>
            </a:r>
          </a:p>
          <a:p>
            <a:pPr lvl="0" indent="0" marL="0">
              <a:buNone/>
            </a:pPr>
          </a:p>
          <a:p>
            <a:pPr lvl="0" indent="0" marL="0">
              <a:buNone/>
            </a:pPr>
            <a:r>
              <a:rPr/>
              <a:t>Yang’s work gives us a serious foundation for data-efficient learning under changing conditions. In theory, active learning can substantially reduce label complexity under specific assumptions.</a:t>
            </a:r>
          </a:p>
          <a:p>
            <a:pPr lvl="0" indent="0" marL="0">
              <a:buNone/>
            </a:pPr>
          </a:p>
          <a:p>
            <a:pPr lvl="0" indent="0" marL="0">
              <a:buNone/>
            </a:pPr>
            <a:r>
              <a:rPr/>
              <a:t>But I would not claim that theory directly guarantees a 1/1000 data advantage in every vertical. What we need to show in DD and production are task-level ablations: passive versus active learning curves, label efficiency, and product metrics.</a:t>
            </a:r>
          </a:p>
        </p:txBody>
      </p:sp>
      <p:sp>
        <p:nvSpPr>
          <p:cNvPr id="4" name="Slide Number Placeholder 3"/>
          <p:cNvSpPr>
            <a:spLocks noGrp="1"/>
          </p:cNvSpPr>
          <p:nvPr>
            <p:ph type="sldNum" sz="quarter" idx="10"/>
          </p:nvPr>
        </p:nvSpPr>
        <p:spPr/>
        <p:txBody>
          <a:bodyPr/>
          <a:lstStyle/>
          <a:p>
            <a:fld id="{18BDFEC3-8487-43E8-A154-7C12CBC1FFF2}" type="slidenum">
              <a:rPr lang="en-US"/>
              <a:t>34</a:t>
            </a:fld>
            <a:endParaRPr lang="en-US"/>
          </a:p>
        </p:txBody>
      </p:sp>
    </p:spTree>
  </p:cSld>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We have a detailed internal model, and we can share it during DD.</a:t>
            </a:r>
          </a:p>
          <a:p>
            <a:pPr lvl="0" indent="0" marL="0">
              <a:buNone/>
            </a:pPr>
          </a:p>
          <a:p>
            <a:pPr lvl="0" indent="0" marL="0">
              <a:buNone/>
            </a:pPr>
            <a:r>
              <a:rPr/>
              <a:t>The number to anchor on is 2026 revenue of around RMB 35M, or roughly $5M. The 2027 and 2028 figures depend on whether the unit economics from Mobi repeat across other verticals.</a:t>
            </a:r>
          </a:p>
          <a:p>
            <a:pPr lvl="0" indent="0" marL="0">
              <a:buNone/>
            </a:pPr>
          </a:p>
          <a:p>
            <a:pPr lvl="0" indent="0" marL="0">
              <a:buNone/>
            </a:pPr>
            <a:r>
              <a:rPr/>
              <a:t>The point of this table is not “we will do $58M in 2028”. The point is that the projection has anchors: signed partner audience size, industry baseline conversion, and the contracted revenue share structures. I would still treat all of it as scenario planning, not proof.</a:t>
            </a:r>
          </a:p>
        </p:txBody>
      </p:sp>
      <p:sp>
        <p:nvSpPr>
          <p:cNvPr id="4" name="Slide Number Placeholder 3"/>
          <p:cNvSpPr>
            <a:spLocks noGrp="1"/>
          </p:cNvSpPr>
          <p:nvPr>
            <p:ph type="sldNum" sz="quarter" idx="10"/>
          </p:nvPr>
        </p:nvSpPr>
        <p:spPr/>
        <p:txBody>
          <a:bodyPr/>
          <a:lstStyle/>
          <a:p>
            <a:fld id="{18BDFEC3-8487-43E8-A154-7C12CBC1FFF2}" type="slidenum">
              <a:rPr lang="en-US"/>
              <a:t>36</a:t>
            </a:fld>
            <a:endParaRPr lang="en-US"/>
          </a:p>
        </p:txBody>
      </p:sp>
    </p:spTree>
  </p:cSld>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If someone asks whether this is just a wrapper, I would answer with this ladder.</a:t>
            </a:r>
          </a:p>
          <a:p>
            <a:pPr lvl="0" indent="0" marL="0">
              <a:buNone/>
            </a:pPr>
          </a:p>
          <a:p>
            <a:pPr lvl="0" indent="0" marL="0">
              <a:buNone/>
            </a:pPr>
            <a:r>
              <a:rPr/>
              <a:t>L1: same user’s relationship state across sessions. Minimum requirement. L2: revise old information after correction. The difference between retrieval and learning. L3: user states stay isolated. Required for real deployment. L4: new behavior runs in shadow before it affects customers. A safe way to improve. L5: core behavior works with thin prompts. The point is not that there is literally no prompt anywhere; every LLM call has some interface instruction. The point is that the prompt does not own the product logic — it renders runtime state. L6: compare old and new behavior with metrics. This is when the system becomes an engineering discipline rather than founder intuition.</a:t>
            </a:r>
          </a:p>
          <a:p>
            <a:pPr lvl="0" indent="0" marL="0">
              <a:buNone/>
            </a:pPr>
          </a:p>
          <a:p>
            <a:pPr lvl="0" indent="0" marL="0">
              <a:buNone/>
            </a:pPr>
            <a:r>
              <a:rPr/>
              <a:t>The technical moat is not one magical model or one clever prompt. It is the runtime discipline around relationship state.</a:t>
            </a:r>
          </a:p>
        </p:txBody>
      </p:sp>
      <p:sp>
        <p:nvSpPr>
          <p:cNvPr id="4" name="Slide Number Placeholder 3"/>
          <p:cNvSpPr>
            <a:spLocks noGrp="1"/>
          </p:cNvSpPr>
          <p:nvPr>
            <p:ph type="sldNum" sz="quarter" idx="10"/>
          </p:nvPr>
        </p:nvSpPr>
        <p:spPr/>
        <p:txBody>
          <a:bodyPr/>
          <a:lstStyle/>
          <a:p>
            <a:fld id="{18BDFEC3-8487-43E8-A154-7C12CBC1FFF2}" type="slidenum">
              <a:rPr lang="en-US"/>
              <a:t>38</a:t>
            </a:fld>
            <a:endParaRPr lang="en-US"/>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7.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8.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9.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0.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1.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2.xml" /></Relationships>
</file>

<file path=ppt/slides/_rels/slide17.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1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3.xml" /></Relationships>
</file>

<file path=ppt/slides/_rels/slide19.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2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4.xml" /></Relationships>
</file>

<file path=ppt/slides/_rels/slide21.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2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5.xml" /></Relationships>
</file>

<file path=ppt/slides/_rels/slide23.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2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6.xml" /></Relationships>
</file>

<file path=ppt/slides/_rels/slide25.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2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7.xml" /></Relationships>
</file>

<file path=ppt/slides/_rels/slide2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8.xml" /></Relationships>
</file>

<file path=ppt/slides/_rels/slide2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9.xml" /></Relationships>
</file>

<file path=ppt/slides/_rels/slide3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0.xml" /></Relationships>
</file>

<file path=ppt/slides/_rels/slide32.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3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1.xml" /></Relationships>
</file>

<file path=ppt/slides/_rels/slide3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2.xml" /></Relationships>
</file>

<file path=ppt/slides/_rels/slide35.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3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3.xml" /></Relationships>
</file>

<file path=ppt/slides/_rels/slide37.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3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4.xml" /></Relationships>
</file>

<file path=ppt/slides/_rels/slide39.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VOLVENCE</a:t>
            </a:r>
          </a:p>
        </p:txBody>
      </p:sp>
      <p:sp>
        <p:nvSpPr>
          <p:cNvPr id="3" name="Subtitle 2"/>
          <p:cNvSpPr>
            <a:spLocks noGrp="1"/>
          </p:cNvSpPr>
          <p:nvPr>
            <p:ph idx="1" type="subTitle"/>
          </p:nvPr>
        </p:nvSpPr>
        <p:spPr>
          <a:xfrm>
            <a:off x="1371600" y="2914650"/>
            <a:ext cx="6400800" cy="1314450"/>
          </a:xfrm>
        </p:spPr>
        <p:txBody>
          <a:bodyPr/>
          <a:lstStyle/>
          <a:p>
            <a:pPr lvl="0" indent="0" marL="0">
              <a:buNone/>
            </a:pPr>
            <a:r>
              <a:rPr/>
              <a:t>A relationship runtime for AI products</a:t>
            </a:r>
            <a:br/>
            <a:br/>
            <a:r>
              <a:rPr/>
              <a:t>Zhao Jiangbo, Founder &amp; CEO</a:t>
            </a:r>
          </a:p>
        </p:txBody>
      </p:sp>
      <p:sp>
        <p:nvSpPr>
          <p:cNvPr id="4" name="Date Placeholder 3"/>
          <p:cNvSpPr>
            <a:spLocks noGrp="1"/>
          </p:cNvSpPr>
          <p:nvPr>
            <p:ph idx="10" sz="half" type="dt"/>
          </p:nvPr>
        </p:nvSpPr>
        <p:spPr/>
        <p:txBody>
          <a:bodyPr/>
          <a:lstStyle/>
          <a:p>
            <a:pPr lvl="0" indent="0" marL="0">
              <a:buNone/>
            </a:pPr>
            <a:r>
              <a:rPr/>
              <a:t>Xfund conversation · May 2026</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VOLVENCE — A relationship runtime for AI products</a:t>
            </a:r>
          </a:p>
        </p:txBody>
      </p:sp>
      <p:sp>
        <p:nvSpPr>
          <p:cNvPr id="3" name="Content Placeholder 2"/>
          <p:cNvSpPr>
            <a:spLocks noGrp="1"/>
          </p:cNvSpPr>
          <p:nvPr>
            <p:ph idx="1"/>
          </p:nvPr>
        </p:nvSpPr>
        <p:spPr/>
        <p:txBody>
          <a:bodyPr/>
          <a:lstStyle/>
          <a:p>
            <a:pPr lvl="0" indent="0" marL="0">
              <a:buNone/>
            </a:pPr>
            <a:r>
              <a:rPr b="1"/>
              <a:t>Thin Prompt. Thick Runtime.</a:t>
            </a:r>
          </a:p>
          <a:p>
            <a:pPr lvl="0" indent="0" marL="0">
              <a:buNone/>
            </a:pPr>
            <a:r>
              <a:rPr/>
              <a:t>Cross-session memory · adaptive behavior · auditable governance</a:t>
            </a:r>
          </a:p>
          <a:p>
            <a:pPr lvl="0" indent="0" marL="0">
              <a:buNone/>
            </a:pPr>
            <a:r>
              <a:rPr/>
              <a:t>Built for verticals where the product is not one answer, but a relationship over time.</a:t>
            </a:r>
          </a:p>
          <a:p>
            <a:pPr lvl="0" indent="0" marL="0">
              <a:buNone/>
            </a:pPr>
            <a:r>
              <a:rPr/>
              <a:t>Zhao Jiangbo, Founder &amp; CEO Xfund conversation · May 2026</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Founder: Why I Am Working On This</a:t>
            </a:r>
          </a:p>
        </p:txBody>
      </p:sp>
      <p:sp>
        <p:nvSpPr>
          <p:cNvPr id="3" name="Content Placeholder 2"/>
          <p:cNvSpPr>
            <a:spLocks noGrp="1"/>
          </p:cNvSpPr>
          <p:nvPr>
            <p:ph idx="1"/>
          </p:nvPr>
        </p:nvSpPr>
        <p:spPr/>
        <p:txBody>
          <a:bodyPr/>
          <a:lstStyle/>
          <a:p>
            <a:pPr lvl="0" indent="0" marL="0">
              <a:buNone/>
            </a:pPr>
            <a:r>
              <a:rPr b="1"/>
              <a:t>Zhao Jiangbo</a:t>
            </a:r>
          </a:p>
          <a:p>
            <a:pPr lvl="0"/>
            <a:r>
              <a:rPr/>
              <a:t>Peking University CS + MBA</a:t>
            </a:r>
          </a:p>
          <a:p>
            <a:pPr lvl="0"/>
            <a:r>
              <a:rPr/>
              <a:t>IBM Japan Research Lab</a:t>
            </a:r>
          </a:p>
          <a:p>
            <a:pPr lvl="0"/>
            <a:r>
              <a:rPr/>
              <a:t>China HP Software Sales GM</a:t>
            </a:r>
          </a:p>
          <a:p>
            <a:pPr lvl="0"/>
            <a:r>
              <a:rPr/>
              <a:t>Alibaba VP Assistant + Public Security Industry Director</a:t>
            </a:r>
          </a:p>
          <a:p>
            <a:pPr lvl="0"/>
            <a:r>
              <a:rPr/>
              <a:t>3x founder; Haopai reached 300K users with zero paid acquisition</a:t>
            </a:r>
          </a:p>
          <a:p>
            <a:pPr lvl="0"/>
            <a:r>
              <a:rPr/>
              <a:t>Self-funded Volvence R&amp;D with RMB 5M since ChatGPT launch</a:t>
            </a:r>
          </a:p>
          <a:p>
            <a:pPr lvl="0"/>
            <a:r>
              <a:rPr/>
              <a:t>Hands-on engineering commitment: GitHub activity since Nov 2022, DD-verifiable</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Team: Scientific Depth + Commercial Access</a:t>
            </a:r>
          </a:p>
        </p:txBody>
      </p:sp>
      <p:sp>
        <p:nvSpPr>
          <p:cNvPr id="3" name="Content Placeholder 2"/>
          <p:cNvSpPr>
            <a:spLocks noGrp="1"/>
          </p:cNvSpPr>
          <p:nvPr>
            <p:ph idx="1"/>
          </p:nvPr>
        </p:nvSpPr>
        <p:spPr/>
        <p:txBody>
          <a:bodyPr/>
          <a:lstStyle/>
          <a:p>
            <a:pPr lvl="0" indent="0" marL="0">
              <a:buNone/>
            </a:pPr>
            <a:r>
              <a:rPr b="1"/>
              <a:t>Yang Liu, PhD — Co-founder &amp; Chief Scientist</a:t>
            </a:r>
          </a:p>
          <a:p>
            <a:pPr lvl="0"/>
            <a:r>
              <a:rPr/>
              <a:t>CMU PhD; advised by Avrim Blum and Jaime Carbonell</a:t>
            </a:r>
          </a:p>
          <a:p>
            <a:pPr lvl="0"/>
            <a:r>
              <a:rPr/>
              <a:t>IBM Research, Yale postdoc</a:t>
            </a:r>
          </a:p>
          <a:p>
            <a:pPr lvl="0"/>
            <a:r>
              <a:rPr/>
              <a:t>40+ papers across active learning, drifting distributions, transfer learning</a:t>
            </a:r>
          </a:p>
          <a:p>
            <a:pPr lvl="0"/>
            <a:r>
              <a:rPr/>
              <a:t>Full-time</a:t>
            </a:r>
          </a:p>
          <a:p>
            <a:pPr lvl="0" indent="0" marL="0">
              <a:buNone/>
            </a:pPr>
            <a:r>
              <a:rPr b="1"/>
              <a:t>Zhao Jiangbo — Founder &amp; CEO</a:t>
            </a:r>
            <a:r>
              <a:rPr/>
              <a:t>: CS + enterprise software + large-account sales + founder</a:t>
            </a:r>
          </a:p>
          <a:p>
            <a:pPr lvl="0" indent="0" marL="0">
              <a:buNone/>
            </a:pPr>
            <a:r>
              <a:rPr b="1"/>
              <a:t>Wang Cangyu — Co-founder / CSO</a:t>
            </a:r>
            <a:r>
              <a:rPr/>
              <a:t>: Media and private traffic commercialization; TikTok China agency experience</a:t>
            </a:r>
          </a:p>
          <a:p>
            <a:pPr lvl="0" indent="0" marL="0">
              <a:buNone/>
            </a:pPr>
            <a:r>
              <a:rPr b="1"/>
              <a:t>Zhang Chi — Co-founder / CTO</a:t>
            </a:r>
            <a:r>
              <a:rPr/>
              <a:t>: Tsinghua CS; long-time engineering partner</a:t>
            </a:r>
          </a:p>
          <a:p>
            <a:pPr lvl="0" indent="0" marL="0">
              <a:buNone/>
            </a:pPr>
            <a:r>
              <a:rPr b="1"/>
              <a:t>Wu Xiang — Co-founder / CMO</a:t>
            </a:r>
            <a:r>
              <a:rPr/>
              <a:t>: 20 years market and enterprise GTM</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Market Wedge: Private Traffic</a:t>
            </a:r>
          </a:p>
        </p:txBody>
      </p:sp>
      <p:sp>
        <p:nvSpPr>
          <p:cNvPr id="3" name="Content Placeholder 2"/>
          <p:cNvSpPr>
            <a:spLocks noGrp="1"/>
          </p:cNvSpPr>
          <p:nvPr>
            <p:ph idx="1"/>
          </p:nvPr>
        </p:nvSpPr>
        <p:spPr/>
        <p:txBody>
          <a:bodyPr/>
          <a:lstStyle/>
          <a:p>
            <a:pPr lvl="0" indent="0" marL="0">
              <a:buNone/>
            </a:pPr>
            <a:r>
              <a:rPr b="1"/>
              <a:t>Private traffic is China’s relationship-based commerce layer.</a:t>
            </a:r>
          </a:p>
          <a:p>
            <a:pPr lvl="0" indent="0" marL="0">
              <a:buNone/>
            </a:pPr>
            <a:r>
              <a:rPr/>
              <a:t>Public traffic acquisition → WeChat / group / personal account → repeated 1-on-1 relationship → conversion and retention</a:t>
            </a:r>
          </a:p>
          <a:p>
            <a:pPr lvl="0" indent="0" marL="0">
              <a:buNone/>
            </a:pPr>
            <a:r>
              <a:rPr/>
              <a:t>Existing tools optimize </a:t>
            </a:r>
            <a:r>
              <a:rPr b="1"/>
              <a:t>reach</a:t>
            </a:r>
            <a:r>
              <a:rPr/>
              <a:t>. The unsolved layer is </a:t>
            </a:r>
            <a:r>
              <a:rPr b="1"/>
              <a:t>relationship quality over time</a:t>
            </a:r>
            <a:r>
              <a:rPr/>
              <a:t>.</a:t>
            </a:r>
          </a:p>
          <a:p>
            <a:pPr lvl="0" indent="0">
              <a:buNone/>
            </a:pPr>
            <a:r>
              <a:rPr>
                <a:latin typeface="Courier"/>
              </a:rPr>
              <a:t>Public traffic
    → WeChat add / group join
    → repeated conversation
    → trust / preference / timing
    → purchase / repeat purchase / referral</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Why Existing Tools Fall Short</a:t>
            </a:r>
          </a:p>
        </p:txBody>
      </p:sp>
      <p:sp>
        <p:nvSpPr>
          <p:cNvPr id="4" name="Text Placeholder 3"/>
          <p:cNvSpPr>
            <a:spLocks noGrp="1"/>
          </p:cNvSpPr>
          <p:nvPr>
            <p:ph idx="2" sz="half" type="body"/>
          </p:nvPr>
        </p:nvSpPr>
        <p:spPr/>
        <p:txBody>
          <a:bodyPr/>
          <a:lstStyle/>
          <a:p>
            <a:pPr lvl="0" indent="0" marL="0">
              <a:buNone/>
            </a:pPr>
            <a:r>
              <a:rPr/>
              <a:t>The current stack is built for </a:t>
            </a:r>
            <a:r>
              <a:rPr b="1"/>
              <a:t>contact</a:t>
            </a:r>
            <a:r>
              <a:rPr/>
              <a:t>, not </a:t>
            </a:r>
            <a:r>
              <a:rPr b="1"/>
              <a:t>relationship</a:t>
            </a:r>
            <a:r>
              <a:rPr/>
              <a:t>.</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2552700"/>
                <a:gridCol w="2552700"/>
              </a:tblGrid>
              <a:tr h="0">
                <a:tc>
                  <a:txBody>
                    <a:bodyPr/>
                    <a:lstStyle/>
                    <a:p>
                      <a:pPr lvl="0" indent="0" marL="0">
                        <a:buNone/>
                      </a:pPr>
                      <a:r>
                        <a:rPr/>
                        <a:t>Current private-traffic tools</a:t>
                      </a:r>
                    </a:p>
                  </a:txBody>
                  <a:tcPr/>
                </a:tc>
                <a:tc>
                  <a:txBody>
                    <a:bodyPr/>
                    <a:lstStyle/>
                    <a:p>
                      <a:pPr lvl="0" indent="0" marL="0">
                        <a:buNone/>
                      </a:pPr>
                      <a:r>
                        <a:rPr/>
                        <a:t>What customers actually need</a:t>
                      </a:r>
                    </a:p>
                  </a:txBody>
                  <a:tcPr/>
                </a:tc>
              </a:tr>
              <a:tr h="0">
                <a:tc>
                  <a:txBody>
                    <a:bodyPr/>
                    <a:lstStyle/>
                    <a:p>
                      <a:pPr lvl="0" indent="0" marL="0">
                        <a:buNone/>
                      </a:pPr>
                      <a:r>
                        <a:rPr/>
                        <a:t>Mass messaging</a:t>
                      </a:r>
                    </a:p>
                  </a:txBody>
                </a:tc>
                <a:tc>
                  <a:txBody>
                    <a:bodyPr/>
                    <a:lstStyle/>
                    <a:p>
                      <a:pPr lvl="0" indent="0" marL="0">
                        <a:buNone/>
                      </a:pPr>
                      <a:r>
                        <a:rPr/>
                        <a:t>Remember individual context</a:t>
                      </a:r>
                    </a:p>
                  </a:txBody>
                </a:tc>
              </a:tr>
              <a:tr h="0">
                <a:tc>
                  <a:txBody>
                    <a:bodyPr/>
                    <a:lstStyle/>
                    <a:p>
                      <a:pPr lvl="0" indent="0" marL="0">
                        <a:buNone/>
                      </a:pPr>
                      <a:r>
                        <a:rPr/>
                        <a:t>Tags and workflows</a:t>
                      </a:r>
                    </a:p>
                  </a:txBody>
                </a:tc>
                <a:tc>
                  <a:txBody>
                    <a:bodyPr/>
                    <a:lstStyle/>
                    <a:p>
                      <a:pPr lvl="0" indent="0" marL="0">
                        <a:buNone/>
                      </a:pPr>
                      <a:r>
                        <a:rPr/>
                        <a:t>Adapt to relationship stage</a:t>
                      </a:r>
                    </a:p>
                  </a:txBody>
                </a:tc>
              </a:tr>
              <a:tr h="0">
                <a:tc>
                  <a:txBody>
                    <a:bodyPr/>
                    <a:lstStyle/>
                    <a:p>
                      <a:pPr lvl="0" indent="0" marL="0">
                        <a:buNone/>
                      </a:pPr>
                      <a:r>
                        <a:rPr/>
                        <a:t>Keyword automation</a:t>
                      </a:r>
                    </a:p>
                  </a:txBody>
                </a:tc>
                <a:tc>
                  <a:txBody>
                    <a:bodyPr/>
                    <a:lstStyle/>
                    <a:p>
                      <a:pPr lvl="0" indent="0" marL="0">
                        <a:buNone/>
                      </a:pPr>
                      <a:r>
                        <a:rPr/>
                        <a:t>Respond to behavior change</a:t>
                      </a:r>
                    </a:p>
                  </a:txBody>
                </a:tc>
              </a:tr>
              <a:tr h="0">
                <a:tc>
                  <a:txBody>
                    <a:bodyPr/>
                    <a:lstStyle/>
                    <a:p>
                      <a:pPr lvl="0" indent="0" marL="0">
                        <a:buNone/>
                      </a:pPr>
                      <a:r>
                        <a:rPr/>
                        <a:t>Sales conversion scripts</a:t>
                      </a:r>
                    </a:p>
                  </a:txBody>
                </a:tc>
                <a:tc>
                  <a:txBody>
                    <a:bodyPr/>
                    <a:lstStyle/>
                    <a:p>
                      <a:pPr lvl="0" indent="0" marL="0">
                        <a:buNone/>
                      </a:pPr>
                      <a:r>
                        <a:rPr/>
                        <a:t>Build trust before recommendation</a:t>
                      </a:r>
                    </a:p>
                  </a:txBody>
                </a:tc>
              </a:tr>
              <a:tr h="0">
                <a:tc>
                  <a:txBody>
                    <a:bodyPr/>
                    <a:lstStyle/>
                    <a:p>
                      <a:pPr lvl="0" indent="0" marL="0">
                        <a:buNone/>
                      </a:pPr>
                      <a:r>
                        <a:rPr/>
                        <a:t>CRM records</a:t>
                      </a:r>
                    </a:p>
                  </a:txBody>
                </a:tc>
                <a:tc>
                  <a:txBody>
                    <a:bodyPr/>
                    <a:lstStyle/>
                    <a:p>
                      <a:pPr lvl="0" indent="0" marL="0">
                        <a:buNone/>
                      </a:pPr>
                      <a:r>
                        <a:rPr/>
                        <a:t>Cross-session relationship state</a:t>
                      </a:r>
                    </a:p>
                  </a:txBody>
                </a:tc>
              </a:tr>
            </a:tbl>
          </a:graphicData>
        </a:graphic>
      </p:graphicFrame>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Our claim:</a:t>
            </a:r>
            <a:r>
              <a:rPr/>
              <a:t> relationship quality becomes a measurable business variable.</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Product: Relationship Runtime</a:t>
            </a:r>
          </a:p>
        </p:txBody>
      </p:sp>
      <p:sp>
        <p:nvSpPr>
          <p:cNvPr id="3" name="Content Placeholder 2"/>
          <p:cNvSpPr>
            <a:spLocks noGrp="1"/>
          </p:cNvSpPr>
          <p:nvPr>
            <p:ph idx="1"/>
          </p:nvPr>
        </p:nvSpPr>
        <p:spPr/>
        <p:txBody>
          <a:bodyPr/>
          <a:lstStyle/>
          <a:p>
            <a:pPr lvl="0" indent="0" marL="0">
              <a:buNone/>
            </a:pPr>
            <a:r>
              <a:rPr b="1"/>
              <a:t>Thin Prompt. Thick Runtime.</a:t>
            </a:r>
          </a:p>
          <a:p>
            <a:pPr lvl="0" indent="0" marL="0">
              <a:buNone/>
            </a:pPr>
            <a:r>
              <a:rPr/>
              <a:t>Prompt is only the language rendering layer.</a:t>
            </a:r>
          </a:p>
          <a:p>
            <a:pPr lvl="0" indent="0" marL="0">
              <a:buNone/>
            </a:pPr>
            <a:r>
              <a:rPr/>
              <a:t>Runtime owns the product logic:</a:t>
            </a:r>
          </a:p>
          <a:p>
            <a:pPr lvl="0"/>
            <a:r>
              <a:rPr/>
              <a:t>Persistent user and relationship state</a:t>
            </a:r>
          </a:p>
          <a:p>
            <a:pPr lvl="0"/>
            <a:r>
              <a:rPr/>
              <a:t>Cross-session memory and preference evolution</a:t>
            </a:r>
          </a:p>
          <a:p>
            <a:pPr lvl="0"/>
            <a:r>
              <a:rPr/>
              <a:t>Adaptive behavior policies</a:t>
            </a:r>
          </a:p>
          <a:p>
            <a:pPr lvl="0"/>
            <a:r>
              <a:rPr/>
              <a:t>Auditable actions and deletion controls</a:t>
            </a:r>
          </a:p>
          <a:p>
            <a:pPr lvl="0"/>
            <a:r>
              <a:rPr/>
              <a:t>Vertical-specific bundles for different business contexts</a:t>
            </a:r>
          </a:p>
          <a:p>
            <a:pPr lvl="0" indent="0" marL="1270000">
              <a:buNone/>
            </a:pPr>
            <a:r>
              <a:rPr sz="2000"/>
              <a:t>Base models are substrate. Prompt renders. Runtime owns.</a:t>
            </a:r>
          </a:p>
          <a:p>
            <a:pPr lvl="0" indent="0">
              <a:buNone/>
            </a:pPr>
            <a:r>
              <a:rPr>
                <a:latin typeface="Courier"/>
              </a:rPr>
              <a:t>Applications:  private traffic / companion / education / figure
─────────────────────────────────────────────────────────────────
Volvence Relationship Runtime:
   identity · memory · relationship stage · adaptation · governance
─────────────────────────────────────────────────────────────────
Thin prompt:   renders current runtime state into language
─────────────────────────────────────────────────────────────────
Substrate:     GPT / Claude / Qwen / DeepSeek / local models</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Why This Is The Next Vertical Data Layer</a:t>
            </a:r>
          </a:p>
        </p:txBody>
      </p:sp>
      <p:sp>
        <p:nvSpPr>
          <p:cNvPr id="3" name="Content Placeholder 2"/>
          <p:cNvSpPr>
            <a:spLocks noGrp="1"/>
          </p:cNvSpPr>
          <p:nvPr>
            <p:ph idx="1"/>
          </p:nvPr>
        </p:nvSpPr>
        <p:spPr/>
        <p:txBody>
          <a:bodyPr/>
          <a:lstStyle/>
          <a:p>
            <a:pPr lvl="0" indent="0" marL="0">
              <a:buNone/>
            </a:pPr>
            <a:r>
              <a:rPr/>
              <a:t>A natural extension of </a:t>
            </a:r>
            <a:r>
              <a:rPr b="1"/>
              <a:t>“vertical proprietary data &gt; LLM scaling”</a:t>
            </a:r>
            <a:r>
              <a:rPr/>
              <a:t>.</a:t>
            </a:r>
          </a:p>
          <a:p>
            <a:pPr lvl="0" indent="0" marL="0">
              <a:buNone/>
            </a:pPr>
            <a:r>
              <a:rPr b="1"/>
              <a:t>Generation 1 vertical data</a:t>
            </a:r>
          </a:p>
          <a:p>
            <a:pPr lvl="0"/>
            <a:r>
              <a:rPr/>
              <a:t>Mayo Clinic / S&amp;P / legal / academic / professional corpora</a:t>
            </a:r>
          </a:p>
          <a:p>
            <a:pPr lvl="0"/>
            <a:r>
              <a:rPr/>
              <a:t>Existing, recorded, institution-owned</a:t>
            </a:r>
          </a:p>
          <a:p>
            <a:pPr lvl="0"/>
            <a:r>
              <a:rPr/>
              <a:t>Powerful, but eventually licensable, synthesizable, or absorbed by frontier models</a:t>
            </a:r>
          </a:p>
          <a:p>
            <a:pPr lvl="0" indent="0" marL="0">
              <a:buNone/>
            </a:pPr>
            <a:r>
              <a:rPr b="1"/>
              <a:t>Generation 2 vertical data: the relationship itself</a:t>
            </a:r>
          </a:p>
          <a:p>
            <a:pPr lvl="0"/>
            <a:r>
              <a:rPr i="1"/>
              <a:t>Real-time:</a:t>
            </a:r>
            <a:r>
              <a:rPr/>
              <a:t> every interaction creates new data</a:t>
            </a:r>
          </a:p>
          <a:p>
            <a:pPr lvl="0"/>
            <a:r>
              <a:rPr i="1"/>
              <a:t>Relational:</a:t>
            </a:r>
            <a:r>
              <a:rPr/>
              <a:t> user × time × context × relationship stage</a:t>
            </a:r>
          </a:p>
          <a:p>
            <a:pPr lvl="0"/>
            <a:r>
              <a:rPr i="1"/>
              <a:t>Non-transferable:</a:t>
            </a:r>
            <a:r>
              <a:rPr/>
              <a:t> state lives in the owner’s runtime snapshots</a:t>
            </a:r>
          </a:p>
          <a:p>
            <a:pPr lvl="0"/>
            <a:r>
              <a:rPr i="1"/>
              <a:t>Long-tail by construction:</a:t>
            </a:r>
            <a:r>
              <a:rPr/>
              <a:t> 100M users = 100M micro-verticals</a:t>
            </a:r>
          </a:p>
          <a:p>
            <a:pPr lvl="0" indent="0" marL="0">
              <a:buNone/>
            </a:pPr>
            <a:r>
              <a:rPr b="1"/>
              <a:t>Implication.</a:t>
            </a:r>
            <a:r>
              <a:rPr/>
              <a:t> Stronger base models help our substrate. They do not, by themselves, become the persistent relationship owner for any specific brand, MCN, or vertical.</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Demo Setup: Mobi Private Traffic JV</a:t>
            </a:r>
          </a:p>
        </p:txBody>
      </p:sp>
      <p:sp>
        <p:nvSpPr>
          <p:cNvPr id="3" name="Content Placeholder 2"/>
          <p:cNvSpPr>
            <a:spLocks noGrp="1"/>
          </p:cNvSpPr>
          <p:nvPr>
            <p:ph idx="1"/>
          </p:nvPr>
        </p:nvSpPr>
        <p:spPr/>
        <p:txBody>
          <a:bodyPr/>
          <a:lstStyle/>
          <a:p>
            <a:pPr lvl="0" indent="0" marL="0">
              <a:buNone/>
            </a:pPr>
            <a:r>
              <a:rPr b="1"/>
              <a:t>Partner</a:t>
            </a:r>
          </a:p>
          <a:p>
            <a:pPr lvl="0"/>
            <a:r>
              <a:rPr/>
              <a:t>28M-follower MCN</a:t>
            </a:r>
          </a:p>
          <a:p>
            <a:pPr lvl="0"/>
            <a:r>
              <a:rPr/>
              <a:t>Large private traffic pool</a:t>
            </a:r>
          </a:p>
          <a:p>
            <a:pPr lvl="0"/>
            <a:r>
              <a:rPr/>
              <a:t>Human operators cannot maintain high-quality 1-on-1 relationships at scale</a:t>
            </a:r>
          </a:p>
          <a:p>
            <a:pPr lvl="0" indent="0" marL="0">
              <a:buNone/>
            </a:pPr>
            <a:r>
              <a:rPr b="1"/>
              <a:t>Demo watch points</a:t>
            </a:r>
          </a:p>
          <a:p>
            <a:pPr lvl="0"/>
            <a:r>
              <a:rPr/>
              <a:t>Remembers prior context across sessions</a:t>
            </a:r>
          </a:p>
          <a:p>
            <a:pPr lvl="0"/>
            <a:r>
              <a:rPr/>
              <a:t>Keeps user preferences separated</a:t>
            </a:r>
          </a:p>
          <a:p>
            <a:pPr lvl="0"/>
            <a:r>
              <a:rPr/>
              <a:t>Recommends only when relationship stage is appropriate</a:t>
            </a:r>
          </a:p>
          <a:p>
            <a:pPr lvl="0"/>
            <a:r>
              <a:rPr/>
              <a:t>Adjusts after user feedback</a:t>
            </a:r>
          </a:p>
          <a:p>
            <a:pPr lvl="0" indent="0" marL="0">
              <a:buNone/>
            </a:pPr>
            <a:r>
              <a:rPr b="1"/>
              <a:t>Current status</a:t>
            </a:r>
          </a:p>
          <a:p>
            <a:pPr lvl="0"/>
            <a:r>
              <a:rPr/>
              <a:t>JV signed</a:t>
            </a:r>
          </a:p>
          <a:p>
            <a:pPr lvl="0"/>
            <a:r>
              <a:rPr/>
              <a:t>Pilot / launch path in progress</a:t>
            </a:r>
          </a:p>
          <a:p>
            <a:pPr lvl="0"/>
            <a:r>
              <a:rPr/>
              <a:t>Conversion uplift not yet proven</a:t>
            </a:r>
          </a:p>
          <a:p>
            <a:pPr lvl="0" indent="0" marL="0">
              <a:buNone/>
            </a:pPr>
            <a:r>
              <a:rPr b="1"/>
              <a:t>[ VIDEO — 4-5 min edited Mobi demo ]</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Why This Is Hard</a:t>
            </a:r>
          </a:p>
        </p:txBody>
      </p:sp>
      <p:sp>
        <p:nvSpPr>
          <p:cNvPr id="4" name="Text Placeholder 3"/>
          <p:cNvSpPr>
            <a:spLocks noGrp="1"/>
          </p:cNvSpPr>
          <p:nvPr>
            <p:ph idx="2" sz="half" type="body"/>
          </p:nvPr>
        </p:nvSpPr>
        <p:spPr/>
        <p:txBody>
          <a:bodyPr/>
          <a:lstStyle/>
          <a:p>
            <a:pPr lvl="0" indent="0" marL="0">
              <a:buNone/>
            </a:pPr>
            <a:r>
              <a:rPr b="1"/>
              <a:t>Relationship AI is not a prompt problem.</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2552700"/>
                <a:gridCol w="2552700"/>
              </a:tblGrid>
              <a:tr h="0">
                <a:tc>
                  <a:txBody>
                    <a:bodyPr/>
                    <a:lstStyle/>
                    <a:p>
                      <a:pPr lvl="0" indent="0" marL="0">
                        <a:buNone/>
                      </a:pPr>
                      <a:r>
                        <a:rPr/>
                        <a:t>LLM wrapper</a:t>
                      </a:r>
                    </a:p>
                  </a:txBody>
                  <a:tcPr/>
                </a:tc>
                <a:tc>
                  <a:txBody>
                    <a:bodyPr/>
                    <a:lstStyle/>
                    <a:p>
                      <a:pPr lvl="0" indent="0" marL="0">
                        <a:buNone/>
                      </a:pPr>
                      <a:r>
                        <a:rPr/>
                        <a:t>Volvence</a:t>
                      </a:r>
                    </a:p>
                  </a:txBody>
                  <a:tcPr/>
                </a:tc>
              </a:tr>
              <a:tr h="0">
                <a:tc>
                  <a:txBody>
                    <a:bodyPr/>
                    <a:lstStyle/>
                    <a:p>
                      <a:pPr lvl="0" indent="0" marL="0">
                        <a:buNone/>
                      </a:pPr>
                      <a:r>
                        <a:rPr/>
                        <a:t>Prompt owns persona</a:t>
                      </a:r>
                    </a:p>
                  </a:txBody>
                </a:tc>
                <a:tc>
                  <a:txBody>
                    <a:bodyPr/>
                    <a:lstStyle/>
                    <a:p>
                      <a:pPr lvl="0" indent="0" marL="0">
                        <a:buNone/>
                      </a:pPr>
                      <a:r>
                        <a:rPr/>
                        <a:t>Runtime owns identity</a:t>
                      </a:r>
                    </a:p>
                  </a:txBody>
                </a:tc>
              </a:tr>
              <a:tr h="0">
                <a:tc>
                  <a:txBody>
                    <a:bodyPr/>
                    <a:lstStyle/>
                    <a:p>
                      <a:pPr lvl="0" indent="0" marL="0">
                        <a:buNone/>
                      </a:pPr>
                      <a:r>
                        <a:rPr/>
                        <a:t>Prompt summarizes memory</a:t>
                      </a:r>
                    </a:p>
                  </a:txBody>
                </a:tc>
                <a:tc>
                  <a:txBody>
                    <a:bodyPr/>
                    <a:lstStyle/>
                    <a:p>
                      <a:pPr lvl="0" indent="0" marL="0">
                        <a:buNone/>
                      </a:pPr>
                      <a:r>
                        <a:rPr/>
                        <a:t>Runtime owns memory state</a:t>
                      </a:r>
                    </a:p>
                  </a:txBody>
                </a:tc>
              </a:tr>
              <a:tr h="0">
                <a:tc>
                  <a:txBody>
                    <a:bodyPr/>
                    <a:lstStyle/>
                    <a:p>
                      <a:pPr lvl="0" indent="0" marL="0">
                        <a:buNone/>
                      </a:pPr>
                      <a:r>
                        <a:rPr/>
                        <a:t>Prompt lists rules</a:t>
                      </a:r>
                    </a:p>
                  </a:txBody>
                </a:tc>
                <a:tc>
                  <a:txBody>
                    <a:bodyPr/>
                    <a:lstStyle/>
                    <a:p>
                      <a:pPr lvl="0" indent="0" marL="0">
                        <a:buNone/>
                      </a:pPr>
                      <a:r>
                        <a:rPr/>
                        <a:t>Runtime owns constraints</a:t>
                      </a:r>
                    </a:p>
                  </a:txBody>
                </a:tc>
              </a:tr>
              <a:tr h="0">
                <a:tc>
                  <a:txBody>
                    <a:bodyPr/>
                    <a:lstStyle/>
                    <a:p>
                      <a:pPr lvl="0" indent="0" marL="0">
                        <a:buNone/>
                      </a:pPr>
                      <a:r>
                        <a:rPr/>
                        <a:t>Prompt nudges behavior</a:t>
                      </a:r>
                    </a:p>
                  </a:txBody>
                </a:tc>
                <a:tc>
                  <a:txBody>
                    <a:bodyPr/>
                    <a:lstStyle/>
                    <a:p>
                      <a:pPr lvl="0" indent="0" marL="0">
                        <a:buNone/>
                      </a:pPr>
                      <a:r>
                        <a:rPr/>
                        <a:t>Runtime owns adaptation policy</a:t>
                      </a:r>
                    </a:p>
                  </a:txBody>
                </a:tc>
              </a:tr>
              <a:tr h="0">
                <a:tc>
                  <a:txBody>
                    <a:bodyPr/>
                    <a:lstStyle/>
                    <a:p>
                      <a:pPr lvl="0" indent="0" marL="0">
                        <a:buNone/>
                      </a:pPr>
                      <a:r>
                        <a:rPr/>
                        <a:t>Prompt is hard to audit</a:t>
                      </a:r>
                    </a:p>
                  </a:txBody>
                </a:tc>
                <a:tc>
                  <a:txBody>
                    <a:bodyPr/>
                    <a:lstStyle/>
                    <a:p>
                      <a:pPr lvl="0" indent="0" marL="0">
                        <a:buNone/>
                      </a:pPr>
                      <a:r>
                        <a:rPr/>
                        <a:t>Runtime produces audit trail</a:t>
                      </a:r>
                    </a:p>
                  </a:txBody>
                </a:tc>
              </a:tr>
            </a:tbl>
          </a:graphicData>
        </a:graphic>
      </p:graphicFrame>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Prompts should render behavior, not own behavior.</a:t>
            </a:r>
          </a:p>
          <a:p>
            <a:pPr lvl="0" indent="0" marL="0">
              <a:buNone/>
            </a:pPr>
            <a:r>
              <a:rPr/>
              <a:t>Four runtime capabilities the system must have:</a:t>
            </a:r>
          </a:p>
          <a:p>
            <a:pPr lvl="0" indent="-342900" marL="342900">
              <a:buAutoNum type="arabicPeriod"/>
            </a:pPr>
            <a:r>
              <a:rPr b="1"/>
              <a:t>Identity stability</a:t>
            </a:r>
            <a:r>
              <a:rPr/>
              <a:t> — the system does not drift randomly across sessions</a:t>
            </a:r>
          </a:p>
          <a:p>
            <a:pPr lvl="0" indent="-342900" marL="342900">
              <a:buAutoNum type="arabicPeriod"/>
            </a:pPr>
            <a:r>
              <a:rPr b="1"/>
              <a:t>Memory discipline</a:t>
            </a:r>
            <a:r>
              <a:rPr/>
              <a:t> — remembers what matters, scopes what should not persist</a:t>
            </a:r>
          </a:p>
          <a:p>
            <a:pPr lvl="0" indent="-342900" marL="342900">
              <a:buAutoNum type="arabicPeriod"/>
            </a:pPr>
            <a:r>
              <a:rPr b="1"/>
              <a:t>Adaptation</a:t>
            </a:r>
            <a:r>
              <a:rPr/>
              <a:t> — behavior changes after feedback and context shifts</a:t>
            </a:r>
          </a:p>
          <a:p>
            <a:pPr lvl="0" indent="-342900" marL="342900">
              <a:buAutoNum type="arabicPeriod"/>
            </a:pPr>
            <a:r>
              <a:rPr b="1"/>
              <a:t>Governance</a:t>
            </a:r>
            <a:r>
              <a:rPr/>
              <a:t> — customers can audit, delete, and constrain behavior</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Architecture: Body + Brain, In Plain Terms</a:t>
            </a:r>
          </a:p>
        </p:txBody>
      </p:sp>
      <p:sp>
        <p:nvSpPr>
          <p:cNvPr id="3" name="Content Placeholder 2"/>
          <p:cNvSpPr>
            <a:spLocks noGrp="1"/>
          </p:cNvSpPr>
          <p:nvPr>
            <p:ph idx="1"/>
          </p:nvPr>
        </p:nvSpPr>
        <p:spPr/>
        <p:txBody>
          <a:bodyPr/>
          <a:lstStyle/>
          <a:p>
            <a:pPr lvl="0" indent="0" marL="0">
              <a:buNone/>
            </a:pPr>
            <a:r>
              <a:rPr b="1"/>
              <a:t>Body</a:t>
            </a:r>
          </a:p>
          <a:p>
            <a:pPr lvl="0"/>
            <a:r>
              <a:rPr/>
              <a:t>Stable identity and constraints</a:t>
            </a:r>
          </a:p>
          <a:p>
            <a:pPr lvl="0"/>
            <a:r>
              <a:rPr/>
              <a:t>Needs / drives / restraint parameters</a:t>
            </a:r>
          </a:p>
          <a:p>
            <a:pPr lvl="0"/>
            <a:r>
              <a:rPr/>
              <a:t>Relationship posture</a:t>
            </a:r>
          </a:p>
          <a:p>
            <a:pPr lvl="0" indent="0" marL="0">
              <a:buNone/>
            </a:pPr>
            <a:r>
              <a:rPr b="1"/>
              <a:t>Brain</a:t>
            </a:r>
          </a:p>
          <a:p>
            <a:pPr lvl="0"/>
            <a:r>
              <a:rPr/>
              <a:t>Memory and state update</a:t>
            </a:r>
          </a:p>
          <a:p>
            <a:pPr lvl="0"/>
            <a:r>
              <a:rPr/>
              <a:t>Policy and response planning</a:t>
            </a:r>
          </a:p>
          <a:p>
            <a:pPr lvl="0"/>
            <a:r>
              <a:rPr/>
              <a:t>Adaptation from feedback</a:t>
            </a:r>
          </a:p>
          <a:p>
            <a:pPr lvl="0"/>
            <a:r>
              <a:rPr/>
              <a:t>Auditable action layer</a:t>
            </a:r>
          </a:p>
          <a:p>
            <a:pPr lvl="0" indent="0" marL="1270000">
              <a:buNone/>
            </a:pPr>
            <a:r>
              <a:rPr sz="2000"/>
              <a:t>The goal is not anthropomorphic theater. The goal is stable behavior over long relationships.</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Scientific Base: Learning Under Change</a:t>
            </a:r>
          </a:p>
        </p:txBody>
      </p:sp>
      <p:sp>
        <p:nvSpPr>
          <p:cNvPr id="3" name="Content Placeholder 2"/>
          <p:cNvSpPr>
            <a:spLocks noGrp="1"/>
          </p:cNvSpPr>
          <p:nvPr>
            <p:ph idx="1"/>
          </p:nvPr>
        </p:nvSpPr>
        <p:spPr/>
        <p:txBody>
          <a:bodyPr/>
          <a:lstStyle/>
          <a:p>
            <a:pPr lvl="0" indent="0" marL="0">
              <a:buNone/>
            </a:pPr>
            <a:r>
              <a:rPr b="1"/>
              <a:t>Relationship products face changing distributions</a:t>
            </a:r>
          </a:p>
          <a:p>
            <a:pPr lvl="0"/>
            <a:r>
              <a:rPr/>
              <a:t>Users change preferences</a:t>
            </a:r>
          </a:p>
          <a:p>
            <a:pPr lvl="0"/>
            <a:r>
              <a:rPr/>
              <a:t>Relationship stages evolve</a:t>
            </a:r>
          </a:p>
          <a:p>
            <a:pPr lvl="0"/>
            <a:r>
              <a:rPr/>
              <a:t>Business goals shift</a:t>
            </a:r>
          </a:p>
          <a:p>
            <a:pPr lvl="0"/>
            <a:r>
              <a:rPr/>
              <a:t>Feedback is sparse and noisy</a:t>
            </a:r>
          </a:p>
          <a:p>
            <a:pPr lvl="0" indent="0" marL="0">
              <a:buNone/>
            </a:pPr>
            <a:r>
              <a:rPr b="1"/>
              <a:t>Yang Liu’s research base</a:t>
            </a:r>
          </a:p>
          <a:p>
            <a:pPr lvl="0"/>
            <a:r>
              <a:rPr/>
              <a:t>Active learning</a:t>
            </a:r>
          </a:p>
          <a:p>
            <a:pPr lvl="0"/>
            <a:r>
              <a:rPr/>
              <a:t>Drifting distributions</a:t>
            </a:r>
          </a:p>
          <a:p>
            <a:pPr lvl="0"/>
            <a:r>
              <a:rPr/>
              <a:t>Transfer learning</a:t>
            </a:r>
          </a:p>
          <a:p>
            <a:pPr lvl="0"/>
            <a:r>
              <a:rPr/>
              <a:t>Nonstationary learning</a:t>
            </a:r>
          </a:p>
          <a:p>
            <a:pPr lvl="0" indent="0" marL="1270000">
              <a:buNone/>
            </a:pPr>
            <a:r>
              <a:rPr sz="2000"/>
              <a:t>This gives Volvence a serious starting point for </a:t>
            </a:r>
            <a:r>
              <a:rPr sz="2000" b="1"/>
              <a:t>data-efficient adaptation</a:t>
            </a:r>
            <a:r>
              <a:rPr sz="2000"/>
              <a:t>.</a:t>
            </a:r>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Evidence We Can Show Today</a:t>
            </a:r>
          </a:p>
        </p:txBody>
      </p:sp>
      <p:sp>
        <p:nvSpPr>
          <p:cNvPr id="4" name="Text Placeholder 3"/>
          <p:cNvSpPr>
            <a:spLocks noGrp="1"/>
          </p:cNvSpPr>
          <p:nvPr>
            <p:ph idx="2" sz="half" type="body"/>
          </p:nvPr>
        </p:nvSpPr>
        <p:spPr/>
        <p:txBody>
          <a:bodyPr/>
          <a:lstStyle/>
          <a:p>
            <a:pPr lvl="0" indent="0" marL="0">
              <a:buNone/>
            </a:pPr>
            <a:r>
              <a:rPr/>
              <a:t>We are not asking you to believe a diagram. We can show the system doing five hard things:</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774700"/>
                <a:gridCol w="2667000"/>
                <a:gridCol w="1676400"/>
              </a:tblGrid>
              <a:tr h="0">
                <a:tc>
                  <a:txBody>
                    <a:bodyPr/>
                    <a:lstStyle/>
                    <a:p>
                      <a:pPr lvl="0" indent="0" marL="0">
                        <a:buNone/>
                      </a:pPr>
                      <a:r>
                        <a:rPr/>
                        <a:t>Hard thing</a:t>
                      </a:r>
                    </a:p>
                  </a:txBody>
                  <a:tcPr/>
                </a:tc>
                <a:tc>
                  <a:txBody>
                    <a:bodyPr/>
                    <a:lstStyle/>
                    <a:p>
                      <a:pPr lvl="0" indent="0" marL="0">
                        <a:buNone/>
                      </a:pPr>
                      <a:r>
                        <a:rPr/>
                        <a:t>Plain-language test</a:t>
                      </a:r>
                    </a:p>
                  </a:txBody>
                  <a:tcPr/>
                </a:tc>
                <a:tc>
                  <a:txBody>
                    <a:bodyPr/>
                    <a:lstStyle/>
                    <a:p>
                      <a:pPr lvl="0" indent="0" marL="0">
                        <a:buNone/>
                      </a:pPr>
                      <a:r>
                        <a:rPr/>
                        <a:t>Why it matters</a:t>
                      </a:r>
                    </a:p>
                  </a:txBody>
                  <a:tcPr/>
                </a:tc>
              </a:tr>
              <a:tr h="0">
                <a:tc>
                  <a:txBody>
                    <a:bodyPr/>
                    <a:lstStyle/>
                    <a:p>
                      <a:pPr lvl="0" indent="0" marL="0">
                        <a:buNone/>
                      </a:pPr>
                      <a:r>
                        <a:rPr/>
                        <a:t>Remembers across sessions</a:t>
                      </a:r>
                    </a:p>
                  </a:txBody>
                </a:tc>
                <a:tc>
                  <a:txBody>
                    <a:bodyPr/>
                    <a:lstStyle/>
                    <a:p>
                      <a:pPr lvl="0" indent="0" marL="0">
                        <a:buNone/>
                      </a:pPr>
                      <a:r>
                        <a:rPr/>
                        <a:t>User says something in session 1; after restart, system uses it correctly in session 2</a:t>
                      </a:r>
                    </a:p>
                  </a:txBody>
                </a:tc>
                <a:tc>
                  <a:txBody>
                    <a:bodyPr/>
                    <a:lstStyle/>
                    <a:p>
                      <a:pPr lvl="0" indent="0" marL="0">
                        <a:buNone/>
                      </a:pPr>
                      <a:r>
                        <a:rPr/>
                        <a:t>This is not a long prompt pretending to remember</a:t>
                      </a:r>
                    </a:p>
                  </a:txBody>
                </a:tc>
              </a:tr>
              <a:tr h="0">
                <a:tc>
                  <a:txBody>
                    <a:bodyPr/>
                    <a:lstStyle/>
                    <a:p>
                      <a:pPr lvl="0" indent="0" marL="0">
                        <a:buNone/>
                      </a:pPr>
                      <a:r>
                        <a:rPr/>
                        <a:t>Updates old beliefs</a:t>
                      </a:r>
                    </a:p>
                  </a:txBody>
                </a:tc>
                <a:tc>
                  <a:txBody>
                    <a:bodyPr/>
                    <a:lstStyle/>
                    <a:p>
                      <a:pPr lvl="0" indent="0" marL="0">
                        <a:buNone/>
                      </a:pPr>
                      <a:r>
                        <a:rPr/>
                        <a:t>User corrects prior info; system stops using the outdated version</a:t>
                      </a:r>
                    </a:p>
                  </a:txBody>
                </a:tc>
                <a:tc>
                  <a:txBody>
                    <a:bodyPr/>
                    <a:lstStyle/>
                    <a:p>
                      <a:pPr lvl="0" indent="0" marL="0">
                        <a:buNone/>
                      </a:pPr>
                      <a:r>
                        <a:rPr/>
                        <a:t>RAG retrieves; relationship systems must revise</a:t>
                      </a:r>
                    </a:p>
                  </a:txBody>
                </a:tc>
              </a:tr>
              <a:tr h="0">
                <a:tc>
                  <a:txBody>
                    <a:bodyPr/>
                    <a:lstStyle/>
                    <a:p>
                      <a:pPr lvl="0" indent="0" marL="0">
                        <a:buNone/>
                      </a:pPr>
                      <a:r>
                        <a:rPr/>
                        <a:t>Keeps users separated</a:t>
                      </a:r>
                    </a:p>
                  </a:txBody>
                </a:tc>
                <a:tc>
                  <a:txBody>
                    <a:bodyPr/>
                    <a:lstStyle/>
                    <a:p>
                      <a:pPr lvl="0" indent="0" marL="0">
                        <a:buNone/>
                      </a:pPr>
                      <a:r>
                        <a:rPr/>
                        <a:t>Alice’s preferences never leak into Bob’s behavior</a:t>
                      </a:r>
                    </a:p>
                  </a:txBody>
                </a:tc>
                <a:tc>
                  <a:txBody>
                    <a:bodyPr/>
                    <a:lstStyle/>
                    <a:p>
                      <a:pPr lvl="0" indent="0" marL="0">
                        <a:buNone/>
                      </a:pPr>
                      <a:r>
                        <a:rPr/>
                        <a:t>Required for any enterprise/private-traffic deployment</a:t>
                      </a:r>
                    </a:p>
                  </a:txBody>
                </a:tc>
              </a:tr>
              <a:tr h="0">
                <a:tc>
                  <a:txBody>
                    <a:bodyPr/>
                    <a:lstStyle/>
                    <a:p>
                      <a:pPr lvl="0" indent="0" marL="0">
                        <a:buNone/>
                      </a:pPr>
                      <a:r>
                        <a:rPr/>
                        <a:t>Can test changes safely</a:t>
                      </a:r>
                    </a:p>
                  </a:txBody>
                </a:tc>
                <a:tc>
                  <a:txBody>
                    <a:bodyPr/>
                    <a:lstStyle/>
                    <a:p>
                      <a:pPr lvl="0" indent="0" marL="0">
                        <a:buNone/>
                      </a:pPr>
                      <a:r>
                        <a:rPr/>
                        <a:t>New behavior runs in SHADOW before becoming ACTIVE</a:t>
                      </a:r>
                    </a:p>
                  </a:txBody>
                </a:tc>
                <a:tc>
                  <a:txBody>
                    <a:bodyPr/>
                    <a:lstStyle/>
                    <a:p>
                      <a:pPr lvl="0" indent="0" marL="0">
                        <a:buNone/>
                      </a:pPr>
                      <a:r>
                        <a:rPr/>
                        <a:t>Customers need reliability, not demo magic</a:t>
                      </a:r>
                    </a:p>
                  </a:txBody>
                </a:tc>
              </a:tr>
              <a:tr h="0">
                <a:tc>
                  <a:txBody>
                    <a:bodyPr/>
                    <a:lstStyle/>
                    <a:p>
                      <a:pPr lvl="0" indent="0" marL="0">
                        <a:buNone/>
                      </a:pPr>
                      <a:r>
                        <a:rPr/>
                        <a:t>Runs with thin prompts</a:t>
                      </a:r>
                    </a:p>
                  </a:txBody>
                </a:tc>
                <a:tc>
                  <a:txBody>
                    <a:bodyPr/>
                    <a:lstStyle/>
                    <a:p>
                      <a:pPr lvl="0" indent="0" marL="0">
                        <a:buNone/>
                      </a:pPr>
                      <a:r>
                        <a:rPr/>
                        <a:t>Core behavior comes from runtime state, not a giant hidden prompt</a:t>
                      </a:r>
                    </a:p>
                  </a:txBody>
                </a:tc>
                <a:tc>
                  <a:txBody>
                    <a:bodyPr/>
                    <a:lstStyle/>
                    <a:p>
                      <a:pPr lvl="0" indent="0" marL="0">
                        <a:buNone/>
                      </a:pPr>
                      <a:r>
                        <a:rPr/>
                        <a:t>The product is architecture, not prompt engineering</a:t>
                      </a:r>
                    </a:p>
                  </a:txBody>
                </a:tc>
              </a:tr>
            </a:tbl>
          </a:graphicData>
        </a:graphic>
      </p:graphicFrame>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Commercial evidence</a:t>
            </a:r>
            <a:r>
              <a:rPr/>
              <a:t>: 6 signed JV agreements · 45M+ follower base · 50K+ enterprise customer base</a:t>
            </a:r>
          </a:p>
          <a:p>
            <a:pPr lvl="0" indent="0" marL="0">
              <a:buNone/>
            </a:pPr>
            <a:r>
              <a:rPr b="1"/>
              <a:t>Open gaps</a:t>
            </a:r>
            <a:r>
              <a:rPr/>
              <a:t>: 0 real ARR from JVs · conversion uplift not yet proven</a:t>
            </a:r>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Traction: 6 JVs, One Validation Plan</a:t>
            </a:r>
          </a:p>
        </p:txBody>
      </p:sp>
      <p:sp>
        <p:nvSpPr>
          <p:cNvPr id="4" name="Text Placeholder 3"/>
          <p:cNvSpPr>
            <a:spLocks noGrp="1"/>
          </p:cNvSpPr>
          <p:nvPr>
            <p:ph idx="2" sz="half" type="body"/>
          </p:nvPr>
        </p:nvSpPr>
        <p:spPr/>
        <p:txBody>
          <a:bodyPr/>
          <a:lstStyle/>
          <a:p>
            <a:pPr lvl="0" indent="0" marL="0">
              <a:buNone/>
            </a:pPr>
            <a:r>
              <a:rPr b="1"/>
              <a:t>From signed access to real ARR</a:t>
            </a:r>
          </a:p>
          <a:p>
            <a:pPr lvl="0" indent="0" marL="0">
              <a:buNone/>
            </a:pPr>
            <a:r>
              <a:rPr/>
              <a:t>Current: </a:t>
            </a:r>
            <a:r>
              <a:rPr b="1"/>
              <a:t>6 signed JVs</a:t>
            </a:r>
          </a:p>
          <a:p>
            <a:pPr lvl="0"/>
            <a:r>
              <a:rPr/>
              <a:t>3 private-traffic related</a:t>
            </a:r>
          </a:p>
          <a:p>
            <a:pPr lvl="0"/>
            <a:r>
              <a:rPr/>
              <a:t>3 other verticals: companion, parenting, cross-border commerce / enterprise</a:t>
            </a:r>
          </a:p>
          <a:p>
            <a:pPr lvl="0" indent="0" marL="0">
              <a:buNone/>
            </a:pPr>
            <a:r>
              <a:rPr b="1"/>
              <a:t>18-month validation plan</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444500"/>
                <a:gridCol w="1651000"/>
                <a:gridCol w="3022600"/>
              </a:tblGrid>
              <a:tr h="0">
                <a:tc>
                  <a:txBody>
                    <a:bodyPr/>
                    <a:lstStyle/>
                    <a:p>
                      <a:pPr lvl="0" indent="0" marL="0">
                        <a:buNone/>
                      </a:pPr>
                      <a:r>
                        <a:rPr/>
                        <a:t>Timeline</a:t>
                      </a:r>
                    </a:p>
                  </a:txBody>
                  <a:tcPr/>
                </a:tc>
                <a:tc>
                  <a:txBody>
                    <a:bodyPr/>
                    <a:lstStyle/>
                    <a:p>
                      <a:pPr lvl="0" indent="0" marL="0">
                        <a:buNone/>
                      </a:pPr>
                      <a:r>
                        <a:rPr/>
                        <a:t>Milestone</a:t>
                      </a:r>
                    </a:p>
                  </a:txBody>
                  <a:tcPr/>
                </a:tc>
                <a:tc>
                  <a:txBody>
                    <a:bodyPr/>
                    <a:lstStyle/>
                    <a:p>
                      <a:pPr lvl="0" indent="0" marL="0">
                        <a:buNone/>
                      </a:pPr>
                      <a:r>
                        <a:rPr/>
                        <a:t>Success criteria</a:t>
                      </a:r>
                    </a:p>
                  </a:txBody>
                  <a:tcPr/>
                </a:tc>
              </a:tr>
              <a:tr h="0">
                <a:tc>
                  <a:txBody>
                    <a:bodyPr/>
                    <a:lstStyle/>
                    <a:p>
                      <a:pPr lvl="0" indent="0" marL="0">
                        <a:buNone/>
                      </a:pPr>
                      <a:r>
                        <a:rPr/>
                        <a:t>M0-M3</a:t>
                      </a:r>
                    </a:p>
                  </a:txBody>
                </a:tc>
                <a:tc>
                  <a:txBody>
                    <a:bodyPr/>
                    <a:lstStyle/>
                    <a:p>
                      <a:pPr lvl="0" indent="0" marL="0">
                        <a:buNone/>
                      </a:pPr>
                      <a:r>
                        <a:rPr/>
                        <a:t>First lighthouse in production</a:t>
                      </a:r>
                    </a:p>
                  </a:txBody>
                </a:tc>
                <a:tc>
                  <a:txBody>
                    <a:bodyPr/>
                    <a:lstStyle/>
                    <a:p>
                      <a:pPr lvl="0" indent="0" marL="0">
                        <a:buNone/>
                      </a:pPr>
                      <a:r>
                        <a:rPr/>
                        <a:t>Real users, real usage, measurable retention/conversion</a:t>
                      </a:r>
                    </a:p>
                  </a:txBody>
                </a:tc>
              </a:tr>
              <a:tr h="0">
                <a:tc>
                  <a:txBody>
                    <a:bodyPr/>
                    <a:lstStyle/>
                    <a:p>
                      <a:pPr lvl="0" indent="0" marL="0">
                        <a:buNone/>
                      </a:pPr>
                      <a:r>
                        <a:rPr/>
                        <a:t>M4-M9</a:t>
                      </a:r>
                    </a:p>
                  </a:txBody>
                </a:tc>
                <a:tc>
                  <a:txBody>
                    <a:bodyPr/>
                    <a:lstStyle/>
                    <a:p>
                      <a:pPr lvl="0" indent="0" marL="0">
                        <a:buNone/>
                      </a:pPr>
                      <a:r>
                        <a:rPr/>
                        <a:t>3 JVs in production</a:t>
                      </a:r>
                    </a:p>
                  </a:txBody>
                </a:tc>
                <a:tc>
                  <a:txBody>
                    <a:bodyPr/>
                    <a:lstStyle/>
                    <a:p>
                      <a:pPr lvl="0" indent="0" marL="0">
                        <a:buNone/>
                      </a:pPr>
                      <a:r>
                        <a:rPr/>
                        <a:t>Repeatable deployment process, early revenue</a:t>
                      </a:r>
                    </a:p>
                  </a:txBody>
                </a:tc>
              </a:tr>
              <a:tr h="0">
                <a:tc>
                  <a:txBody>
                    <a:bodyPr/>
                    <a:lstStyle/>
                    <a:p>
                      <a:pPr lvl="0" indent="0" marL="0">
                        <a:buNone/>
                      </a:pPr>
                      <a:r>
                        <a:rPr/>
                        <a:t>M10-M18</a:t>
                      </a:r>
                    </a:p>
                  </a:txBody>
                </a:tc>
                <a:tc>
                  <a:txBody>
                    <a:bodyPr/>
                    <a:lstStyle/>
                    <a:p>
                      <a:pPr lvl="0" indent="0" marL="0">
                        <a:buNone/>
                      </a:pPr>
                      <a:r>
                        <a:rPr/>
                        <a:t>ARR &gt; $1M real</a:t>
                      </a:r>
                    </a:p>
                  </a:txBody>
                </a:tc>
                <a:tc>
                  <a:txBody>
                    <a:bodyPr/>
                    <a:lstStyle/>
                    <a:p>
                      <a:pPr lvl="0" indent="0" marL="0">
                        <a:buNone/>
                      </a:pPr>
                      <a:r>
                        <a:rPr/>
                        <a:t>Not projected; recognized revenue</a:t>
                      </a:r>
                    </a:p>
                  </a:txBody>
                </a:tc>
              </a:tr>
            </a:tbl>
          </a:graphicData>
        </a:graphic>
      </p:graphicFrame>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1270000">
              <a:buNone/>
            </a:pPr>
            <a:r>
              <a:rPr sz="2000"/>
              <a:t>If we do not hit these, we should not raise a Series A.</a:t>
            </a:r>
          </a:p>
        </p:txBody>
      </p:sp>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Business Model: Mobi Unit Economics</a:t>
            </a:r>
          </a:p>
        </p:txBody>
      </p:sp>
      <p:sp>
        <p:nvSpPr>
          <p:cNvPr id="4" name="Text Placeholder 3"/>
          <p:cNvSpPr>
            <a:spLocks noGrp="1"/>
          </p:cNvSpPr>
          <p:nvPr>
            <p:ph idx="2" sz="half" type="body"/>
          </p:nvPr>
        </p:nvSpPr>
        <p:spPr/>
        <p:txBody>
          <a:bodyPr/>
          <a:lstStyle/>
          <a:p>
            <a:pPr lvl="0" indent="0" marL="0">
              <a:buNone/>
            </a:pPr>
            <a:r>
              <a:rPr b="1"/>
              <a:t>Mobi private-traffic JV — signed revenue structure</a:t>
            </a:r>
            <a:r>
              <a:rPr/>
              <a:t> (per converted user, per year)</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409700"/>
                <a:gridCol w="1917700"/>
                <a:gridCol w="774700"/>
                <a:gridCol w="1003300"/>
              </a:tblGrid>
              <a:tr h="0">
                <a:tc>
                  <a:txBody>
                    <a:bodyPr/>
                    <a:lstStyle/>
                    <a:p>
                      <a:pPr lvl="0" indent="0" marL="0">
                        <a:buNone/>
                      </a:pPr>
                      <a:r>
                        <a:rPr/>
                        <a:t>Item</a:t>
                      </a:r>
                    </a:p>
                  </a:txBody>
                  <a:tcPr/>
                </a:tc>
                <a:tc>
                  <a:txBody>
                    <a:bodyPr/>
                    <a:lstStyle/>
                    <a:p>
                      <a:pPr lvl="0" indent="0" marL="0">
                        <a:buNone/>
                      </a:pPr>
                      <a:r>
                        <a:rPr/>
                        <a:t>Unit</a:t>
                      </a:r>
                    </a:p>
                  </a:txBody>
                  <a:tcPr/>
                </a:tc>
                <a:tc>
                  <a:txBody>
                    <a:bodyPr/>
                    <a:lstStyle/>
                    <a:p>
                      <a:pPr lvl="0" indent="0" marL="0">
                        <a:buNone/>
                      </a:pPr>
                      <a:r>
                        <a:rPr/>
                        <a:t>2026 target scale</a:t>
                      </a:r>
                    </a:p>
                  </a:txBody>
                  <a:tcPr/>
                </a:tc>
                <a:tc>
                  <a:txBody>
                    <a:bodyPr/>
                    <a:lstStyle/>
                    <a:p>
                      <a:pPr lvl="0" indent="0" marL="0">
                        <a:buNone/>
                      </a:pPr>
                      <a:r>
                        <a:rPr/>
                        <a:t>Volvence revenue</a:t>
                      </a:r>
                    </a:p>
                  </a:txBody>
                  <a:tcPr/>
                </a:tc>
              </a:tr>
              <a:tr h="0">
                <a:tc>
                  <a:txBody>
                    <a:bodyPr/>
                    <a:lstStyle/>
                    <a:p>
                      <a:pPr lvl="0" indent="0" marL="0">
                        <a:buNone/>
                      </a:pPr>
                      <a:r>
                        <a:rPr/>
                        <a:t>Service fee / token procurement</a:t>
                      </a:r>
                    </a:p>
                  </a:txBody>
                </a:tc>
                <a:tc>
                  <a:txBody>
                    <a:bodyPr/>
                    <a:lstStyle/>
                    <a:p>
                      <a:pPr lvl="0" indent="0" marL="0">
                        <a:buNone/>
                      </a:pPr>
                      <a:r>
                        <a:rPr/>
                        <a:t>RMB 30 / user / year</a:t>
                      </a:r>
                    </a:p>
                  </a:txBody>
                </a:tc>
                <a:tc>
                  <a:txBody>
                    <a:bodyPr/>
                    <a:lstStyle/>
                    <a:p>
                      <a:pPr lvl="0" indent="0" marL="0">
                        <a:buNone/>
                      </a:pPr>
                      <a:r>
                        <a:rPr/>
                        <a:t>~187K orders</a:t>
                      </a:r>
                    </a:p>
                  </a:txBody>
                </a:tc>
                <a:tc>
                  <a:txBody>
                    <a:bodyPr/>
                    <a:lstStyle/>
                    <a:p>
                      <a:pPr lvl="0" indent="0" marL="0">
                        <a:buNone/>
                      </a:pPr>
                      <a:r>
                        <a:rPr/>
                        <a:t>~RMB 2.8M</a:t>
                      </a:r>
                    </a:p>
                  </a:txBody>
                </a:tc>
              </a:tr>
              <a:tr h="0">
                <a:tc>
                  <a:txBody>
                    <a:bodyPr/>
                    <a:lstStyle/>
                    <a:p>
                      <a:pPr lvl="0" indent="0" marL="0">
                        <a:buNone/>
                      </a:pPr>
                      <a:r>
                        <a:rPr/>
                        <a:t>JV profit share</a:t>
                      </a:r>
                    </a:p>
                  </a:txBody>
                </a:tc>
                <a:tc>
                  <a:txBody>
                    <a:bodyPr/>
                    <a:lstStyle/>
                    <a:p>
                      <a:pPr lvl="0" indent="0" marL="0">
                        <a:buNone/>
                      </a:pPr>
                      <a:r>
                        <a:rPr/>
                        <a:t>RMB 100 / user / year distributable profit</a:t>
                      </a:r>
                    </a:p>
                  </a:txBody>
                </a:tc>
                <a:tc>
                  <a:txBody>
                    <a:bodyPr/>
                    <a:lstStyle/>
                    <a:p>
                      <a:pPr lvl="0" indent="0" marL="0">
                        <a:buNone/>
                      </a:pPr>
                      <a:r>
                        <a:rPr/>
                        <a:t>same</a:t>
                      </a:r>
                    </a:p>
                  </a:txBody>
                </a:tc>
                <a:tc>
                  <a:txBody>
                    <a:bodyPr/>
                    <a:lstStyle/>
                    <a:p>
                      <a:pPr lvl="0" indent="0" marL="0">
                        <a:buNone/>
                      </a:pPr>
                      <a:r>
                        <a:rPr/>
                        <a:t>~RMB 2.8M</a:t>
                      </a:r>
                    </a:p>
                  </a:txBody>
                </a:tc>
              </a:tr>
              <a:tr h="0">
                <a:tc>
                  <a:txBody>
                    <a:bodyPr/>
                    <a:lstStyle/>
                    <a:p>
                      <a:pPr lvl="0" indent="0" marL="0">
                        <a:buNone/>
                      </a:pPr>
                      <a:r>
                        <a:rPr b="1"/>
                        <a:t>Mobi JV 2026 subtotal</a:t>
                      </a:r>
                    </a:p>
                  </a:txBody>
                </a:tc>
                <a:tc>
                  <a:txBody>
                    <a:bodyPr/>
                    <a:lstStyle/>
                    <a:p>
                      <a:endParaRPr/>
                    </a:p>
                  </a:txBody>
                </a:tc>
                <a:tc>
                  <a:txBody>
                    <a:bodyPr/>
                    <a:lstStyle/>
                    <a:p>
                      <a:endParaRPr/>
                    </a:p>
                  </a:txBody>
                </a:tc>
                <a:tc>
                  <a:txBody>
                    <a:bodyPr/>
                    <a:lstStyle/>
                    <a:p>
                      <a:pPr lvl="0" indent="0" marL="0">
                        <a:buNone/>
                      </a:pPr>
                      <a:r>
                        <a:rPr b="1"/>
                        <a:t>~RMB 5.6M (~$800K)</a:t>
                      </a:r>
                    </a:p>
                  </a:txBody>
                </a:tc>
              </a:tr>
            </a:tbl>
          </a:graphicData>
        </a:graphic>
      </p:graphicFrame>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Conversion assumption [PROJECTED, NOT PROVEN]</a:t>
            </a:r>
          </a:p>
          <a:p>
            <a:pPr lvl="0"/>
            <a:r>
              <a:rPr/>
              <a:t>Industry baseline (SCRM, public reporting): </a:t>
            </a:r>
            <a:r>
              <a:rPr b="1"/>
              <a:t>~0.3%</a:t>
            </a:r>
          </a:p>
          <a:p>
            <a:pPr lvl="0"/>
            <a:r>
              <a:rPr/>
              <a:t>Volvence projected with relationship runtime: </a:t>
            </a:r>
            <a:r>
              <a:rPr b="1"/>
              <a:t>0.6 – 1.0%</a:t>
            </a:r>
          </a:p>
          <a:p>
            <a:pPr lvl="0"/>
            <a:r>
              <a:rPr/>
              <a:t>Pilot data not yet through full 3-month observation window</a:t>
            </a:r>
          </a:p>
          <a:p>
            <a:pPr lvl="0"/>
            <a:r>
              <a:rPr b="1"/>
              <a:t>KILL CRITERION: if 3-month pilot conversion &lt; 0.5%, this vertical is deprioritized</a:t>
            </a:r>
          </a:p>
        </p:txBody>
      </p:sp>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Business Model: Repricing Thesis</a:t>
            </a:r>
          </a:p>
        </p:txBody>
      </p:sp>
      <p:sp>
        <p:nvSpPr>
          <p:cNvPr id="4" name="Text Placeholder 3"/>
          <p:cNvSpPr>
            <a:spLocks noGrp="1"/>
          </p:cNvSpPr>
          <p:nvPr>
            <p:ph idx="2" sz="half" type="body"/>
          </p:nvPr>
        </p:nvSpPr>
        <p:spPr/>
        <p:txBody>
          <a:bodyPr/>
          <a:lstStyle/>
          <a:p>
            <a:pPr lvl="0" indent="0" marL="0">
              <a:buNone/>
            </a:pPr>
            <a:r>
              <a:rPr/>
              <a:t>We are not “a cheaper Weimob”. We sell a different category.</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2552700"/>
                <a:gridCol w="2552700"/>
              </a:tblGrid>
              <a:tr h="0">
                <a:tc>
                  <a:txBody>
                    <a:bodyPr/>
                    <a:lstStyle/>
                    <a:p>
                      <a:pPr lvl="0" indent="0" marL="0">
                        <a:buNone/>
                      </a:pPr>
                      <a:r>
                        <a:rPr/>
                        <a:t>Weimob / Youzan</a:t>
                      </a:r>
                    </a:p>
                  </a:txBody>
                  <a:tcPr/>
                </a:tc>
                <a:tc>
                  <a:txBody>
                    <a:bodyPr/>
                    <a:lstStyle/>
                    <a:p>
                      <a:pPr lvl="0" indent="0" marL="0">
                        <a:buNone/>
                      </a:pPr>
                      <a:r>
                        <a:rPr/>
                        <a:t>Volvence</a:t>
                      </a:r>
                    </a:p>
                  </a:txBody>
                  <a:tcPr/>
                </a:tc>
              </a:tr>
              <a:tr h="0">
                <a:tc>
                  <a:txBody>
                    <a:bodyPr/>
                    <a:lstStyle/>
                    <a:p>
                      <a:pPr lvl="0" indent="0" marL="0">
                        <a:buNone/>
                      </a:pPr>
                      <a:r>
                        <a:rPr/>
                        <a:t>Reach tools</a:t>
                      </a:r>
                    </a:p>
                  </a:txBody>
                </a:tc>
                <a:tc>
                  <a:txBody>
                    <a:bodyPr/>
                    <a:lstStyle/>
                    <a:p>
                      <a:pPr lvl="0" indent="0" marL="0">
                        <a:buNone/>
                      </a:pPr>
                      <a:r>
                        <a:rPr/>
                        <a:t>Relationship engineering</a:t>
                      </a:r>
                    </a:p>
                  </a:txBody>
                </a:tc>
              </a:tr>
              <a:tr h="0">
                <a:tc>
                  <a:txBody>
                    <a:bodyPr/>
                    <a:lstStyle/>
                    <a:p>
                      <a:pPr lvl="0" indent="0" marL="0">
                        <a:buNone/>
                      </a:pPr>
                      <a:r>
                        <a:rPr/>
                        <a:t>Broadcast / auto-reply</a:t>
                      </a:r>
                    </a:p>
                  </a:txBody>
                </a:tc>
                <a:tc>
                  <a:txBody>
                    <a:bodyPr/>
                    <a:lstStyle/>
                    <a:p>
                      <a:pPr lvl="0" indent="0" marL="0">
                        <a:buNone/>
                      </a:pPr>
                      <a:r>
                        <a:rPr/>
                        <a:t>Remembered and understood</a:t>
                      </a:r>
                    </a:p>
                  </a:txBody>
                </a:tc>
              </a:tr>
              <a:tr h="0">
                <a:tc>
                  <a:txBody>
                    <a:bodyPr/>
                    <a:lstStyle/>
                    <a:p>
                      <a:pPr lvl="0" indent="0" marL="0">
                        <a:buNone/>
                      </a:pPr>
                      <a:r>
                        <a:rPr/>
                        <a:t>One-time conversion</a:t>
                      </a:r>
                    </a:p>
                  </a:txBody>
                </a:tc>
                <a:tc>
                  <a:txBody>
                    <a:bodyPr/>
                    <a:lstStyle/>
                    <a:p>
                      <a:pPr lvl="0" indent="0" marL="0">
                        <a:buNone/>
                      </a:pPr>
                      <a:r>
                        <a:rPr/>
                        <a:t>Cross-session LTV</a:t>
                      </a:r>
                    </a:p>
                  </a:txBody>
                </a:tc>
              </a:tr>
              <a:tr h="0">
                <a:tc>
                  <a:txBody>
                    <a:bodyPr/>
                    <a:lstStyle/>
                    <a:p>
                      <a:pPr lvl="0" indent="0" marL="0">
                        <a:buNone/>
                      </a:pPr>
                      <a:r>
                        <a:rPr/>
                        <a:t>~RMB 1K / month / brand</a:t>
                      </a:r>
                    </a:p>
                  </a:txBody>
                </a:tc>
                <a:tc>
                  <a:txBody>
                    <a:bodyPr/>
                    <a:lstStyle/>
                    <a:p>
                      <a:pPr lvl="0" indent="0" marL="0">
                        <a:buNone/>
                      </a:pPr>
                      <a:r>
                        <a:rPr b="1"/>
                        <a:t>RMB 5K – 50K / month / brand</a:t>
                      </a:r>
                      <a:r>
                        <a:rPr/>
                        <a:t> (target)</a:t>
                      </a:r>
                    </a:p>
                  </a:txBody>
                </a:tc>
              </a:tr>
            </a:tbl>
          </a:graphicData>
        </a:graphic>
      </p:graphicFrame>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If conversion uplift holds, the multiple comes from repricing, not from undercutting.</a:t>
            </a:r>
          </a:p>
        </p:txBody>
      </p:sp>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Global Expansion: Public → Private → Platform</a:t>
            </a:r>
          </a:p>
        </p:txBody>
      </p:sp>
      <p:sp>
        <p:nvSpPr>
          <p:cNvPr id="4" name="Text Placeholder 3"/>
          <p:cNvSpPr>
            <a:spLocks noGrp="1"/>
          </p:cNvSpPr>
          <p:nvPr>
            <p:ph idx="2" sz="half" type="body"/>
          </p:nvPr>
        </p:nvSpPr>
        <p:spPr/>
        <p:txBody>
          <a:bodyPr/>
          <a:lstStyle/>
          <a:p>
            <a:pPr lvl="0" indent="0" marL="0">
              <a:buNone/>
            </a:pPr>
            <a:r>
              <a:rPr b="1"/>
              <a:t>The platform opportunity:</a:t>
            </a:r>
            <a:r>
              <a:rPr/>
              <a:t> public audience → private relationship → supply orchestration</a:t>
            </a:r>
          </a:p>
          <a:p>
            <a:pPr lvl="0" indent="0" marL="0">
              <a:buNone/>
            </a:pPr>
            <a:r>
              <a:rPr/>
              <a:t>China private traffic is the first wedge because the behavior already exists at scale. The same pattern exists globally:</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104900"/>
                <a:gridCol w="1625600"/>
                <a:gridCol w="2374900"/>
              </a:tblGrid>
              <a:tr h="0">
                <a:tc>
                  <a:txBody>
                    <a:bodyPr/>
                    <a:lstStyle/>
                    <a:p>
                      <a:pPr lvl="0" indent="0" marL="0">
                        <a:buNone/>
                      </a:pPr>
                      <a:r>
                        <a:rPr/>
                        <a:t>Layer</a:t>
                      </a:r>
                    </a:p>
                  </a:txBody>
                  <a:tcPr/>
                </a:tc>
                <a:tc>
                  <a:txBody>
                    <a:bodyPr/>
                    <a:lstStyle/>
                    <a:p>
                      <a:pPr lvl="0" indent="0" marL="0">
                        <a:buNone/>
                      </a:pPr>
                      <a:r>
                        <a:rPr/>
                        <a:t>China wedge</a:t>
                      </a:r>
                    </a:p>
                  </a:txBody>
                  <a:tcPr/>
                </a:tc>
                <a:tc>
                  <a:txBody>
                    <a:bodyPr/>
                    <a:lstStyle/>
                    <a:p>
                      <a:pPr lvl="0" indent="0" marL="0">
                        <a:buNone/>
                      </a:pPr>
                      <a:r>
                        <a:rPr/>
                        <a:t>Global analogues</a:t>
                      </a:r>
                    </a:p>
                  </a:txBody>
                  <a:tcPr/>
                </a:tc>
              </a:tr>
              <a:tr h="0">
                <a:tc>
                  <a:txBody>
                    <a:bodyPr/>
                    <a:lstStyle/>
                    <a:p>
                      <a:pPr lvl="0" indent="0" marL="0">
                        <a:buNone/>
                      </a:pPr>
                      <a:r>
                        <a:rPr/>
                        <a:t>Public domain</a:t>
                      </a:r>
                    </a:p>
                  </a:txBody>
                </a:tc>
                <a:tc>
                  <a:txBody>
                    <a:bodyPr/>
                    <a:lstStyle/>
                    <a:p>
                      <a:pPr lvl="0" indent="0" marL="0">
                        <a:buNone/>
                      </a:pPr>
                      <a:r>
                        <a:rPr/>
                        <a:t>Douyin / Xiaohongshu / public traffic</a:t>
                      </a:r>
                    </a:p>
                  </a:txBody>
                </a:tc>
                <a:tc>
                  <a:txBody>
                    <a:bodyPr/>
                    <a:lstStyle/>
                    <a:p>
                      <a:pPr lvl="0" indent="0" marL="0">
                        <a:buNone/>
                      </a:pPr>
                      <a:r>
                        <a:rPr/>
                        <a:t>TikTok / Instagram / YouTube / podcasts / newsletters</a:t>
                      </a:r>
                    </a:p>
                  </a:txBody>
                </a:tc>
              </a:tr>
              <a:tr h="0">
                <a:tc>
                  <a:txBody>
                    <a:bodyPr/>
                    <a:lstStyle/>
                    <a:p>
                      <a:pPr lvl="0" indent="0" marL="0">
                        <a:buNone/>
                      </a:pPr>
                      <a:r>
                        <a:rPr/>
                        <a:t>Private relationship</a:t>
                      </a:r>
                    </a:p>
                  </a:txBody>
                </a:tc>
                <a:tc>
                  <a:txBody>
                    <a:bodyPr/>
                    <a:lstStyle/>
                    <a:p>
                      <a:pPr lvl="0" indent="0" marL="0">
                        <a:buNone/>
                      </a:pPr>
                      <a:r>
                        <a:rPr/>
                        <a:t>WeChat / groups / 1-on-1</a:t>
                      </a:r>
                    </a:p>
                  </a:txBody>
                </a:tc>
                <a:tc>
                  <a:txBody>
                    <a:bodyPr/>
                    <a:lstStyle/>
                    <a:p>
                      <a:pPr lvl="0" indent="0" marL="0">
                        <a:buNone/>
                      </a:pPr>
                      <a:r>
                        <a:rPr/>
                        <a:t>WhatsApp / Discord / SMS / email / creator communities</a:t>
                      </a:r>
                    </a:p>
                  </a:txBody>
                </a:tc>
              </a:tr>
              <a:tr h="0">
                <a:tc>
                  <a:txBody>
                    <a:bodyPr/>
                    <a:lstStyle/>
                    <a:p>
                      <a:pPr lvl="0" indent="0" marL="0">
                        <a:buNone/>
                      </a:pPr>
                      <a:r>
                        <a:rPr/>
                        <a:t>Relationship intelligence</a:t>
                      </a:r>
                    </a:p>
                  </a:txBody>
                </a:tc>
                <a:tc>
                  <a:txBody>
                    <a:bodyPr/>
                    <a:lstStyle/>
                    <a:p>
                      <a:pPr lvl="0" indent="0" marL="0">
                        <a:buNone/>
                      </a:pPr>
                      <a:r>
                        <a:rPr/>
                        <a:t>Long-term user state and trust curve</a:t>
                      </a:r>
                    </a:p>
                  </a:txBody>
                </a:tc>
                <a:tc>
                  <a:txBody>
                    <a:bodyPr/>
                    <a:lstStyle/>
                    <a:p>
                      <a:pPr lvl="0" indent="0" marL="0">
                        <a:buNone/>
                      </a:pPr>
                      <a:r>
                        <a:rPr/>
                        <a:t>Preferences, intent, timing, life context</a:t>
                      </a:r>
                    </a:p>
                  </a:txBody>
                </a:tc>
              </a:tr>
              <a:tr h="0">
                <a:tc>
                  <a:txBody>
                    <a:bodyPr/>
                    <a:lstStyle/>
                    <a:p>
                      <a:pPr lvl="0" indent="0" marL="0">
                        <a:buNone/>
                      </a:pPr>
                      <a:r>
                        <a:rPr/>
                        <a:t>Supply orchestration</a:t>
                      </a:r>
                    </a:p>
                  </a:txBody>
                </a:tc>
                <a:tc>
                  <a:txBody>
                    <a:bodyPr/>
                    <a:lstStyle/>
                    <a:p>
                      <a:pPr lvl="0" indent="0" marL="0">
                        <a:buNone/>
                      </a:pPr>
                      <a:r>
                        <a:rPr/>
                        <a:t>JV partners and vertical supply</a:t>
                      </a:r>
                    </a:p>
                  </a:txBody>
                </a:tc>
                <a:tc>
                  <a:txBody>
                    <a:bodyPr/>
                    <a:lstStyle/>
                    <a:p>
                      <a:pPr lvl="0" indent="0" marL="0">
                        <a:buNone/>
                      </a:pPr>
                      <a:r>
                        <a:rPr/>
                        <a:t>Brands, creators, service providers, local commerce</a:t>
                      </a:r>
                    </a:p>
                  </a:txBody>
                </a:tc>
              </a:tr>
            </a:tbl>
          </a:graphicData>
        </a:graphic>
      </p:graphicFrame>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1270000">
              <a:buNone/>
            </a:pPr>
            <a:r>
              <a:rPr sz="2000"/>
              <a:t>TikTok understands </a:t>
            </a:r>
            <a:r>
              <a:rPr sz="2000" b="1"/>
              <a:t>attention</a:t>
            </a:r>
            <a:r>
              <a:rPr sz="2000"/>
              <a:t> through content behavior. Volvence’s opportunity is to understand </a:t>
            </a:r>
            <a:r>
              <a:rPr sz="2000" b="1"/>
              <a:t>customers</a:t>
            </a:r>
            <a:r>
              <a:rPr sz="2000"/>
              <a:t> through relationship behavior.</a:t>
            </a:r>
          </a:p>
          <a:p>
            <a:pPr lvl="0" indent="0" marL="0">
              <a:buNone/>
            </a:pPr>
            <a:r>
              <a:rPr b="1"/>
              <a:t>Long-term option:</a:t>
            </a:r>
            <a:r>
              <a:rPr/>
              <a:t> a relationship-commerce platform, not just a SaaS tool.</a:t>
            </a:r>
          </a:p>
        </p:txBody>
      </p:sp>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Risks</a:t>
            </a:r>
          </a:p>
        </p:txBody>
      </p:sp>
      <p:sp>
        <p:nvSpPr>
          <p:cNvPr id="4" name="Text Placeholder 3"/>
          <p:cNvSpPr>
            <a:spLocks noGrp="1"/>
          </p:cNvSpPr>
          <p:nvPr>
            <p:ph idx="2" sz="half" type="body"/>
          </p:nvPr>
        </p:nvSpPr>
        <p:spPr/>
        <p:txBody>
          <a:bodyPr/>
          <a:lstStyle/>
          <a:p>
            <a:pPr lvl="0" indent="0" marL="0">
              <a:buNone/>
            </a:pPr>
            <a:r>
              <a:rPr/>
              <a:t>Main risks and how we test them:</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955800"/>
                <a:gridCol w="3149600"/>
              </a:tblGrid>
              <a:tr h="0">
                <a:tc>
                  <a:txBody>
                    <a:bodyPr/>
                    <a:lstStyle/>
                    <a:p>
                      <a:pPr lvl="0" indent="0" marL="0">
                        <a:buNone/>
                      </a:pPr>
                      <a:r>
                        <a:rPr/>
                        <a:t>Risk</a:t>
                      </a:r>
                    </a:p>
                  </a:txBody>
                  <a:tcPr/>
                </a:tc>
                <a:tc>
                  <a:txBody>
                    <a:bodyPr/>
                    <a:lstStyle/>
                    <a:p>
                      <a:pPr lvl="0" indent="0" marL="0">
                        <a:buNone/>
                      </a:pPr>
                      <a:r>
                        <a:rPr/>
                        <a:t>What would prove / disprove it</a:t>
                      </a:r>
                    </a:p>
                  </a:txBody>
                  <a:tcPr/>
                </a:tc>
              </a:tr>
              <a:tr h="0">
                <a:tc>
                  <a:txBody>
                    <a:bodyPr/>
                    <a:lstStyle/>
                    <a:p>
                      <a:pPr lvl="0" indent="0" marL="0">
                        <a:buNone/>
                      </a:pPr>
                      <a:r>
                        <a:rPr/>
                        <a:t>JV access does not convert to usage</a:t>
                      </a:r>
                    </a:p>
                  </a:txBody>
                </a:tc>
                <a:tc>
                  <a:txBody>
                    <a:bodyPr/>
                    <a:lstStyle/>
                    <a:p>
                      <a:pPr lvl="0" indent="0" marL="0">
                        <a:buNone/>
                      </a:pPr>
                      <a:r>
                        <a:rPr/>
                        <a:t>First lighthouse fails to retain users or produce conversion signal</a:t>
                      </a:r>
                    </a:p>
                  </a:txBody>
                </a:tc>
              </a:tr>
              <a:tr h="0">
                <a:tc>
                  <a:txBody>
                    <a:bodyPr/>
                    <a:lstStyle/>
                    <a:p>
                      <a:pPr lvl="0" indent="0" marL="0">
                        <a:buNone/>
                      </a:pPr>
                      <a:r>
                        <a:rPr/>
                        <a:t>Relationship quality does not improve business metrics</a:t>
                      </a:r>
                    </a:p>
                  </a:txBody>
                </a:tc>
                <a:tc>
                  <a:txBody>
                    <a:bodyPr/>
                    <a:lstStyle/>
                    <a:p>
                      <a:pPr lvl="0" indent="0" marL="0">
                        <a:buNone/>
                      </a:pPr>
                      <a:r>
                        <a:rPr/>
                        <a:t>A/B or cohort data shows no uplift over SCRM baseline</a:t>
                      </a:r>
                    </a:p>
                  </a:txBody>
                </a:tc>
              </a:tr>
              <a:tr h="0">
                <a:tc>
                  <a:txBody>
                    <a:bodyPr/>
                    <a:lstStyle/>
                    <a:p>
                      <a:pPr lvl="0" indent="0" marL="0">
                        <a:buNone/>
                      </a:pPr>
                      <a:r>
                        <a:rPr/>
                        <a:t>Base models add stronger memory</a:t>
                      </a:r>
                    </a:p>
                  </a:txBody>
                </a:tc>
                <a:tc>
                  <a:txBody>
                    <a:bodyPr/>
                    <a:lstStyle/>
                    <a:p>
                      <a:pPr lvl="0" indent="0" marL="0">
                        <a:buNone/>
                      </a:pPr>
                      <a:r>
                        <a:rPr/>
                        <a:t>We prove value in vertical state, governance, and business workflow, not generic memory</a:t>
                      </a:r>
                    </a:p>
                  </a:txBody>
                </a:tc>
              </a:tr>
              <a:tr h="0">
                <a:tc>
                  <a:txBody>
                    <a:bodyPr/>
                    <a:lstStyle/>
                    <a:p>
                      <a:pPr lvl="0" indent="0" marL="0">
                        <a:buNone/>
                      </a:pPr>
                      <a:r>
                        <a:rPr/>
                        <a:t>Regulatory / safety constraints tighten</a:t>
                      </a:r>
                    </a:p>
                  </a:txBody>
                </a:tc>
                <a:tc>
                  <a:txBody>
                    <a:bodyPr/>
                    <a:lstStyle/>
                    <a:p>
                      <a:pPr lvl="0" indent="0" marL="0">
                        <a:buNone/>
                      </a:pPr>
                      <a:r>
                        <a:rPr/>
                        <a:t>Audit, deletion, consent, and scoped memory become mandatory product features</a:t>
                      </a:r>
                    </a:p>
                  </a:txBody>
                </a:tc>
              </a:tr>
              <a:tr h="0">
                <a:tc>
                  <a:txBody>
                    <a:bodyPr/>
                    <a:lstStyle/>
                    <a:p>
                      <a:pPr lvl="0" indent="0" marL="0">
                        <a:buNone/>
                      </a:pPr>
                      <a:r>
                        <a:rPr/>
                        <a:t>Team execution bandwidth</a:t>
                      </a:r>
                    </a:p>
                  </a:txBody>
                </a:tc>
                <a:tc>
                  <a:txBody>
                    <a:bodyPr/>
                    <a:lstStyle/>
                    <a:p>
                      <a:pPr lvl="0" indent="0" marL="0">
                        <a:buNone/>
                      </a:pPr>
                      <a:r>
                        <a:rPr/>
                        <a:t>3 in-production JVs by M9, otherwise narrow focus</a:t>
                      </a:r>
                    </a:p>
                  </a:txBody>
                </a:tc>
              </a:tr>
            </a:tbl>
          </a:graphicData>
        </a:graphic>
      </p:graphicFrame>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1270000">
              <a:buNone/>
            </a:pPr>
            <a:r>
              <a:rPr sz="2000"/>
              <a:t>The next round is about </a:t>
            </a:r>
            <a:r>
              <a:rPr sz="2000" b="1"/>
              <a:t>converting these risks into evidence</a:t>
            </a:r>
            <a:r>
              <a:rPr sz="2000"/>
              <a:t>.</a:t>
            </a:r>
          </a:p>
        </p:txBody>
      </p:sp>
    </p:spTree>
  </p:cSl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Ask — Late Seed / Pre-Series A</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3314700"/>
                <a:gridCol w="4914900"/>
              </a:tblGrid>
              <a:tr h="0">
                <a:tc>
                  <a:txBody>
                    <a:bodyPr/>
                    <a:lstStyle/>
                    <a:p>
                      <a:pPr lvl="0" indent="0" marL="0">
                        <a:buNone/>
                      </a:pPr>
                      <a:r>
                        <a:rPr/>
                        <a:t>Dimension</a:t>
                      </a:r>
                    </a:p>
                  </a:txBody>
                  <a:tcPr/>
                </a:tc>
                <a:tc>
                  <a:txBody>
                    <a:bodyPr/>
                    <a:lstStyle/>
                    <a:p>
                      <a:pPr lvl="0" indent="0" marL="0">
                        <a:buNone/>
                      </a:pPr>
                      <a:r>
                        <a:rPr/>
                        <a:t>Target</a:t>
                      </a:r>
                    </a:p>
                  </a:txBody>
                  <a:tcPr/>
                </a:tc>
              </a:tr>
              <a:tr h="0">
                <a:tc>
                  <a:txBody>
                    <a:bodyPr/>
                    <a:lstStyle/>
                    <a:p>
                      <a:pPr lvl="0" indent="0" marL="0">
                        <a:buNone/>
                      </a:pPr>
                      <a:r>
                        <a:rPr/>
                        <a:t>Round size</a:t>
                      </a:r>
                    </a:p>
                  </a:txBody>
                </a:tc>
                <a:tc>
                  <a:txBody>
                    <a:bodyPr/>
                    <a:lstStyle/>
                    <a:p>
                      <a:pPr lvl="0" indent="0" marL="0">
                        <a:buNone/>
                      </a:pPr>
                      <a:r>
                        <a:rPr b="1"/>
                        <a:t>$3M – $5M USD</a:t>
                      </a:r>
                    </a:p>
                  </a:txBody>
                </a:tc>
              </a:tr>
              <a:tr h="0">
                <a:tc>
                  <a:txBody>
                    <a:bodyPr/>
                    <a:lstStyle/>
                    <a:p>
                      <a:pPr lvl="0" indent="0" marL="0">
                        <a:buNone/>
                      </a:pPr>
                      <a:r>
                        <a:rPr/>
                        <a:t>Pre-money valuation (range)</a:t>
                      </a:r>
                    </a:p>
                  </a:txBody>
                </a:tc>
                <a:tc>
                  <a:txBody>
                    <a:bodyPr/>
                    <a:lstStyle/>
                    <a:p>
                      <a:pPr lvl="0" indent="0" marL="0">
                        <a:buNone/>
                      </a:pPr>
                      <a:r>
                        <a:rPr b="1"/>
                        <a:t>$20M – $30M USD</a:t>
                      </a:r>
                      <a:r>
                        <a:rPr/>
                        <a:t> </a:t>
                      </a:r>
                      <a:r>
                        <a:rPr i="1"/>
                        <a:t>(under discussion)</a:t>
                      </a:r>
                    </a:p>
                  </a:txBody>
                </a:tc>
              </a:tr>
              <a:tr h="0">
                <a:tc>
                  <a:txBody>
                    <a:bodyPr/>
                    <a:lstStyle/>
                    <a:p>
                      <a:pPr lvl="0" indent="0" marL="0">
                        <a:buNone/>
                      </a:pPr>
                      <a:r>
                        <a:rPr/>
                        <a:t>Xfund target ticket</a:t>
                      </a:r>
                    </a:p>
                  </a:txBody>
                </a:tc>
                <a:tc>
                  <a:txBody>
                    <a:bodyPr/>
                    <a:lstStyle/>
                    <a:p>
                      <a:pPr lvl="0" indent="0" marL="0">
                        <a:buNone/>
                      </a:pPr>
                      <a:r>
                        <a:rPr b="1"/>
                        <a:t>$1.5M – $2.5M</a:t>
                      </a:r>
                      <a:r>
                        <a:rPr/>
                        <a:t>, lead or co-lead</a:t>
                      </a:r>
                    </a:p>
                  </a:txBody>
                </a:tc>
              </a:tr>
              <a:tr h="0">
                <a:tc>
                  <a:txBody>
                    <a:bodyPr/>
                    <a:lstStyle/>
                    <a:p>
                      <a:pPr lvl="0" indent="0" marL="0">
                        <a:buNone/>
                      </a:pPr>
                      <a:r>
                        <a:rPr/>
                        <a:t>Equity to Xfund</a:t>
                      </a:r>
                    </a:p>
                  </a:txBody>
                </a:tc>
                <a:tc>
                  <a:txBody>
                    <a:bodyPr/>
                    <a:lstStyle/>
                    <a:p>
                      <a:pPr lvl="0" indent="0" marL="0">
                        <a:buNone/>
                      </a:pPr>
                      <a:r>
                        <a:rPr b="1"/>
                        <a:t>~7 – 10%</a:t>
                      </a:r>
                    </a:p>
                  </a:txBody>
                </a:tc>
              </a:tr>
              <a:tr h="0">
                <a:tc>
                  <a:txBody>
                    <a:bodyPr/>
                    <a:lstStyle/>
                    <a:p>
                      <a:pPr lvl="0" indent="0" marL="0">
                        <a:buNone/>
                      </a:pPr>
                      <a:r>
                        <a:rPr/>
                        <a:t>Runway</a:t>
                      </a:r>
                    </a:p>
                  </a:txBody>
                </a:tc>
                <a:tc>
                  <a:txBody>
                    <a:bodyPr/>
                    <a:lstStyle/>
                    <a:p>
                      <a:pPr lvl="0" indent="0" marL="0">
                        <a:buNone/>
                      </a:pPr>
                      <a:r>
                        <a:rPr b="1"/>
                        <a:t>18 months</a:t>
                      </a:r>
                    </a:p>
                  </a:txBody>
                </a:tc>
              </a:tr>
            </a:tbl>
          </a:graphicData>
        </a:graphic>
      </p:graphicFrame>
    </p:spTree>
  </p:cSl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Use of funds</a:t>
            </a:r>
          </a:p>
          <a:p>
            <a:pPr lvl="0"/>
            <a:r>
              <a:rPr/>
              <a:t>Engineering 40% — relationship runtime, deployment reliability, evaluation</a:t>
            </a:r>
          </a:p>
          <a:p>
            <a:pPr lvl="0"/>
            <a:r>
              <a:rPr/>
              <a:t>Compute / data 25% — substrate, evidence pipeline, benchmark runs</a:t>
            </a:r>
          </a:p>
          <a:p>
            <a:pPr lvl="0"/>
            <a:r>
              <a:rPr/>
              <a:t>GTM 20% — 3 in-production JV launches, lighthouse customers, partner success</a:t>
            </a:r>
          </a:p>
          <a:p>
            <a:pPr lvl="0"/>
            <a:r>
              <a:rPr/>
              <a:t>Operations / legal / IP 15% — audit, consent, deletion, IP structure</a:t>
            </a:r>
          </a:p>
          <a:p>
            <a:pPr lvl="0" indent="0" marL="0">
              <a:buNone/>
            </a:pPr>
            <a:r>
              <a:rPr b="1"/>
              <a:t>Next financing gate:</a:t>
            </a:r>
            <a:r>
              <a:rPr/>
              <a:t> 3 JVs in production · ARR &gt; $1M real · Repeatable deployment playbook</a:t>
            </a:r>
          </a:p>
        </p:txBody>
      </p:sp>
    </p:spTree>
  </p:cSl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Thesis</a:t>
            </a:r>
          </a:p>
        </p:txBody>
      </p:sp>
      <p:sp>
        <p:nvSpPr>
          <p:cNvPr id="3" name="Content Placeholder 2"/>
          <p:cNvSpPr>
            <a:spLocks noGrp="1"/>
          </p:cNvSpPr>
          <p:nvPr>
            <p:ph idx="1"/>
          </p:nvPr>
        </p:nvSpPr>
        <p:spPr/>
        <p:txBody>
          <a:bodyPr/>
          <a:lstStyle/>
          <a:p>
            <a:pPr lvl="0" indent="0" marL="0">
              <a:buNone/>
            </a:pPr>
            <a:r>
              <a:rPr/>
              <a:t>AI products that matter over time need </a:t>
            </a:r>
            <a:r>
              <a:rPr b="1"/>
              <a:t>relationship infrastructure</a:t>
            </a:r>
            <a:r>
              <a:rPr/>
              <a:t>.</a:t>
            </a:r>
          </a:p>
          <a:p>
            <a:pPr lvl="0" indent="0" marL="0">
              <a:buNone/>
            </a:pPr>
            <a:r>
              <a:rPr/>
              <a:t>Human relationships are the </a:t>
            </a:r>
            <a:r>
              <a:rPr b="1"/>
              <a:t>next vertical proprietary data layer</a:t>
            </a:r>
            <a:r>
              <a:rPr/>
              <a:t>.</a:t>
            </a:r>
          </a:p>
          <a:p>
            <a:pPr lvl="0" indent="0" marL="0">
              <a:buNone/>
            </a:pPr>
            <a:r>
              <a:rPr/>
              <a:t>The first wedge is </a:t>
            </a:r>
            <a:r>
              <a:rPr b="1"/>
              <a:t>private traffic</a:t>
            </a:r>
            <a:r>
              <a:rPr/>
              <a:t>.</a:t>
            </a:r>
          </a:p>
          <a:p>
            <a:pPr lvl="0" indent="0" marL="0">
              <a:buNone/>
            </a:pPr>
            <a:r>
              <a:rPr/>
              <a:t>The next 18 months are about proof: </a:t>
            </a:r>
            <a:r>
              <a:rPr b="1"/>
              <a:t>signed access → production usage → real ARR</a:t>
            </a:r>
          </a:p>
        </p:txBody>
      </p:sp>
    </p:spTree>
  </p:cSl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Appendix</a:t>
            </a:r>
          </a:p>
        </p:txBody>
      </p:sp>
      <p:sp>
        <p:nvSpPr>
          <p:cNvPr id="3" name="Content Placeholder 2"/>
          <p:cNvSpPr>
            <a:spLocks noGrp="1"/>
          </p:cNvSpPr>
          <p:nvPr>
            <p:ph idx="1"/>
          </p:nvPr>
        </p:nvSpPr>
        <p:spPr/>
        <p:txBody>
          <a:bodyPr/>
          <a:lstStyle/>
          <a:p>
            <a:pPr lvl="0" indent="0" marL="0">
              <a:buNone/>
            </a:pPr>
            <a:r>
              <a:rPr/>
              <a:t>The following slides are backup. Use only if Patrick asks.</a:t>
            </a:r>
          </a:p>
          <a:p>
            <a:pPr lvl="0"/>
            <a:r>
              <a:rPr b="1"/>
              <a:t>A</a:t>
            </a:r>
            <a:r>
              <a:rPr/>
              <a:t> — Companion Benchmark: “How do you evaluate relationship quality?”</a:t>
            </a:r>
          </a:p>
          <a:p>
            <a:pPr lvl="0"/>
            <a:r>
              <a:rPr b="1"/>
              <a:t>B</a:t>
            </a:r>
            <a:r>
              <a:rPr/>
              <a:t> — Einstein / Figure Bundle: “Is this only for private traffic?”</a:t>
            </a:r>
          </a:p>
          <a:p>
            <a:pPr lvl="0"/>
            <a:r>
              <a:rPr b="1"/>
              <a:t>C</a:t>
            </a:r>
            <a:r>
              <a:rPr/>
              <a:t> — Active Learning: “How does Yang’s work connect to the product?”</a:t>
            </a:r>
          </a:p>
          <a:p>
            <a:pPr lvl="0"/>
            <a:r>
              <a:rPr b="1"/>
              <a:t>D</a:t>
            </a:r>
            <a:r>
              <a:rPr/>
              <a:t> — 3-Year Financial Scenario: “What could this become?”</a:t>
            </a:r>
          </a:p>
          <a:p>
            <a:pPr lvl="0"/>
            <a:r>
              <a:rPr b="1"/>
              <a:t>E</a:t>
            </a:r>
            <a:r>
              <a:rPr/>
              <a:t> — Technical Proof Ladder: “How do I know this is not just a wrapper?”</a:t>
            </a:r>
          </a:p>
        </p:txBody>
      </p:sp>
    </p:spTree>
  </p:cSl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Appendix A — Companion Benchmark</a:t>
            </a:r>
          </a:p>
        </p:txBody>
      </p:sp>
      <p:sp>
        <p:nvSpPr>
          <p:cNvPr id="3" name="Content Placeholder 2"/>
          <p:cNvSpPr>
            <a:spLocks noGrp="1"/>
          </p:cNvSpPr>
          <p:nvPr>
            <p:ph idx="1"/>
          </p:nvPr>
        </p:nvSpPr>
        <p:spPr/>
        <p:txBody>
          <a:bodyPr/>
          <a:lstStyle/>
          <a:p>
            <a:pPr lvl="0" indent="0" marL="0">
              <a:buNone/>
            </a:pPr>
            <a:r>
              <a:rPr b="1"/>
              <a:t>Goal:</a:t>
            </a:r>
            <a:r>
              <a:rPr/>
              <a:t> evaluate long-session relationship behavior, not single-turn preference.</a:t>
            </a:r>
          </a:p>
          <a:p>
            <a:pPr lvl="0" indent="0" marL="0">
              <a:buNone/>
            </a:pPr>
            <a:r>
              <a:rPr b="1"/>
              <a:t>Current design</a:t>
            </a:r>
          </a:p>
          <a:p>
            <a:pPr lvl="0"/>
            <a:r>
              <a:rPr/>
              <a:t>24 public scenarios</a:t>
            </a:r>
          </a:p>
          <a:p>
            <a:pPr lvl="0"/>
            <a:r>
              <a:rPr/>
              <a:t>96 held-out private scenarios</a:t>
            </a:r>
          </a:p>
          <a:p>
            <a:pPr lvl="0"/>
            <a:r>
              <a:rPr/>
              <a:t>30-turn arcs</a:t>
            </a:r>
          </a:p>
          <a:p>
            <a:pPr lvl="0"/>
            <a:r>
              <a:rPr/>
              <a:t>Axes: relationship continuity, adaptation, boundary maintenance, temporal fidelity, theory of mind, regime stability</a:t>
            </a:r>
          </a:p>
          <a:p>
            <a:pPr lvl="0" indent="0" marL="0">
              <a:buNone/>
            </a:pPr>
            <a:r>
              <a:rPr b="1"/>
              <a:t>Current status</a:t>
            </a:r>
          </a:p>
          <a:p>
            <a:pPr lvl="0"/>
            <a:r>
              <a:rPr/>
              <a:t>Benchmark design exists, open-sourced under Apache 2.0</a:t>
            </a:r>
          </a:p>
          <a:p>
            <a:pPr lvl="0"/>
            <a:r>
              <a:rPr/>
              <a:t>Reference SUT runs not complete</a:t>
            </a:r>
          </a:p>
          <a:p>
            <a:pPr lvl="0"/>
            <a:r>
              <a:rPr/>
              <a:t>Judge robustness still under validation</a:t>
            </a:r>
          </a:p>
        </p:txBody>
      </p:sp>
    </p:spTree>
  </p:cSl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Appendix B — Einstein / Figure Bundle</a:t>
            </a:r>
          </a:p>
        </p:txBody>
      </p:sp>
      <p:sp>
        <p:nvSpPr>
          <p:cNvPr id="4" name="Text Placeholder 3"/>
          <p:cNvSpPr>
            <a:spLocks noGrp="1"/>
          </p:cNvSpPr>
          <p:nvPr>
            <p:ph idx="2" sz="half" type="body"/>
          </p:nvPr>
        </p:nvSpPr>
        <p:spPr/>
        <p:txBody>
          <a:bodyPr/>
          <a:lstStyle/>
          <a:p>
            <a:pPr lvl="0" indent="0" marL="0">
              <a:buNone/>
            </a:pPr>
            <a:r>
              <a:rPr b="1"/>
              <a:t>Shipped artifact:</a:t>
            </a:r>
            <a:r>
              <a:rPr/>
              <a:t> </a:t>
            </a:r>
            <a:r>
              <a:rPr>
                <a:latin typeface="Courier"/>
              </a:rPr>
              <a:t>figure-bundle:einstein:29eacd226a7cdfd0</a:t>
            </a:r>
            <a:r>
              <a:rPr/>
              <a:t> </a:t>
            </a:r>
            <a:r>
              <a:rPr i="1"/>
              <a:t>(immutable, reproducible, auditable)</a:t>
            </a:r>
          </a:p>
          <a:p>
            <a:pPr lvl="0" indent="0" marL="0">
              <a:buNone/>
            </a:pPr>
            <a:r>
              <a:rPr b="1"/>
              <a:t>Four fidelity layers</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774700"/>
                <a:gridCol w="2413000"/>
                <a:gridCol w="1917700"/>
              </a:tblGrid>
              <a:tr h="0">
                <a:tc>
                  <a:txBody>
                    <a:bodyPr/>
                    <a:lstStyle/>
                    <a:p>
                      <a:pPr lvl="0" indent="0" marL="0">
                        <a:buNone/>
                      </a:pPr>
                      <a:r>
                        <a:rPr/>
                        <a:t>Layer</a:t>
                      </a:r>
                    </a:p>
                  </a:txBody>
                  <a:tcPr/>
                </a:tc>
                <a:tc>
                  <a:txBody>
                    <a:bodyPr/>
                    <a:lstStyle/>
                    <a:p>
                      <a:pPr lvl="0" indent="0" marL="0">
                        <a:buNone/>
                      </a:pPr>
                      <a:r>
                        <a:rPr/>
                        <a:t>What it means</a:t>
                      </a:r>
                    </a:p>
                  </a:txBody>
                  <a:tcPr/>
                </a:tc>
                <a:tc>
                  <a:txBody>
                    <a:bodyPr/>
                    <a:lstStyle/>
                    <a:p>
                      <a:pPr lvl="0" indent="0" marL="0">
                        <a:buNone/>
                      </a:pPr>
                      <a:r>
                        <a:rPr/>
                        <a:t>Architecture evidence</a:t>
                      </a:r>
                    </a:p>
                  </a:txBody>
                  <a:tcPr/>
                </a:tc>
              </a:tr>
              <a:tr h="0">
                <a:tc>
                  <a:txBody>
                    <a:bodyPr/>
                    <a:lstStyle/>
                    <a:p>
                      <a:pPr lvl="0" indent="0" marL="0">
                        <a:buNone/>
                      </a:pPr>
                      <a:r>
                        <a:rPr/>
                        <a:t>L1 Voice</a:t>
                      </a:r>
                    </a:p>
                  </a:txBody>
                </a:tc>
                <a:tc>
                  <a:txBody>
                    <a:bodyPr/>
                    <a:lstStyle/>
                    <a:p>
                      <a:pPr lvl="0" indent="0" marL="0">
                        <a:buNone/>
                      </a:pPr>
                      <a:r>
                        <a:rPr/>
                        <a:t>Sounds like him</a:t>
                      </a:r>
                    </a:p>
                  </a:txBody>
                </a:tc>
                <a:tc>
                  <a:txBody>
                    <a:bodyPr/>
                    <a:lstStyle/>
                    <a:p>
                      <a:pPr lvl="0" indent="0" marL="0">
                        <a:buNone/>
                      </a:pPr>
                      <a:r>
                        <a:rPr/>
                        <a:t>Body / style prior</a:t>
                      </a:r>
                    </a:p>
                  </a:txBody>
                </a:tc>
              </a:tr>
              <a:tr h="0">
                <a:tc>
                  <a:txBody>
                    <a:bodyPr/>
                    <a:lstStyle/>
                    <a:p>
                      <a:pPr lvl="0" indent="0" marL="0">
                        <a:buNone/>
                      </a:pPr>
                      <a:r>
                        <a:rPr/>
                        <a:t>L2 Position</a:t>
                      </a:r>
                    </a:p>
                  </a:txBody>
                </a:tc>
                <a:tc>
                  <a:txBody>
                    <a:bodyPr/>
                    <a:lstStyle/>
                    <a:p>
                      <a:pPr lvl="0" indent="0" marL="0">
                        <a:buNone/>
                      </a:pPr>
                      <a:r>
                        <a:rPr/>
                        <a:t>Agrees on topics he wrote about</a:t>
                      </a:r>
                    </a:p>
                  </a:txBody>
                </a:tc>
                <a:tc>
                  <a:txBody>
                    <a:bodyPr/>
                    <a:lstStyle/>
                    <a:p>
                      <a:pPr lvl="0" indent="0" marL="0">
                        <a:buNone/>
                      </a:pPr>
                      <a:r>
                        <a:rPr/>
                        <a:t>Soul Migration</a:t>
                      </a:r>
                    </a:p>
                  </a:txBody>
                </a:tc>
              </a:tr>
              <a:tr h="0">
                <a:tc>
                  <a:txBody>
                    <a:bodyPr/>
                    <a:lstStyle/>
                    <a:p>
                      <a:pPr lvl="0" indent="0" marL="0">
                        <a:buNone/>
                      </a:pPr>
                      <a:r>
                        <a:rPr/>
                        <a:t>L3 Citation</a:t>
                      </a:r>
                    </a:p>
                  </a:txBody>
                </a:tc>
                <a:tc>
                  <a:txBody>
                    <a:bodyPr/>
                    <a:lstStyle/>
                    <a:p>
                      <a:pPr lvl="0" indent="0" marL="0">
                        <a:buNone/>
                      </a:pPr>
                      <a:r>
                        <a:rPr/>
                        <a:t>Substantive claims trace to source</a:t>
                      </a:r>
                    </a:p>
                  </a:txBody>
                </a:tc>
                <a:tc>
                  <a:txBody>
                    <a:bodyPr/>
                    <a:lstStyle/>
                    <a:p>
                      <a:pPr lvl="0" indent="0" marL="0">
                        <a:buNone/>
                      </a:pPr>
                      <a:r>
                        <a:rPr/>
                        <a:t>Memory + grounded decoder</a:t>
                      </a:r>
                    </a:p>
                  </a:txBody>
                </a:tc>
              </a:tr>
              <a:tr h="0">
                <a:tc>
                  <a:txBody>
                    <a:bodyPr/>
                    <a:lstStyle/>
                    <a:p>
                      <a:pPr lvl="0" indent="0" marL="0">
                        <a:buNone/>
                      </a:pPr>
                      <a:r>
                        <a:rPr/>
                        <a:t>L4 Refusal</a:t>
                      </a:r>
                    </a:p>
                  </a:txBody>
                </a:tc>
                <a:tc>
                  <a:txBody>
                    <a:bodyPr/>
                    <a:lstStyle/>
                    <a:p>
                      <a:pPr lvl="0" indent="0" marL="0">
                        <a:buNone/>
                      </a:pPr>
                      <a:r>
                        <a:rPr/>
                        <a:t>Refuses outside documented scope</a:t>
                      </a:r>
                    </a:p>
                  </a:txBody>
                </a:tc>
                <a:tc>
                  <a:txBody>
                    <a:bodyPr/>
                    <a:lstStyle/>
                    <a:p>
                      <a:pPr lvl="0" indent="0" marL="0">
                        <a:buNone/>
                      </a:pPr>
                      <a:r>
                        <a:rPr/>
                        <a:t>ScopeRefuser + coverage map</a:t>
                      </a:r>
                    </a:p>
                  </a:txBody>
                </a:tc>
              </a:tr>
            </a:tbl>
          </a:graphicData>
        </a:graphic>
      </p:graphicFrame>
    </p:spTree>
  </p:cSl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Strategic use</a:t>
            </a:r>
          </a:p>
          <a:p>
            <a:pPr lvl="0"/>
            <a:r>
              <a:rPr/>
              <a:t>Demonstrates auditability and scope control</a:t>
            </a:r>
          </a:p>
          <a:p>
            <a:pPr lvl="0"/>
            <a:r>
              <a:rPr/>
              <a:t>Relevant to museums, education, publishing, IP holders</a:t>
            </a:r>
          </a:p>
          <a:p>
            <a:pPr lvl="0"/>
            <a:r>
              <a:rPr/>
              <a:t>Not the first commercial wedge</a:t>
            </a:r>
          </a:p>
        </p:txBody>
      </p:sp>
    </p:spTree>
  </p:cSl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Appendix C — Active Learning Claim, Carefully Stated</a:t>
            </a:r>
          </a:p>
        </p:txBody>
      </p:sp>
      <p:sp>
        <p:nvSpPr>
          <p:cNvPr id="3" name="Content Placeholder 2"/>
          <p:cNvSpPr>
            <a:spLocks noGrp="1"/>
          </p:cNvSpPr>
          <p:nvPr>
            <p:ph idx="1"/>
          </p:nvPr>
        </p:nvSpPr>
        <p:spPr/>
        <p:txBody>
          <a:bodyPr/>
          <a:lstStyle/>
          <a:p>
            <a:pPr lvl="0" indent="0" marL="0">
              <a:buNone/>
            </a:pPr>
            <a:r>
              <a:rPr b="1"/>
              <a:t>Careful claim</a:t>
            </a:r>
          </a:p>
          <a:p>
            <a:pPr lvl="0" indent="0" marL="0">
              <a:buNone/>
            </a:pPr>
            <a:r>
              <a:rPr/>
              <a:t>Active learning theory shows that, under certain assumptions, selected labels can reduce sample complexity versus passive labeling.</a:t>
            </a:r>
          </a:p>
          <a:p>
            <a:pPr lvl="0" indent="0" marL="1270000">
              <a:buNone/>
            </a:pPr>
            <a:r>
              <a:rPr sz="2000"/>
              <a:t>Reference: Hanneke &amp; Yang, </a:t>
            </a:r>
            <a:r>
              <a:rPr sz="2000" i="1"/>
              <a:t>Minimax Analysis of Active Learning</a:t>
            </a:r>
            <a:r>
              <a:rPr sz="2000"/>
              <a:t>, JMLR 2015.</a:t>
            </a:r>
          </a:p>
          <a:p>
            <a:pPr lvl="0" indent="0" marL="0">
              <a:buNone/>
            </a:pPr>
            <a:r>
              <a:rPr b="1"/>
              <a:t>Product relevance</a:t>
            </a:r>
          </a:p>
          <a:p>
            <a:pPr lvl="0"/>
            <a:r>
              <a:rPr/>
              <a:t>Relationship data is sparse and noisy</a:t>
            </a:r>
          </a:p>
          <a:p>
            <a:pPr lvl="0"/>
            <a:r>
              <a:rPr/>
              <a:t>Feedback is expensive</a:t>
            </a:r>
          </a:p>
          <a:p>
            <a:pPr lvl="0"/>
            <a:r>
              <a:rPr/>
              <a:t>Vertical partners do not have internet-scale labeled datasets</a:t>
            </a:r>
          </a:p>
          <a:p>
            <a:pPr lvl="0" indent="0" marL="0">
              <a:buNone/>
            </a:pPr>
            <a:r>
              <a:rPr b="1"/>
              <a:t>What we still need</a:t>
            </a:r>
          </a:p>
          <a:p>
            <a:pPr lvl="0"/>
            <a:r>
              <a:rPr/>
              <a:t>Internal task-level ablations</a:t>
            </a:r>
          </a:p>
          <a:p>
            <a:pPr lvl="0"/>
            <a:r>
              <a:rPr/>
              <a:t>Passive vs active learning curves</a:t>
            </a:r>
          </a:p>
          <a:p>
            <a:pPr lvl="0"/>
            <a:r>
              <a:rPr/>
              <a:t>Production feedback loops</a:t>
            </a:r>
          </a:p>
        </p:txBody>
      </p:sp>
    </p:spTree>
  </p:cSl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Appendix D — 3-Year Financial Scenario</a:t>
            </a:r>
          </a:p>
        </p:txBody>
      </p:sp>
      <p:sp>
        <p:nvSpPr>
          <p:cNvPr id="4" name="Text Placeholder 3"/>
          <p:cNvSpPr>
            <a:spLocks noGrp="1"/>
          </p:cNvSpPr>
          <p:nvPr>
            <p:ph idx="2" sz="half" type="body"/>
          </p:nvPr>
        </p:nvSpPr>
        <p:spPr/>
        <p:txBody>
          <a:bodyPr/>
          <a:lstStyle/>
          <a:p>
            <a:pPr lvl="0" indent="0" marL="1270000">
              <a:buNone/>
            </a:pPr>
            <a:r>
              <a:rPr sz="2000" b="1"/>
              <a:t>Scenario, not proof.</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270000"/>
                <a:gridCol w="1270000"/>
                <a:gridCol w="1270000"/>
                <a:gridCol w="1270000"/>
              </a:tblGrid>
              <a:tr h="0">
                <a:tc>
                  <a:txBody>
                    <a:bodyPr/>
                    <a:lstStyle/>
                    <a:p>
                      <a:pPr lvl="0" indent="0" marL="0">
                        <a:buNone/>
                      </a:pPr>
                      <a:r>
                        <a:rPr/>
                        <a:t>Metric</a:t>
                      </a:r>
                    </a:p>
                  </a:txBody>
                  <a:tcPr/>
                </a:tc>
                <a:tc>
                  <a:txBody>
                    <a:bodyPr/>
                    <a:lstStyle/>
                    <a:p>
                      <a:pPr lvl="0" indent="0" marL="0">
                        <a:buNone/>
                      </a:pPr>
                      <a:r>
                        <a:rPr/>
                        <a:t>2026</a:t>
                      </a:r>
                    </a:p>
                  </a:txBody>
                  <a:tcPr/>
                </a:tc>
                <a:tc>
                  <a:txBody>
                    <a:bodyPr/>
                    <a:lstStyle/>
                    <a:p>
                      <a:pPr lvl="0" indent="0" marL="0">
                        <a:buNone/>
                      </a:pPr>
                      <a:r>
                        <a:rPr/>
                        <a:t>2027</a:t>
                      </a:r>
                    </a:p>
                  </a:txBody>
                  <a:tcPr/>
                </a:tc>
                <a:tc>
                  <a:txBody>
                    <a:bodyPr/>
                    <a:lstStyle/>
                    <a:p>
                      <a:pPr lvl="0" indent="0" marL="0">
                        <a:buNone/>
                      </a:pPr>
                      <a:r>
                        <a:rPr/>
                        <a:t>2028</a:t>
                      </a:r>
                    </a:p>
                  </a:txBody>
                  <a:tcPr/>
                </a:tc>
              </a:tr>
              <a:tr h="0">
                <a:tc>
                  <a:txBody>
                    <a:bodyPr/>
                    <a:lstStyle/>
                    <a:p>
                      <a:pPr lvl="0" indent="0" marL="0">
                        <a:buNone/>
                      </a:pPr>
                      <a:r>
                        <a:rPr/>
                        <a:t>Revenue RMB</a:t>
                      </a:r>
                    </a:p>
                  </a:txBody>
                </a:tc>
                <a:tc>
                  <a:txBody>
                    <a:bodyPr/>
                    <a:lstStyle/>
                    <a:p>
                      <a:pPr lvl="0" indent="0" marL="0">
                        <a:buNone/>
                      </a:pPr>
                      <a:r>
                        <a:rPr/>
                        <a:t>35M</a:t>
                      </a:r>
                    </a:p>
                  </a:txBody>
                </a:tc>
                <a:tc>
                  <a:txBody>
                    <a:bodyPr/>
                    <a:lstStyle/>
                    <a:p>
                      <a:pPr lvl="0" indent="0" marL="0">
                        <a:buNone/>
                      </a:pPr>
                      <a:r>
                        <a:rPr/>
                        <a:t>165M</a:t>
                      </a:r>
                    </a:p>
                  </a:txBody>
                </a:tc>
                <a:tc>
                  <a:txBody>
                    <a:bodyPr/>
                    <a:lstStyle/>
                    <a:p>
                      <a:pPr lvl="0" indent="0" marL="0">
                        <a:buNone/>
                      </a:pPr>
                      <a:r>
                        <a:rPr/>
                        <a:t>408M</a:t>
                      </a:r>
                    </a:p>
                  </a:txBody>
                </a:tc>
              </a:tr>
              <a:tr h="0">
                <a:tc>
                  <a:txBody>
                    <a:bodyPr/>
                    <a:lstStyle/>
                    <a:p>
                      <a:pPr lvl="0" indent="0" marL="0">
                        <a:buNone/>
                      </a:pPr>
                      <a:r>
                        <a:rPr/>
                        <a:t>USD equivalent</a:t>
                      </a:r>
                    </a:p>
                  </a:txBody>
                </a:tc>
                <a:tc>
                  <a:txBody>
                    <a:bodyPr/>
                    <a:lstStyle/>
                    <a:p>
                      <a:pPr lvl="0" indent="0" marL="0">
                        <a:buNone/>
                      </a:pPr>
                      <a:r>
                        <a:rPr/>
                        <a:t>~$5M</a:t>
                      </a:r>
                    </a:p>
                  </a:txBody>
                </a:tc>
                <a:tc>
                  <a:txBody>
                    <a:bodyPr/>
                    <a:lstStyle/>
                    <a:p>
                      <a:pPr lvl="0" indent="0" marL="0">
                        <a:buNone/>
                      </a:pPr>
                      <a:r>
                        <a:rPr/>
                        <a:t>~$23.6M</a:t>
                      </a:r>
                    </a:p>
                  </a:txBody>
                </a:tc>
                <a:tc>
                  <a:txBody>
                    <a:bodyPr/>
                    <a:lstStyle/>
                    <a:p>
                      <a:pPr lvl="0" indent="0" marL="0">
                        <a:buNone/>
                      </a:pPr>
                      <a:r>
                        <a:rPr/>
                        <a:t>~$58.3M</a:t>
                      </a:r>
                    </a:p>
                  </a:txBody>
                </a:tc>
              </a:tr>
              <a:tr h="0">
                <a:tc>
                  <a:txBody>
                    <a:bodyPr/>
                    <a:lstStyle/>
                    <a:p>
                      <a:pPr lvl="0" indent="0" marL="0">
                        <a:buNone/>
                      </a:pPr>
                      <a:r>
                        <a:rPr/>
                        <a:t>Net margin</a:t>
                      </a:r>
                    </a:p>
                  </a:txBody>
                </a:tc>
                <a:tc>
                  <a:txBody>
                    <a:bodyPr/>
                    <a:lstStyle/>
                    <a:p>
                      <a:pPr lvl="0" indent="0" marL="0">
                        <a:buNone/>
                      </a:pPr>
                      <a:r>
                        <a:rPr/>
                        <a:t>31%</a:t>
                      </a:r>
                    </a:p>
                  </a:txBody>
                </a:tc>
                <a:tc>
                  <a:txBody>
                    <a:bodyPr/>
                    <a:lstStyle/>
                    <a:p>
                      <a:pPr lvl="0" indent="0" marL="0">
                        <a:buNone/>
                      </a:pPr>
                      <a:r>
                        <a:rPr/>
                        <a:t>46%</a:t>
                      </a:r>
                    </a:p>
                  </a:txBody>
                </a:tc>
                <a:tc>
                  <a:txBody>
                    <a:bodyPr/>
                    <a:lstStyle/>
                    <a:p>
                      <a:pPr lvl="0" indent="0" marL="0">
                        <a:buNone/>
                      </a:pPr>
                      <a:r>
                        <a:rPr/>
                        <a:t>54%</a:t>
                      </a:r>
                    </a:p>
                  </a:txBody>
                </a:tc>
              </a:tr>
              <a:tr h="0">
                <a:tc>
                  <a:txBody>
                    <a:bodyPr/>
                    <a:lstStyle/>
                    <a:p>
                      <a:pPr lvl="0" indent="0" marL="0">
                        <a:buNone/>
                      </a:pPr>
                      <a:r>
                        <a:rPr/>
                        <a:t>Project gross margin</a:t>
                      </a:r>
                    </a:p>
                  </a:txBody>
                </a:tc>
                <a:tc>
                  <a:txBody>
                    <a:bodyPr/>
                    <a:lstStyle/>
                    <a:p>
                      <a:pPr lvl="0" indent="0" marL="0">
                        <a:buNone/>
                      </a:pPr>
                      <a:r>
                        <a:rPr/>
                        <a:t>55%</a:t>
                      </a:r>
                    </a:p>
                  </a:txBody>
                </a:tc>
                <a:tc>
                  <a:txBody>
                    <a:bodyPr/>
                    <a:lstStyle/>
                    <a:p>
                      <a:pPr lvl="0" indent="0" marL="0">
                        <a:buNone/>
                      </a:pPr>
                      <a:r>
                        <a:rPr/>
                        <a:t>65%</a:t>
                      </a:r>
                    </a:p>
                  </a:txBody>
                </a:tc>
                <a:tc>
                  <a:txBody>
                    <a:bodyPr/>
                    <a:lstStyle/>
                    <a:p>
                      <a:pPr lvl="0" indent="0" marL="0">
                        <a:buNone/>
                      </a:pPr>
                      <a:r>
                        <a:rPr/>
                        <a:t>75%</a:t>
                      </a:r>
                    </a:p>
                  </a:txBody>
                </a:tc>
              </a:tr>
            </a:tbl>
          </a:graphicData>
        </a:graphic>
      </p:graphicFrame>
    </p:spTree>
  </p:cSl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Drivers</a:t>
            </a:r>
          </a:p>
          <a:p>
            <a:pPr lvl="0"/>
            <a:r>
              <a:rPr/>
              <a:t>3-6 JVs entering production</a:t>
            </a:r>
          </a:p>
          <a:p>
            <a:pPr lvl="0"/>
            <a:r>
              <a:rPr/>
              <a:t>Mobi-style unit economics repeating across verticals</a:t>
            </a:r>
          </a:p>
          <a:p>
            <a:pPr lvl="0"/>
            <a:r>
              <a:rPr/>
              <a:t>Substrate cost amortization</a:t>
            </a:r>
          </a:p>
          <a:p>
            <a:pPr lvl="0"/>
            <a:r>
              <a:rPr/>
              <a:t>Fixed-cost dilution</a:t>
            </a:r>
          </a:p>
          <a:p>
            <a:pPr lvl="0" indent="0" marL="0">
              <a:buNone/>
            </a:pPr>
            <a:r>
              <a:rPr/>
              <a:t>All figures should be treated as projections until real ARR is recognized.</a:t>
            </a:r>
          </a:p>
        </p:txBody>
      </p:sp>
    </p:spTree>
  </p:cSl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Appendix E — Technical Proof Ladder</a:t>
            </a:r>
          </a:p>
        </p:txBody>
      </p:sp>
      <p:sp>
        <p:nvSpPr>
          <p:cNvPr id="4" name="Text Placeholder 3"/>
          <p:cNvSpPr>
            <a:spLocks noGrp="1"/>
          </p:cNvSpPr>
          <p:nvPr>
            <p:ph idx="2" sz="half" type="body"/>
          </p:nvPr>
        </p:nvSpPr>
        <p:spPr/>
        <p:txBody>
          <a:bodyPr/>
          <a:lstStyle/>
          <a:p>
            <a:pPr lvl="0" indent="0" marL="0">
              <a:buNone/>
            </a:pPr>
            <a:r>
              <a:rPr b="1"/>
              <a:t>Thin Prompt, Thick Runtime</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215900"/>
                <a:gridCol w="2184400"/>
                <a:gridCol w="2705100"/>
              </a:tblGrid>
              <a:tr h="0">
                <a:tc>
                  <a:txBody>
                    <a:bodyPr/>
                    <a:lstStyle/>
                    <a:p>
                      <a:pPr lvl="0" indent="0" marL="0">
                        <a:buNone/>
                      </a:pPr>
                      <a:r>
                        <a:rPr/>
                        <a:t>Level</a:t>
                      </a:r>
                    </a:p>
                  </a:txBody>
                  <a:tcPr/>
                </a:tc>
                <a:tc>
                  <a:txBody>
                    <a:bodyPr/>
                    <a:lstStyle/>
                    <a:p>
                      <a:pPr lvl="0" indent="0" marL="0">
                        <a:buNone/>
                      </a:pPr>
                      <a:r>
                        <a:rPr/>
                        <a:t>What we prove</a:t>
                      </a:r>
                    </a:p>
                  </a:txBody>
                  <a:tcPr/>
                </a:tc>
                <a:tc>
                  <a:txBody>
                    <a:bodyPr/>
                    <a:lstStyle/>
                    <a:p>
                      <a:pPr lvl="0" indent="0" marL="0">
                        <a:buNone/>
                      </a:pPr>
                      <a:r>
                        <a:rPr/>
                        <a:t>Investor translation</a:t>
                      </a:r>
                    </a:p>
                  </a:txBody>
                  <a:tcPr/>
                </a:tc>
              </a:tr>
              <a:tr h="0">
                <a:tc>
                  <a:txBody>
                    <a:bodyPr/>
                    <a:lstStyle/>
                    <a:p>
                      <a:pPr lvl="0" indent="0" marL="0">
                        <a:buNone/>
                      </a:pPr>
                      <a:r>
                        <a:rPr/>
                        <a:t>L1</a:t>
                      </a:r>
                    </a:p>
                  </a:txBody>
                </a:tc>
                <a:tc>
                  <a:txBody>
                    <a:bodyPr/>
                    <a:lstStyle/>
                    <a:p>
                      <a:pPr lvl="0" indent="0" marL="0">
                        <a:buNone/>
                      </a:pPr>
                      <a:r>
                        <a:rPr/>
                        <a:t>Same user, same relationship state across sessions</a:t>
                      </a:r>
                    </a:p>
                  </a:txBody>
                </a:tc>
                <a:tc>
                  <a:txBody>
                    <a:bodyPr/>
                    <a:lstStyle/>
                    <a:p>
                      <a:pPr lvl="0" indent="0" marL="0">
                        <a:buNone/>
                      </a:pPr>
                      <a:r>
                        <a:rPr/>
                        <a:t>It can remember beyond one chat</a:t>
                      </a:r>
                    </a:p>
                  </a:txBody>
                </a:tc>
              </a:tr>
              <a:tr h="0">
                <a:tc>
                  <a:txBody>
                    <a:bodyPr/>
                    <a:lstStyle/>
                    <a:p>
                      <a:pPr lvl="0" indent="0" marL="0">
                        <a:buNone/>
                      </a:pPr>
                      <a:r>
                        <a:rPr/>
                        <a:t>L2</a:t>
                      </a:r>
                    </a:p>
                  </a:txBody>
                </a:tc>
                <a:tc>
                  <a:txBody>
                    <a:bodyPr/>
                    <a:lstStyle/>
                    <a:p>
                      <a:pPr lvl="0" indent="0" marL="0">
                        <a:buNone/>
                      </a:pPr>
                      <a:r>
                        <a:rPr/>
                        <a:t>Corrections update future behavior</a:t>
                      </a:r>
                    </a:p>
                  </a:txBody>
                </a:tc>
                <a:tc>
                  <a:txBody>
                    <a:bodyPr/>
                    <a:lstStyle/>
                    <a:p>
                      <a:pPr lvl="0" indent="0" marL="0">
                        <a:buNone/>
                      </a:pPr>
                      <a:r>
                        <a:rPr/>
                        <a:t>It can learn, not just retrieve</a:t>
                      </a:r>
                    </a:p>
                  </a:txBody>
                </a:tc>
              </a:tr>
              <a:tr h="0">
                <a:tc>
                  <a:txBody>
                    <a:bodyPr/>
                    <a:lstStyle/>
                    <a:p>
                      <a:pPr lvl="0" indent="0" marL="0">
                        <a:buNone/>
                      </a:pPr>
                      <a:r>
                        <a:rPr/>
                        <a:t>L3</a:t>
                      </a:r>
                    </a:p>
                  </a:txBody>
                </a:tc>
                <a:tc>
                  <a:txBody>
                    <a:bodyPr/>
                    <a:lstStyle/>
                    <a:p>
                      <a:pPr lvl="0" indent="0" marL="0">
                        <a:buNone/>
                      </a:pPr>
                      <a:r>
                        <a:rPr/>
                        <a:t>Different users stay isolated</a:t>
                      </a:r>
                    </a:p>
                  </a:txBody>
                </a:tc>
                <a:tc>
                  <a:txBody>
                    <a:bodyPr/>
                    <a:lstStyle/>
                    <a:p>
                      <a:pPr lvl="0" indent="0" marL="0">
                        <a:buNone/>
                      </a:pPr>
                      <a:r>
                        <a:rPr/>
                        <a:t>It is deployable in real customer environments</a:t>
                      </a:r>
                    </a:p>
                  </a:txBody>
                </a:tc>
              </a:tr>
              <a:tr h="0">
                <a:tc>
                  <a:txBody>
                    <a:bodyPr/>
                    <a:lstStyle/>
                    <a:p>
                      <a:pPr lvl="0" indent="0" marL="0">
                        <a:buNone/>
                      </a:pPr>
                      <a:r>
                        <a:rPr/>
                        <a:t>L4</a:t>
                      </a:r>
                    </a:p>
                  </a:txBody>
                </a:tc>
                <a:tc>
                  <a:txBody>
                    <a:bodyPr/>
                    <a:lstStyle/>
                    <a:p>
                      <a:pPr lvl="0" indent="0" marL="0">
                        <a:buNone/>
                      </a:pPr>
                      <a:r>
                        <a:rPr/>
                        <a:t>New behavior can run SHADOW before ACTIVE</a:t>
                      </a:r>
                    </a:p>
                  </a:txBody>
                </a:tc>
                <a:tc>
                  <a:txBody>
                    <a:bodyPr/>
                    <a:lstStyle/>
                    <a:p>
                      <a:pPr lvl="0" indent="0" marL="0">
                        <a:buNone/>
                      </a:pPr>
                      <a:r>
                        <a:rPr/>
                        <a:t>It can improve without breaking production</a:t>
                      </a:r>
                    </a:p>
                  </a:txBody>
                </a:tc>
              </a:tr>
              <a:tr h="0">
                <a:tc>
                  <a:txBody>
                    <a:bodyPr/>
                    <a:lstStyle/>
                    <a:p>
                      <a:pPr lvl="0" indent="0" marL="0">
                        <a:buNone/>
                      </a:pPr>
                      <a:r>
                        <a:rPr/>
                        <a:t>L5</a:t>
                      </a:r>
                    </a:p>
                  </a:txBody>
                </a:tc>
                <a:tc>
                  <a:txBody>
                    <a:bodyPr/>
                    <a:lstStyle/>
                    <a:p>
                      <a:pPr lvl="0" indent="0" marL="0">
                        <a:buNone/>
                      </a:pPr>
                      <a:r>
                        <a:rPr/>
                        <a:t>Core behavior works with thin prompts</a:t>
                      </a:r>
                    </a:p>
                  </a:txBody>
                </a:tc>
                <a:tc>
                  <a:txBody>
                    <a:bodyPr/>
                    <a:lstStyle/>
                    <a:p>
                      <a:pPr lvl="0" indent="0" marL="0">
                        <a:buNone/>
                      </a:pPr>
                      <a:r>
                        <a:rPr/>
                        <a:t>Prompt renders; runtime owns</a:t>
                      </a:r>
                    </a:p>
                  </a:txBody>
                </a:tc>
              </a:tr>
              <a:tr h="0">
                <a:tc>
                  <a:txBody>
                    <a:bodyPr/>
                    <a:lstStyle/>
                    <a:p>
                      <a:pPr lvl="0" indent="0" marL="0">
                        <a:buNone/>
                      </a:pPr>
                      <a:r>
                        <a:rPr/>
                        <a:t>L6</a:t>
                      </a:r>
                    </a:p>
                  </a:txBody>
                </a:tc>
                <a:tc>
                  <a:txBody>
                    <a:bodyPr/>
                    <a:lstStyle/>
                    <a:p>
                      <a:pPr lvl="0" indent="0" marL="0">
                        <a:buNone/>
                      </a:pPr>
                      <a:r>
                        <a:rPr/>
                        <a:t>Metrics compare old vs new behavior</a:t>
                      </a:r>
                    </a:p>
                  </a:txBody>
                </a:tc>
                <a:tc>
                  <a:txBody>
                    <a:bodyPr/>
                    <a:lstStyle/>
                    <a:p>
                      <a:pPr lvl="0" indent="0" marL="0">
                        <a:buNone/>
                      </a:pPr>
                      <a:r>
                        <a:rPr/>
                        <a:t>It can become an engineering discipline, not founder intuition</a:t>
                      </a:r>
                    </a:p>
                  </a:txBody>
                </a:tc>
              </a:tr>
            </a:tbl>
          </a:graphicData>
        </a:graphic>
      </p:graphicFrame>
    </p:spTree>
  </p:cSl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1270000">
              <a:buNone/>
            </a:pPr>
            <a:r>
              <a:rPr sz="2000"/>
              <a:t>Identity, memory, relationship stage, constraints, adaptation, and audit live in the </a:t>
            </a:r>
            <a:r>
              <a:rPr sz="2000" b="1"/>
              <a:t>runtime</a:t>
            </a:r>
            <a:r>
              <a:rPr sz="2000"/>
              <a:t>. The prompt is only the final language interface.</a:t>
            </a:r>
          </a:p>
        </p:txBody>
      </p:sp>
    </p:spTree>
  </p:cSl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Thank you</a:t>
            </a:r>
          </a:p>
        </p:txBody>
      </p:sp>
      <p:sp>
        <p:nvSpPr>
          <p:cNvPr id="3" name="Content Placeholder 2"/>
          <p:cNvSpPr>
            <a:spLocks noGrp="1"/>
          </p:cNvSpPr>
          <p:nvPr>
            <p:ph idx="1"/>
          </p:nvPr>
        </p:nvSpPr>
        <p:spPr/>
        <p:txBody>
          <a:bodyPr/>
          <a:lstStyle/>
          <a:p>
            <a:pPr lvl="0" indent="0" marL="0">
              <a:buNone/>
            </a:pPr>
            <a:r>
              <a:rPr b="1"/>
              <a:t>Volvence — Thin Prompt. Thick Runtime.</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VOLVENCE</dc:title>
  <dc:creator>Zhao Jiangbo, Founder &amp; CEO</dc:creator>
  <cp:keywords/>
  <dcterms:created xsi:type="dcterms:W3CDTF">2026-05-16T19:20:26Z</dcterms:created>
  <dcterms:modified xsi:type="dcterms:W3CDTF">2026-05-16T19:20:26Z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date">
    <vt:lpwstr>Xfund conversation · May 2026</vt:lpwstr>
  </property>
  <property fmtid="{D5CDD505-2E9C-101B-9397-08002B2CF9AE}" pid="3" name="subtitle">
    <vt:lpwstr>A relationship runtime for AI products</vt:lpwstr>
  </property>
</Properties>
</file>